
<file path=[Content_Types].xml><?xml version="1.0" encoding="utf-8"?>
<Types xmlns="http://schemas.openxmlformats.org/package/2006/content-types">
  <Default Extension="tmp" ContentType="image/png"/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2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79" r:id="rId2"/>
    <p:sldId id="281" r:id="rId3"/>
    <p:sldId id="286" r:id="rId4"/>
    <p:sldId id="284" r:id="rId5"/>
    <p:sldId id="285" r:id="rId6"/>
    <p:sldId id="280" r:id="rId7"/>
    <p:sldId id="277" r:id="rId8"/>
    <p:sldId id="278" r:id="rId9"/>
    <p:sldId id="269" r:id="rId10"/>
    <p:sldId id="270" r:id="rId11"/>
    <p:sldId id="256" r:id="rId12"/>
    <p:sldId id="258" r:id="rId13"/>
    <p:sldId id="257" r:id="rId14"/>
    <p:sldId id="259" r:id="rId15"/>
    <p:sldId id="260" r:id="rId16"/>
    <p:sldId id="271" r:id="rId17"/>
    <p:sldId id="263" r:id="rId18"/>
    <p:sldId id="261" r:id="rId19"/>
    <p:sldId id="262" r:id="rId20"/>
    <p:sldId id="264" r:id="rId21"/>
    <p:sldId id="265" r:id="rId22"/>
    <p:sldId id="266" r:id="rId23"/>
    <p:sldId id="292" r:id="rId24"/>
    <p:sldId id="289" r:id="rId25"/>
    <p:sldId id="267" r:id="rId26"/>
    <p:sldId id="272" r:id="rId27"/>
    <p:sldId id="288" r:id="rId28"/>
    <p:sldId id="268" r:id="rId29"/>
    <p:sldId id="273" r:id="rId30"/>
    <p:sldId id="274" r:id="rId31"/>
    <p:sldId id="275" r:id="rId32"/>
    <p:sldId id="276" r:id="rId33"/>
    <p:sldId id="291" r:id="rId34"/>
  </p:sldIdLst>
  <p:sldSz cx="12192000" cy="6858000"/>
  <p:notesSz cx="7010400" cy="9296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7462467-D01E-4B12-9E12-D1140FF0A90E}">
          <p14:sldIdLst>
            <p14:sldId id="279"/>
            <p14:sldId id="281"/>
            <p14:sldId id="286"/>
            <p14:sldId id="284"/>
            <p14:sldId id="285"/>
          </p14:sldIdLst>
        </p14:section>
        <p14:section name="HOT STAMPING" id="{7DAD4633-E11E-4FEE-94BA-CFCC7BF14958}">
          <p14:sldIdLst>
            <p14:sldId id="280"/>
          </p14:sldIdLst>
        </p14:section>
        <p14:section name="MANUALES" id="{3AFF07A2-8B1C-4AC1-BDA5-3F42074670D9}">
          <p14:sldIdLst>
            <p14:sldId id="277"/>
            <p14:sldId id="278"/>
            <p14:sldId id="269"/>
            <p14:sldId id="270"/>
          </p14:sldIdLst>
        </p14:section>
        <p14:section name="PROGRESSIVE" id="{762CA1A2-AA44-4BFE-94A8-18523B51211C}">
          <p14:sldIdLst>
            <p14:sldId id="256"/>
            <p14:sldId id="258"/>
            <p14:sldId id="257"/>
            <p14:sldId id="259"/>
            <p14:sldId id="260"/>
            <p14:sldId id="271"/>
            <p14:sldId id="263"/>
          </p14:sldIdLst>
        </p14:section>
        <p14:section name="MECH/TRANSF" id="{2B751992-B43A-48B1-AFF3-A24437C57AF6}">
          <p14:sldIdLst>
            <p14:sldId id="261"/>
            <p14:sldId id="262"/>
            <p14:sldId id="264"/>
            <p14:sldId id="265"/>
          </p14:sldIdLst>
        </p14:section>
        <p14:section name="COILD FEED" id="{A39F2804-793F-4811-99FC-EFCE41CE7F51}">
          <p14:sldIdLst>
            <p14:sldId id="266"/>
            <p14:sldId id="292"/>
            <p14:sldId id="289"/>
            <p14:sldId id="267"/>
            <p14:sldId id="272"/>
            <p14:sldId id="288"/>
          </p14:sldIdLst>
        </p14:section>
        <p14:section name="TANDEM" id="{DAC2DA53-3FFB-44B9-82B9-EB0B5A60E2B1}">
          <p14:sldIdLst>
            <p14:sldId id="268"/>
            <p14:sldId id="273"/>
            <p14:sldId id="274"/>
            <p14:sldId id="275"/>
            <p14:sldId id="276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8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AF769-9B74-4FD8-BBD7-CAEA850F14DB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75AFA-D6AF-43DF-9FB7-C680D1547CE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4439122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AE039-BE48-49C5-BDE0-CF90F74474AE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3A76B-DDD2-4D1C-9E98-7E761458CC12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0297027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3A76B-DDD2-4D1C-9E98-7E761458CC12}" type="slidenum">
              <a:rPr lang="es-MX" smtClean="0"/>
              <a:t>1</a:t>
            </a:fld>
            <a:endParaRPr lang="es-MX" dirty="0"/>
          </a:p>
        </p:txBody>
      </p:sp>
      <p:sp>
        <p:nvSpPr>
          <p:cNvPr id="6" name="Marcador de fecha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AC979E1-D0D6-4E70-B0B7-E693384E363E}" type="datetime1">
              <a:rPr lang="es-MX" smtClean="0"/>
              <a:t>25/10/2018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42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B3A76B-DDD2-4D1C-9E98-7E761458CC12}" type="slidenum">
              <a:rPr lang="es-MX" smtClean="0"/>
              <a:t>13</a:t>
            </a:fld>
            <a:endParaRPr lang="es-MX" dirty="0"/>
          </a:p>
        </p:txBody>
      </p:sp>
      <p:sp>
        <p:nvSpPr>
          <p:cNvPr id="6" name="Marcador de fecha 5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3DE9F031-0980-4388-8D4F-5CFECB582F94}" type="datetime1">
              <a:rPr lang="es-MX" smtClean="0"/>
              <a:t>25/10/2018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24438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14BC-E03F-40E6-88CA-E5C769ADBB17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428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736B0-C63E-4DD4-BA3F-595B80C4BA56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5627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75751-A363-410E-B0B1-DDAF7B11D438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713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B3AF1-FD8B-4AD0-A00D-C94DD47E58E3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3907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E19EB-F086-48A8-9CF6-C1973A17A795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40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13A4F-0AC2-41B1-98CC-F6F41825A5EF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1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FB1CC-E492-4E30-9476-9F350B277CA7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396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50A7-64D2-412A-9BDB-65D397495FC2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865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46FB-04B4-4D49-A75B-694FAEE81A5E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39903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85CFF-3FF8-4382-9165-275626399831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3167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65D25-7A9C-4BC6-9BBB-D5F51F52A19F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01983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Line 40"/>
          <p:cNvSpPr>
            <a:spLocks noChangeShapeType="1"/>
          </p:cNvSpPr>
          <p:nvPr userDrawn="1"/>
        </p:nvSpPr>
        <p:spPr bwMode="auto">
          <a:xfrm>
            <a:off x="6357" y="865188"/>
            <a:ext cx="12192001" cy="0"/>
          </a:xfrm>
          <a:prstGeom prst="line">
            <a:avLst/>
          </a:prstGeom>
          <a:noFill/>
          <a:ln w="19050">
            <a:solidFill>
              <a:srgbClr val="DA291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03200" y="990600"/>
            <a:ext cx="11684000" cy="5410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>
                <a:solidFill>
                  <a:srgbClr val="000000">
                    <a:tint val="75000"/>
                  </a:srgbClr>
                </a:solidFill>
              </a:rPr>
              <a:t>2015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000000">
                    <a:tint val="75000"/>
                  </a:srgbClr>
                </a:solidFill>
              </a:rPr>
              <a:t>Disclosure or duplication without consent is prohibited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D92379-A8A0-4F2A-B1DF-F7F7112BE26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‹Nº›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67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27862B7-C46A-4BD1-BE3E-4C78CC0014F8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A32E0-1075-4409-884C-6FCA71D173B5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058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11.tmp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0.wmf"/><Relationship Id="rId4" Type="http://schemas.openxmlformats.org/officeDocument/2006/relationships/image" Target="../media/image12.png"/><Relationship Id="rId9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6.tmp"/><Relationship Id="rId7" Type="http://schemas.openxmlformats.org/officeDocument/2006/relationships/image" Target="../media/image20.png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tmp"/><Relationship Id="rId11" Type="http://schemas.openxmlformats.org/officeDocument/2006/relationships/image" Target="../media/image15.wmf"/><Relationship Id="rId5" Type="http://schemas.openxmlformats.org/officeDocument/2006/relationships/image" Target="../media/image18.tmp"/><Relationship Id="rId10" Type="http://schemas.openxmlformats.org/officeDocument/2006/relationships/oleObject" Target="../embeddings/oleObject5.bin"/><Relationship Id="rId4" Type="http://schemas.openxmlformats.org/officeDocument/2006/relationships/image" Target="../media/image17.tmp"/><Relationship Id="rId9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23.tmp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tmp"/><Relationship Id="rId5" Type="http://schemas.openxmlformats.org/officeDocument/2006/relationships/image" Target="../media/image24.tmp"/><Relationship Id="rId10" Type="http://schemas.openxmlformats.org/officeDocument/2006/relationships/image" Target="../media/image26.png"/><Relationship Id="rId4" Type="http://schemas.openxmlformats.org/officeDocument/2006/relationships/image" Target="../media/image18.tmp"/><Relationship Id="rId9" Type="http://schemas.openxmlformats.org/officeDocument/2006/relationships/image" Target="../media/image2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28.tmp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png"/><Relationship Id="rId5" Type="http://schemas.openxmlformats.org/officeDocument/2006/relationships/image" Target="../media/image18.tmp"/><Relationship Id="rId10" Type="http://schemas.openxmlformats.org/officeDocument/2006/relationships/image" Target="../media/image31.png"/><Relationship Id="rId4" Type="http://schemas.openxmlformats.org/officeDocument/2006/relationships/image" Target="../media/image29.tmp"/><Relationship Id="rId9" Type="http://schemas.openxmlformats.org/officeDocument/2006/relationships/image" Target="../media/image2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33.tmp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png"/><Relationship Id="rId5" Type="http://schemas.openxmlformats.org/officeDocument/2006/relationships/image" Target="../media/image18.tmp"/><Relationship Id="rId10" Type="http://schemas.openxmlformats.org/officeDocument/2006/relationships/image" Target="../media/image36.png"/><Relationship Id="rId4" Type="http://schemas.openxmlformats.org/officeDocument/2006/relationships/image" Target="../media/image34.tmp"/><Relationship Id="rId9" Type="http://schemas.openxmlformats.org/officeDocument/2006/relationships/image" Target="../media/image3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43.png"/><Relationship Id="rId3" Type="http://schemas.openxmlformats.org/officeDocument/2006/relationships/image" Target="../media/image20.png"/><Relationship Id="rId7" Type="http://schemas.openxmlformats.org/officeDocument/2006/relationships/image" Target="../media/image38.wmf"/><Relationship Id="rId12" Type="http://schemas.openxmlformats.org/officeDocument/2006/relationships/image" Target="../media/image42.tmp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6.png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41.png"/><Relationship Id="rId5" Type="http://schemas.openxmlformats.org/officeDocument/2006/relationships/image" Target="../media/image37.wmf"/><Relationship Id="rId15" Type="http://schemas.openxmlformats.org/officeDocument/2006/relationships/image" Target="../media/image45.png"/><Relationship Id="rId10" Type="http://schemas.openxmlformats.org/officeDocument/2006/relationships/image" Target="../media/image40.tmp"/><Relationship Id="rId4" Type="http://schemas.openxmlformats.org/officeDocument/2006/relationships/oleObject" Target="../embeddings/oleObject9.bin"/><Relationship Id="rId9" Type="http://schemas.openxmlformats.org/officeDocument/2006/relationships/image" Target="../media/image39.wmf"/><Relationship Id="rId1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0.png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tmp"/><Relationship Id="rId5" Type="http://schemas.openxmlformats.org/officeDocument/2006/relationships/image" Target="../media/image47.w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tmp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1.wmf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54.tmp"/><Relationship Id="rId5" Type="http://schemas.openxmlformats.org/officeDocument/2006/relationships/image" Target="../media/image20.png"/><Relationship Id="rId10" Type="http://schemas.openxmlformats.org/officeDocument/2006/relationships/image" Target="../media/image41.png"/><Relationship Id="rId4" Type="http://schemas.openxmlformats.org/officeDocument/2006/relationships/image" Target="../media/image52.tmp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tmp"/><Relationship Id="rId3" Type="http://schemas.openxmlformats.org/officeDocument/2006/relationships/oleObject" Target="../embeddings/oleObject14.bin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png"/><Relationship Id="rId5" Type="http://schemas.openxmlformats.org/officeDocument/2006/relationships/image" Target="../media/image57.tmp"/><Relationship Id="rId10" Type="http://schemas.openxmlformats.org/officeDocument/2006/relationships/image" Target="../media/image59.png"/><Relationship Id="rId4" Type="http://schemas.openxmlformats.org/officeDocument/2006/relationships/image" Target="../media/image56.wmf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20.png"/><Relationship Id="rId7" Type="http://schemas.openxmlformats.org/officeDocument/2006/relationships/image" Target="../media/image18.tmp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3.tmp"/><Relationship Id="rId11" Type="http://schemas.openxmlformats.org/officeDocument/2006/relationships/image" Target="../media/image64.png"/><Relationship Id="rId5" Type="http://schemas.openxmlformats.org/officeDocument/2006/relationships/image" Target="../media/image62.tmp"/><Relationship Id="rId10" Type="http://schemas.openxmlformats.org/officeDocument/2006/relationships/image" Target="../media/image41.png"/><Relationship Id="rId4" Type="http://schemas.openxmlformats.org/officeDocument/2006/relationships/image" Target="../media/image61.png"/><Relationship Id="rId9" Type="http://schemas.openxmlformats.org/officeDocument/2006/relationships/image" Target="../media/image6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0.png"/><Relationship Id="rId7" Type="http://schemas.openxmlformats.org/officeDocument/2006/relationships/image" Target="../media/image67.tmp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6.tmp"/><Relationship Id="rId5" Type="http://schemas.openxmlformats.org/officeDocument/2006/relationships/image" Target="../media/image65.wmf"/><Relationship Id="rId10" Type="http://schemas.openxmlformats.org/officeDocument/2006/relationships/image" Target="../media/image68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0.png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43.png"/><Relationship Id="rId10" Type="http://schemas.openxmlformats.org/officeDocument/2006/relationships/image" Target="../media/image72.png"/><Relationship Id="rId4" Type="http://schemas.openxmlformats.org/officeDocument/2006/relationships/image" Target="../media/image70.tmp"/><Relationship Id="rId9" Type="http://schemas.openxmlformats.org/officeDocument/2006/relationships/image" Target="../media/image71.tm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4.png"/><Relationship Id="rId7" Type="http://schemas.openxmlformats.org/officeDocument/2006/relationships/image" Target="../media/image7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43.pn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78.tmp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3.png"/><Relationship Id="rId5" Type="http://schemas.openxmlformats.org/officeDocument/2006/relationships/image" Target="../media/image75.png"/><Relationship Id="rId4" Type="http://schemas.openxmlformats.org/officeDocument/2006/relationships/image" Target="../media/image79.tmp"/><Relationship Id="rId9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75.png"/><Relationship Id="rId7" Type="http://schemas.openxmlformats.org/officeDocument/2006/relationships/image" Target="../media/image8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3.png"/><Relationship Id="rId10" Type="http://schemas.openxmlformats.org/officeDocument/2006/relationships/image" Target="../media/image36.png"/><Relationship Id="rId4" Type="http://schemas.openxmlformats.org/officeDocument/2006/relationships/image" Target="../media/image82.png"/><Relationship Id="rId9" Type="http://schemas.openxmlformats.org/officeDocument/2006/relationships/image" Target="../media/image8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84.tmp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3.wmf"/><Relationship Id="rId11" Type="http://schemas.openxmlformats.org/officeDocument/2006/relationships/image" Target="../media/image36.png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77.wmf"/><Relationship Id="rId4" Type="http://schemas.openxmlformats.org/officeDocument/2006/relationships/image" Target="../media/image85.tmp"/><Relationship Id="rId9" Type="http://schemas.openxmlformats.org/officeDocument/2006/relationships/oleObject" Target="../embeddings/oleObject2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tmp"/><Relationship Id="rId3" Type="http://schemas.openxmlformats.org/officeDocument/2006/relationships/image" Target="../media/image75.png"/><Relationship Id="rId7" Type="http://schemas.openxmlformats.org/officeDocument/2006/relationships/image" Target="../media/image8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1.png"/><Relationship Id="rId5" Type="http://schemas.openxmlformats.org/officeDocument/2006/relationships/image" Target="../media/image86.wmf"/><Relationship Id="rId10" Type="http://schemas.openxmlformats.org/officeDocument/2006/relationships/image" Target="../media/image89.png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93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101.png"/><Relationship Id="rId3" Type="http://schemas.openxmlformats.org/officeDocument/2006/relationships/image" Target="../media/image95.tmp"/><Relationship Id="rId7" Type="http://schemas.openxmlformats.org/officeDocument/2006/relationships/image" Target="../media/image43.png"/><Relationship Id="rId12" Type="http://schemas.openxmlformats.org/officeDocument/2006/relationships/image" Target="../media/image10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7.tmp"/><Relationship Id="rId11" Type="http://schemas.openxmlformats.org/officeDocument/2006/relationships/image" Target="../media/image99.tmp"/><Relationship Id="rId5" Type="http://schemas.openxmlformats.org/officeDocument/2006/relationships/image" Target="../media/image75.png"/><Relationship Id="rId10" Type="http://schemas.openxmlformats.org/officeDocument/2006/relationships/image" Target="../media/image98.tmp"/><Relationship Id="rId4" Type="http://schemas.openxmlformats.org/officeDocument/2006/relationships/image" Target="../media/image96.tmp"/><Relationship Id="rId9" Type="http://schemas.openxmlformats.org/officeDocument/2006/relationships/image" Target="../media/image94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103.tmp"/><Relationship Id="rId7" Type="http://schemas.openxmlformats.org/officeDocument/2006/relationships/image" Target="../media/image43.png"/><Relationship Id="rId12" Type="http://schemas.openxmlformats.org/officeDocument/2006/relationships/image" Target="../media/image10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5.png"/><Relationship Id="rId11" Type="http://schemas.openxmlformats.org/officeDocument/2006/relationships/image" Target="../media/image107.png"/><Relationship Id="rId5" Type="http://schemas.openxmlformats.org/officeDocument/2006/relationships/image" Target="../media/image105.tmp"/><Relationship Id="rId10" Type="http://schemas.openxmlformats.org/officeDocument/2006/relationships/image" Target="../media/image106.png"/><Relationship Id="rId4" Type="http://schemas.openxmlformats.org/officeDocument/2006/relationships/image" Target="../media/image104.tmp"/><Relationship Id="rId9" Type="http://schemas.openxmlformats.org/officeDocument/2006/relationships/image" Target="../media/image10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111.wmf"/><Relationship Id="rId18" Type="http://schemas.openxmlformats.org/officeDocument/2006/relationships/image" Target="../media/image108.png"/><Relationship Id="rId3" Type="http://schemas.openxmlformats.org/officeDocument/2006/relationships/image" Target="../media/image114.tmp"/><Relationship Id="rId7" Type="http://schemas.openxmlformats.org/officeDocument/2006/relationships/image" Target="../media/image116.png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11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3.png"/><Relationship Id="rId11" Type="http://schemas.openxmlformats.org/officeDocument/2006/relationships/image" Target="../media/image110.wmf"/><Relationship Id="rId5" Type="http://schemas.openxmlformats.org/officeDocument/2006/relationships/image" Target="../media/image75.png"/><Relationship Id="rId15" Type="http://schemas.openxmlformats.org/officeDocument/2006/relationships/image" Target="../media/image112.wmf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115.tmp"/><Relationship Id="rId9" Type="http://schemas.openxmlformats.org/officeDocument/2006/relationships/image" Target="../media/image109.wmf"/><Relationship Id="rId14" Type="http://schemas.openxmlformats.org/officeDocument/2006/relationships/oleObject" Target="../embeddings/oleObject3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118.tmp"/><Relationship Id="rId7" Type="http://schemas.openxmlformats.org/officeDocument/2006/relationships/image" Target="../media/image11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3.png"/><Relationship Id="rId5" Type="http://schemas.openxmlformats.org/officeDocument/2006/relationships/image" Target="../media/image75.png"/><Relationship Id="rId10" Type="http://schemas.openxmlformats.org/officeDocument/2006/relationships/image" Target="../media/image108.png"/><Relationship Id="rId4" Type="http://schemas.openxmlformats.org/officeDocument/2006/relationships/image" Target="../media/image119.tmp"/><Relationship Id="rId9" Type="http://schemas.openxmlformats.org/officeDocument/2006/relationships/image" Target="../media/image11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122.tmp"/><Relationship Id="rId7" Type="http://schemas.openxmlformats.org/officeDocument/2006/relationships/image" Target="../media/image116.png"/><Relationship Id="rId12" Type="http://schemas.openxmlformats.org/officeDocument/2006/relationships/image" Target="../media/image10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43.png"/><Relationship Id="rId11" Type="http://schemas.openxmlformats.org/officeDocument/2006/relationships/image" Target="../media/image121.wmf"/><Relationship Id="rId5" Type="http://schemas.openxmlformats.org/officeDocument/2006/relationships/image" Target="../media/image75.png"/><Relationship Id="rId10" Type="http://schemas.openxmlformats.org/officeDocument/2006/relationships/oleObject" Target="../embeddings/oleObject35.bin"/><Relationship Id="rId4" Type="http://schemas.openxmlformats.org/officeDocument/2006/relationships/image" Target="../media/image123.tmp"/><Relationship Id="rId9" Type="http://schemas.openxmlformats.org/officeDocument/2006/relationships/image" Target="../media/image12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image" Target="../media/image125.tmp"/><Relationship Id="rId7" Type="http://schemas.openxmlformats.org/officeDocument/2006/relationships/image" Target="../media/image11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3.png"/><Relationship Id="rId5" Type="http://schemas.openxmlformats.org/officeDocument/2006/relationships/image" Target="../media/image75.png"/><Relationship Id="rId10" Type="http://schemas.openxmlformats.org/officeDocument/2006/relationships/image" Target="../media/image108.png"/><Relationship Id="rId4" Type="http://schemas.openxmlformats.org/officeDocument/2006/relationships/image" Target="../media/image126.tmp"/><Relationship Id="rId9" Type="http://schemas.openxmlformats.org/officeDocument/2006/relationships/image" Target="../media/image124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E5D12-AAFE-4C88-92B5-54398E730DC8}" type="datetime1">
              <a:rPr lang="es-MX" smtClean="0"/>
              <a:t>25/10/2018</a:t>
            </a:fld>
            <a:endParaRPr lang="es-MX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</a:t>
            </a:fld>
            <a:endParaRPr lang="es-MX" dirty="0"/>
          </a:p>
        </p:txBody>
      </p:sp>
      <p:sp>
        <p:nvSpPr>
          <p:cNvPr id="3" name="CuadroTexto 2"/>
          <p:cNvSpPr txBox="1"/>
          <p:nvPr/>
        </p:nvSpPr>
        <p:spPr>
          <a:xfrm>
            <a:off x="9476923" y="50299"/>
            <a:ext cx="22413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32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Revisión 11.2</a:t>
            </a:r>
          </a:p>
          <a:p>
            <a:pPr algn="ctr"/>
            <a:r>
              <a:rPr lang="es-MX" sz="32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25/10/18</a:t>
            </a:r>
          </a:p>
          <a:p>
            <a:endParaRPr lang="es-MX" sz="3200" dirty="0"/>
          </a:p>
        </p:txBody>
      </p:sp>
      <p:sp>
        <p:nvSpPr>
          <p:cNvPr id="6" name="CuadroTexto 5"/>
          <p:cNvSpPr txBox="1"/>
          <p:nvPr/>
        </p:nvSpPr>
        <p:spPr>
          <a:xfrm>
            <a:off x="470338" y="50299"/>
            <a:ext cx="56110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800" b="1" dirty="0"/>
              <a:t>ATK PRESS. </a:t>
            </a:r>
          </a:p>
        </p:txBody>
      </p:sp>
      <p:pic>
        <p:nvPicPr>
          <p:cNvPr id="4" name="Imagen 3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868" y="1211579"/>
            <a:ext cx="10733281" cy="543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80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</a:t>
            </a:fld>
            <a:endParaRPr lang="es-MX" dirty="0"/>
          </a:p>
        </p:txBody>
      </p:sp>
      <p:grpSp>
        <p:nvGrpSpPr>
          <p:cNvPr id="5" name="Group 249"/>
          <p:cNvGrpSpPr>
            <a:grpSpLocks/>
          </p:cNvGrpSpPr>
          <p:nvPr/>
        </p:nvGrpSpPr>
        <p:grpSpPr bwMode="auto">
          <a:xfrm>
            <a:off x="914879" y="353684"/>
            <a:ext cx="9152626" cy="6002666"/>
            <a:chOff x="0" y="0"/>
            <a:chExt cx="598" cy="512"/>
          </a:xfrm>
        </p:grpSpPr>
        <p:pic>
          <p:nvPicPr>
            <p:cNvPr id="6" name="Picture 227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43" y="-43"/>
              <a:ext cx="512" cy="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228"/>
            <p:cNvSpPr txBox="1">
              <a:spLocks noChangeArrowheads="1"/>
            </p:cNvSpPr>
            <p:nvPr/>
          </p:nvSpPr>
          <p:spPr bwMode="auto">
            <a:xfrm>
              <a:off x="403" y="176"/>
              <a:ext cx="15" cy="2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vert270" wrap="square" lIns="27432" tIns="18288" rIns="0" bIns="0" anchor="ctr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 rtl="0">
                <a:defRPr sz="1000"/>
              </a:pPr>
              <a:r>
                <a:rPr lang="en-US" sz="600" b="1" i="0" u="none" strike="noStrike" baseline="0" dirty="0">
                  <a:solidFill>
                    <a:srgbClr val="0000FF"/>
                  </a:solidFill>
                  <a:latin typeface="Arial"/>
                  <a:cs typeface="Arial"/>
                </a:rPr>
                <a:t>71.5</a:t>
              </a:r>
            </a:p>
          </p:txBody>
        </p:sp>
        <p:sp>
          <p:nvSpPr>
            <p:cNvPr id="8" name="Line 229"/>
            <p:cNvSpPr>
              <a:spLocks noChangeShapeType="1"/>
            </p:cNvSpPr>
            <p:nvPr/>
          </p:nvSpPr>
          <p:spPr bwMode="auto">
            <a:xfrm flipH="1" flipV="1">
              <a:off x="402" y="173"/>
              <a:ext cx="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9" name="Picture 233"/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" y="86"/>
              <a:ext cx="13" cy="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239"/>
            <p:cNvSpPr>
              <a:spLocks noChangeArrowheads="1"/>
            </p:cNvSpPr>
            <p:nvPr/>
          </p:nvSpPr>
          <p:spPr bwMode="auto">
            <a:xfrm rot="16200000" flipV="1">
              <a:off x="147" y="92"/>
              <a:ext cx="8" cy="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Line 240"/>
            <p:cNvSpPr>
              <a:spLocks noChangeShapeType="1"/>
            </p:cNvSpPr>
            <p:nvPr/>
          </p:nvSpPr>
          <p:spPr bwMode="auto">
            <a:xfrm rot="16200000" flipH="1">
              <a:off x="118" y="129"/>
              <a:ext cx="5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Rectangle 243"/>
            <p:cNvSpPr>
              <a:spLocks noChangeArrowheads="1"/>
            </p:cNvSpPr>
            <p:nvPr/>
          </p:nvSpPr>
          <p:spPr bwMode="auto">
            <a:xfrm>
              <a:off x="162" y="118"/>
              <a:ext cx="33" cy="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 Box 244"/>
            <p:cNvSpPr txBox="1">
              <a:spLocks noChangeArrowheads="1"/>
            </p:cNvSpPr>
            <p:nvPr/>
          </p:nvSpPr>
          <p:spPr bwMode="auto">
            <a:xfrm>
              <a:off x="196" y="155"/>
              <a:ext cx="21" cy="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8288" tIns="18288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600" b="1" i="0" u="none" strike="noStrike" baseline="0" dirty="0">
                  <a:solidFill>
                    <a:srgbClr val="0000FF"/>
                  </a:solidFill>
                  <a:latin typeface="Arial"/>
                  <a:cs typeface="Arial"/>
                </a:rPr>
                <a:t>73.0</a:t>
              </a:r>
            </a:p>
          </p:txBody>
        </p:sp>
        <p:sp>
          <p:nvSpPr>
            <p:cNvPr id="14" name="Rectangle 245"/>
            <p:cNvSpPr>
              <a:spLocks noChangeArrowheads="1"/>
            </p:cNvSpPr>
            <p:nvPr/>
          </p:nvSpPr>
          <p:spPr bwMode="auto">
            <a:xfrm>
              <a:off x="197" y="144"/>
              <a:ext cx="16" cy="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Line 246"/>
            <p:cNvSpPr>
              <a:spLocks noChangeShapeType="1"/>
            </p:cNvSpPr>
            <p:nvPr/>
          </p:nvSpPr>
          <p:spPr bwMode="auto">
            <a:xfrm flipH="1">
              <a:off x="147" y="155"/>
              <a:ext cx="4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 Box 247"/>
            <p:cNvSpPr txBox="1">
              <a:spLocks noChangeArrowheads="1"/>
            </p:cNvSpPr>
            <p:nvPr/>
          </p:nvSpPr>
          <p:spPr bwMode="auto">
            <a:xfrm>
              <a:off x="166" y="155"/>
              <a:ext cx="16" cy="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18288" tIns="18288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600" b="1" i="0" u="none" strike="noStrike" baseline="0" dirty="0">
                  <a:solidFill>
                    <a:srgbClr val="0000FF"/>
                  </a:solidFill>
                  <a:latin typeface="Arial"/>
                  <a:cs typeface="Arial"/>
                </a:rPr>
                <a:t>150</a:t>
              </a:r>
            </a:p>
          </p:txBody>
        </p:sp>
      </p:grpSp>
      <p:sp>
        <p:nvSpPr>
          <p:cNvPr id="17" name="Text Box 250"/>
          <p:cNvSpPr txBox="1">
            <a:spLocks noChangeArrowheads="1"/>
          </p:cNvSpPr>
          <p:nvPr/>
        </p:nvSpPr>
        <p:spPr bwMode="auto">
          <a:xfrm>
            <a:off x="1198212" y="353683"/>
            <a:ext cx="1007520" cy="176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288" tIns="22860" rIns="0" bIns="0" anchor="t" upright="1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en-US" sz="1000" b="1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Upper Clamping</a:t>
            </a:r>
          </a:p>
        </p:txBody>
      </p:sp>
      <p:sp>
        <p:nvSpPr>
          <p:cNvPr id="18" name="Text Box 251"/>
          <p:cNvSpPr txBox="1">
            <a:spLocks noChangeArrowheads="1"/>
          </p:cNvSpPr>
          <p:nvPr/>
        </p:nvSpPr>
        <p:spPr bwMode="auto">
          <a:xfrm>
            <a:off x="1198212" y="3524874"/>
            <a:ext cx="1013932" cy="176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8288" tIns="22860" rIns="0" bIns="0" anchor="t" upright="1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en-US" sz="1000" b="1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Lower</a:t>
            </a:r>
            <a:r>
              <a:rPr lang="en-US" sz="1000" b="0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000" b="1" i="0" u="none" strike="noStrike" baseline="0" dirty="0">
                <a:solidFill>
                  <a:srgbClr val="000000"/>
                </a:solidFill>
                <a:latin typeface="Arial"/>
                <a:cs typeface="Arial"/>
              </a:rPr>
              <a:t>Clamping</a:t>
            </a:r>
          </a:p>
        </p:txBody>
      </p:sp>
    </p:spTree>
    <p:extLst>
      <p:ext uri="{BB962C8B-B14F-4D97-AF65-F5344CB8AC3E}">
        <p14:creationId xmlns:p14="http://schemas.microsoft.com/office/powerpoint/2010/main" val="77297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640A6D1-D543-430E-A9C8-CF1C46117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42" y="2500379"/>
            <a:ext cx="9925691" cy="401990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43" y="133699"/>
            <a:ext cx="4478053" cy="2216145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91A32E0-1075-4409-884C-6FCA71D173B5}" type="slidenum">
              <a:rPr lang="en-US" sz="1200" smtClean="0"/>
              <a:pPr>
                <a:spcAft>
                  <a:spcPts val="600"/>
                </a:spcAft>
              </a:pPr>
              <a:t>3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3837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4</a:t>
            </a:fld>
            <a:endParaRPr lang="es-MX" dirty="0"/>
          </a:p>
        </p:txBody>
      </p:sp>
      <p:grpSp>
        <p:nvGrpSpPr>
          <p:cNvPr id="5" name="Group 205"/>
          <p:cNvGrpSpPr>
            <a:grpSpLocks/>
          </p:cNvGrpSpPr>
          <p:nvPr/>
        </p:nvGrpSpPr>
        <p:grpSpPr bwMode="auto">
          <a:xfrm>
            <a:off x="940782" y="905774"/>
            <a:ext cx="9566192" cy="5188177"/>
            <a:chOff x="0" y="0"/>
            <a:chExt cx="1037" cy="610"/>
          </a:xfrm>
        </p:grpSpPr>
        <p:pic>
          <p:nvPicPr>
            <p:cNvPr id="6" name="Picture 20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41" t="9875" r="20235" b="16750"/>
            <a:stretch>
              <a:fillRect/>
            </a:stretch>
          </p:blipFill>
          <p:spPr bwMode="auto">
            <a:xfrm>
              <a:off x="0" y="0"/>
              <a:ext cx="776" cy="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20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18" t="54250" r="8907" b="23625"/>
            <a:stretch>
              <a:fillRect/>
            </a:stretch>
          </p:blipFill>
          <p:spPr bwMode="auto">
            <a:xfrm>
              <a:off x="602" y="457"/>
              <a:ext cx="43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208"/>
            <p:cNvSpPr txBox="1">
              <a:spLocks noChangeArrowheads="1"/>
            </p:cNvSpPr>
            <p:nvPr/>
          </p:nvSpPr>
          <p:spPr bwMode="auto">
            <a:xfrm>
              <a:off x="784" y="513"/>
              <a:ext cx="250" cy="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27432" tIns="18288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500" b="1" i="0" u="none" strike="noStrike" baseline="0" dirty="0">
                  <a:solidFill>
                    <a:srgbClr val="0000FF"/>
                  </a:solidFill>
                  <a:latin typeface="Arial"/>
                  <a:cs typeface="Arial"/>
                </a:rPr>
                <a:t>Press Locator </a:t>
              </a:r>
            </a:p>
            <a:p>
              <a:pPr algn="l" rtl="0">
                <a:defRPr sz="1000"/>
              </a:pPr>
              <a:r>
                <a:rPr lang="en-US" sz="500" b="1" i="0" u="none" strike="noStrike" baseline="0" dirty="0">
                  <a:solidFill>
                    <a:srgbClr val="0000FF"/>
                  </a:solidFill>
                  <a:latin typeface="Arial"/>
                  <a:cs typeface="Arial"/>
                </a:rPr>
                <a:t>Press 9,10,21,23,24,25,26,27&amp;31 </a:t>
              </a:r>
            </a:p>
          </p:txBody>
        </p:sp>
        <p:sp>
          <p:nvSpPr>
            <p:cNvPr id="9" name="Text Box 209"/>
            <p:cNvSpPr txBox="1">
              <a:spLocks noChangeArrowheads="1"/>
            </p:cNvSpPr>
            <p:nvPr/>
          </p:nvSpPr>
          <p:spPr bwMode="auto">
            <a:xfrm>
              <a:off x="796" y="479"/>
              <a:ext cx="125" cy="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27432" tIns="22860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1000" b="0" i="0" u="none" strike="noStrike" baseline="0" dirty="0">
                  <a:solidFill>
                    <a:srgbClr val="0000FF"/>
                  </a:solidFill>
                  <a:latin typeface="Arial"/>
                  <a:cs typeface="Arial"/>
                </a:rPr>
                <a:t>T020</a:t>
              </a:r>
            </a:p>
          </p:txBody>
        </p:sp>
        <p:sp>
          <p:nvSpPr>
            <p:cNvPr id="10" name="Freeform 210"/>
            <p:cNvSpPr>
              <a:spLocks/>
            </p:cNvSpPr>
            <p:nvPr/>
          </p:nvSpPr>
          <p:spPr bwMode="auto">
            <a:xfrm>
              <a:off x="389" y="267"/>
              <a:ext cx="55" cy="66"/>
            </a:xfrm>
            <a:custGeom>
              <a:avLst/>
              <a:gdLst>
                <a:gd name="T0" fmla="*/ 0 w 55"/>
                <a:gd name="T1" fmla="*/ 12 h 66"/>
                <a:gd name="T2" fmla="*/ 41 w 55"/>
                <a:gd name="T3" fmla="*/ 66 h 66"/>
                <a:gd name="T4" fmla="*/ 55 w 55"/>
                <a:gd name="T5" fmla="*/ 53 h 66"/>
                <a:gd name="T6" fmla="*/ 29 w 55"/>
                <a:gd name="T7" fmla="*/ 0 h 66"/>
                <a:gd name="T8" fmla="*/ 0 w 55"/>
                <a:gd name="T9" fmla="*/ 12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66"/>
                <a:gd name="T17" fmla="*/ 55 w 5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66">
                  <a:moveTo>
                    <a:pt x="0" y="12"/>
                  </a:moveTo>
                  <a:lnTo>
                    <a:pt x="41" y="66"/>
                  </a:lnTo>
                  <a:lnTo>
                    <a:pt x="55" y="53"/>
                  </a:lnTo>
                  <a:lnTo>
                    <a:pt x="29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Line 211"/>
            <p:cNvSpPr>
              <a:spLocks noChangeShapeType="1"/>
            </p:cNvSpPr>
            <p:nvPr/>
          </p:nvSpPr>
          <p:spPr bwMode="auto">
            <a:xfrm flipH="1">
              <a:off x="17" y="466"/>
              <a:ext cx="41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Line 212"/>
            <p:cNvSpPr>
              <a:spLocks noChangeShapeType="1"/>
            </p:cNvSpPr>
            <p:nvPr/>
          </p:nvSpPr>
          <p:spPr bwMode="auto">
            <a:xfrm flipH="1">
              <a:off x="17" y="350"/>
              <a:ext cx="41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Line 213"/>
            <p:cNvSpPr>
              <a:spLocks noChangeShapeType="1"/>
            </p:cNvSpPr>
            <p:nvPr/>
          </p:nvSpPr>
          <p:spPr bwMode="auto">
            <a:xfrm flipH="1">
              <a:off x="291" y="352"/>
              <a:ext cx="59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Line 214"/>
            <p:cNvSpPr>
              <a:spLocks noChangeShapeType="1"/>
            </p:cNvSpPr>
            <p:nvPr/>
          </p:nvSpPr>
          <p:spPr bwMode="auto">
            <a:xfrm flipH="1">
              <a:off x="291" y="463"/>
              <a:ext cx="59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Line 215"/>
            <p:cNvSpPr>
              <a:spLocks noChangeShapeType="1"/>
            </p:cNvSpPr>
            <p:nvPr/>
          </p:nvSpPr>
          <p:spPr bwMode="auto">
            <a:xfrm flipH="1">
              <a:off x="346" y="352"/>
              <a:ext cx="0" cy="112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 Box 216"/>
            <p:cNvSpPr txBox="1">
              <a:spLocks noChangeArrowheads="1"/>
            </p:cNvSpPr>
            <p:nvPr/>
          </p:nvSpPr>
          <p:spPr bwMode="auto">
            <a:xfrm>
              <a:off x="328" y="399"/>
              <a:ext cx="57" cy="5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18288" tIns="2286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  44.3</a:t>
              </a:r>
            </a:p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+0/-0.2</a:t>
              </a:r>
            </a:p>
          </p:txBody>
        </p:sp>
        <p:sp>
          <p:nvSpPr>
            <p:cNvPr id="17" name="Line 217"/>
            <p:cNvSpPr>
              <a:spLocks noChangeShapeType="1"/>
            </p:cNvSpPr>
            <p:nvPr/>
          </p:nvSpPr>
          <p:spPr bwMode="auto">
            <a:xfrm flipH="1">
              <a:off x="21" y="351"/>
              <a:ext cx="0" cy="115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 Box 218"/>
            <p:cNvSpPr txBox="1">
              <a:spLocks noChangeArrowheads="1"/>
            </p:cNvSpPr>
            <p:nvPr/>
          </p:nvSpPr>
          <p:spPr bwMode="auto">
            <a:xfrm>
              <a:off x="169" y="519"/>
              <a:ext cx="37" cy="54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18288" tIns="2286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endParaRPr lang="en-US" sz="800" b="0" i="0" u="none" strike="noStrike" baseline="0" dirty="0">
                <a:solidFill>
                  <a:srgbClr val="FFCC00"/>
                </a:solidFill>
                <a:latin typeface="Arial"/>
                <a:cs typeface="Arial"/>
              </a:endParaRPr>
            </a:p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80.0</a:t>
              </a:r>
            </a:p>
          </p:txBody>
        </p:sp>
        <p:sp>
          <p:nvSpPr>
            <p:cNvPr id="19" name="Text Box 219"/>
            <p:cNvSpPr txBox="1">
              <a:spLocks noChangeArrowheads="1"/>
            </p:cNvSpPr>
            <p:nvPr/>
          </p:nvSpPr>
          <p:spPr bwMode="auto">
            <a:xfrm>
              <a:off x="187" y="260"/>
              <a:ext cx="29" cy="20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27432" tIns="18288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7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25.0</a:t>
              </a:r>
            </a:p>
          </p:txBody>
        </p:sp>
        <p:sp>
          <p:nvSpPr>
            <p:cNvPr id="20" name="Text Box 220"/>
            <p:cNvSpPr txBox="1">
              <a:spLocks noChangeArrowheads="1"/>
            </p:cNvSpPr>
            <p:nvPr/>
          </p:nvSpPr>
          <p:spPr bwMode="auto">
            <a:xfrm>
              <a:off x="253" y="260"/>
              <a:ext cx="28" cy="22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27432" tIns="18288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7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25.0</a:t>
              </a:r>
            </a:p>
          </p:txBody>
        </p:sp>
        <p:sp>
          <p:nvSpPr>
            <p:cNvPr id="21" name="Text Box 221"/>
            <p:cNvSpPr txBox="1">
              <a:spLocks noChangeArrowheads="1"/>
            </p:cNvSpPr>
            <p:nvPr/>
          </p:nvSpPr>
          <p:spPr bwMode="auto">
            <a:xfrm>
              <a:off x="8" y="415"/>
              <a:ext cx="32" cy="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18288" tIns="2286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  40</a:t>
              </a:r>
            </a:p>
          </p:txBody>
        </p:sp>
        <p:sp>
          <p:nvSpPr>
            <p:cNvPr id="22" name="Rectangle 222"/>
            <p:cNvSpPr>
              <a:spLocks noChangeArrowheads="1"/>
            </p:cNvSpPr>
            <p:nvPr/>
          </p:nvSpPr>
          <p:spPr bwMode="auto">
            <a:xfrm>
              <a:off x="317" y="526"/>
              <a:ext cx="282" cy="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Rectangle 223"/>
            <p:cNvSpPr>
              <a:spLocks noChangeArrowheads="1"/>
            </p:cNvSpPr>
            <p:nvPr/>
          </p:nvSpPr>
          <p:spPr bwMode="auto">
            <a:xfrm>
              <a:off x="909" y="42"/>
              <a:ext cx="0" cy="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2300" b="0" i="0" u="none" strike="noStrike" baseline="0" dirty="0">
                  <a:solidFill>
                    <a:srgbClr val="000000"/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4" name="Line 225"/>
            <p:cNvSpPr>
              <a:spLocks noChangeShapeType="1"/>
            </p:cNvSpPr>
            <p:nvPr/>
          </p:nvSpPr>
          <p:spPr bwMode="auto">
            <a:xfrm>
              <a:off x="437" y="329"/>
              <a:ext cx="126" cy="159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Freeform 226"/>
            <p:cNvSpPr>
              <a:spLocks/>
            </p:cNvSpPr>
            <p:nvPr/>
          </p:nvSpPr>
          <p:spPr bwMode="auto">
            <a:xfrm>
              <a:off x="561" y="485"/>
              <a:ext cx="22" cy="25"/>
            </a:xfrm>
            <a:custGeom>
              <a:avLst/>
              <a:gdLst>
                <a:gd name="T0" fmla="*/ 12 w 22"/>
                <a:gd name="T1" fmla="*/ 0 h 25"/>
                <a:gd name="T2" fmla="*/ 1 w 22"/>
                <a:gd name="T3" fmla="*/ 4 h 25"/>
                <a:gd name="T4" fmla="*/ 0 w 22"/>
                <a:gd name="T5" fmla="*/ 16 h 25"/>
                <a:gd name="T6" fmla="*/ 9 w 22"/>
                <a:gd name="T7" fmla="*/ 25 h 25"/>
                <a:gd name="T8" fmla="*/ 22 w 22"/>
                <a:gd name="T9" fmla="*/ 18 h 25"/>
                <a:gd name="T10" fmla="*/ 12 w 22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"/>
                <a:gd name="T19" fmla="*/ 0 h 25"/>
                <a:gd name="T20" fmla="*/ 22 w 22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" h="25">
                  <a:moveTo>
                    <a:pt x="12" y="0"/>
                  </a:moveTo>
                  <a:lnTo>
                    <a:pt x="1" y="4"/>
                  </a:lnTo>
                  <a:lnTo>
                    <a:pt x="0" y="16"/>
                  </a:lnTo>
                  <a:lnTo>
                    <a:pt x="9" y="25"/>
                  </a:lnTo>
                  <a:lnTo>
                    <a:pt x="22" y="1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Freeform 227"/>
            <p:cNvSpPr>
              <a:spLocks/>
            </p:cNvSpPr>
            <p:nvPr/>
          </p:nvSpPr>
          <p:spPr bwMode="auto">
            <a:xfrm>
              <a:off x="405" y="292"/>
              <a:ext cx="35" cy="41"/>
            </a:xfrm>
            <a:custGeom>
              <a:avLst/>
              <a:gdLst>
                <a:gd name="T0" fmla="*/ 35 w 35"/>
                <a:gd name="T1" fmla="*/ 41 h 41"/>
                <a:gd name="T2" fmla="*/ 0 w 35"/>
                <a:gd name="T3" fmla="*/ 0 h 41"/>
                <a:gd name="T4" fmla="*/ 25 w 35"/>
                <a:gd name="T5" fmla="*/ 0 h 41"/>
                <a:gd name="T6" fmla="*/ 0 60000 65536"/>
                <a:gd name="T7" fmla="*/ 0 60000 65536"/>
                <a:gd name="T8" fmla="*/ 0 60000 65536"/>
                <a:gd name="T9" fmla="*/ 0 w 35"/>
                <a:gd name="T10" fmla="*/ 0 h 41"/>
                <a:gd name="T11" fmla="*/ 35 w 35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41">
                  <a:moveTo>
                    <a:pt x="35" y="41"/>
                  </a:moveTo>
                  <a:lnTo>
                    <a:pt x="0" y="0"/>
                  </a:lnTo>
                  <a:lnTo>
                    <a:pt x="25" y="0"/>
                  </a:lnTo>
                </a:path>
              </a:pathLst>
            </a:cu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 Box 228"/>
            <p:cNvSpPr txBox="1">
              <a:spLocks noChangeArrowheads="1"/>
            </p:cNvSpPr>
            <p:nvPr/>
          </p:nvSpPr>
          <p:spPr bwMode="auto">
            <a:xfrm>
              <a:off x="436" y="285"/>
              <a:ext cx="57" cy="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18288" tIns="2286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  69.5</a:t>
              </a:r>
            </a:p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+0/-0.5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551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5</a:t>
            </a:fld>
            <a:endParaRPr lang="es-MX" dirty="0"/>
          </a:p>
        </p:txBody>
      </p:sp>
      <p:grpSp>
        <p:nvGrpSpPr>
          <p:cNvPr id="5" name="Group 241"/>
          <p:cNvGrpSpPr>
            <a:grpSpLocks/>
          </p:cNvGrpSpPr>
          <p:nvPr/>
        </p:nvGrpSpPr>
        <p:grpSpPr bwMode="auto">
          <a:xfrm>
            <a:off x="785003" y="577970"/>
            <a:ext cx="10463841" cy="5486399"/>
            <a:chOff x="0" y="0"/>
            <a:chExt cx="1037" cy="603"/>
          </a:xfrm>
        </p:grpSpPr>
        <p:pic>
          <p:nvPicPr>
            <p:cNvPr id="6" name="Picture 24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41" t="9875" r="20235" b="17375"/>
            <a:stretch>
              <a:fillRect/>
            </a:stretch>
          </p:blipFill>
          <p:spPr bwMode="auto">
            <a:xfrm>
              <a:off x="0" y="0"/>
              <a:ext cx="776" cy="58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 243"/>
            <p:cNvSpPr>
              <a:spLocks/>
            </p:cNvSpPr>
            <p:nvPr/>
          </p:nvSpPr>
          <p:spPr bwMode="auto">
            <a:xfrm>
              <a:off x="389" y="267"/>
              <a:ext cx="55" cy="66"/>
            </a:xfrm>
            <a:custGeom>
              <a:avLst/>
              <a:gdLst>
                <a:gd name="T0" fmla="*/ 0 w 55"/>
                <a:gd name="T1" fmla="*/ 12 h 66"/>
                <a:gd name="T2" fmla="*/ 41 w 55"/>
                <a:gd name="T3" fmla="*/ 66 h 66"/>
                <a:gd name="T4" fmla="*/ 55 w 55"/>
                <a:gd name="T5" fmla="*/ 53 h 66"/>
                <a:gd name="T6" fmla="*/ 29 w 55"/>
                <a:gd name="T7" fmla="*/ 0 h 66"/>
                <a:gd name="T8" fmla="*/ 0 w 55"/>
                <a:gd name="T9" fmla="*/ 12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66"/>
                <a:gd name="T17" fmla="*/ 55 w 5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66">
                  <a:moveTo>
                    <a:pt x="0" y="12"/>
                  </a:moveTo>
                  <a:lnTo>
                    <a:pt x="41" y="66"/>
                  </a:lnTo>
                  <a:lnTo>
                    <a:pt x="55" y="53"/>
                  </a:lnTo>
                  <a:lnTo>
                    <a:pt x="29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Line 244"/>
            <p:cNvSpPr>
              <a:spLocks noChangeShapeType="1"/>
            </p:cNvSpPr>
            <p:nvPr/>
          </p:nvSpPr>
          <p:spPr bwMode="auto">
            <a:xfrm flipH="1">
              <a:off x="17" y="466"/>
              <a:ext cx="41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Line 245"/>
            <p:cNvSpPr>
              <a:spLocks noChangeShapeType="1"/>
            </p:cNvSpPr>
            <p:nvPr/>
          </p:nvSpPr>
          <p:spPr bwMode="auto">
            <a:xfrm flipH="1">
              <a:off x="17" y="350"/>
              <a:ext cx="41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Line 246"/>
            <p:cNvSpPr>
              <a:spLocks noChangeShapeType="1"/>
            </p:cNvSpPr>
            <p:nvPr/>
          </p:nvSpPr>
          <p:spPr bwMode="auto">
            <a:xfrm flipH="1">
              <a:off x="291" y="352"/>
              <a:ext cx="59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Line 247"/>
            <p:cNvSpPr>
              <a:spLocks noChangeShapeType="1"/>
            </p:cNvSpPr>
            <p:nvPr/>
          </p:nvSpPr>
          <p:spPr bwMode="auto">
            <a:xfrm flipH="1">
              <a:off x="291" y="463"/>
              <a:ext cx="59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Line 248"/>
            <p:cNvSpPr>
              <a:spLocks noChangeShapeType="1"/>
            </p:cNvSpPr>
            <p:nvPr/>
          </p:nvSpPr>
          <p:spPr bwMode="auto">
            <a:xfrm flipH="1">
              <a:off x="346" y="352"/>
              <a:ext cx="0" cy="112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 Box 249"/>
            <p:cNvSpPr txBox="1">
              <a:spLocks noChangeArrowheads="1"/>
            </p:cNvSpPr>
            <p:nvPr/>
          </p:nvSpPr>
          <p:spPr bwMode="auto">
            <a:xfrm>
              <a:off x="326" y="398"/>
              <a:ext cx="58" cy="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18288" tIns="2286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  40.0</a:t>
              </a:r>
            </a:p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+0/-0.5</a:t>
              </a:r>
            </a:p>
          </p:txBody>
        </p:sp>
        <p:sp>
          <p:nvSpPr>
            <p:cNvPr id="14" name="Line 250"/>
            <p:cNvSpPr>
              <a:spLocks noChangeShapeType="1"/>
            </p:cNvSpPr>
            <p:nvPr/>
          </p:nvSpPr>
          <p:spPr bwMode="auto">
            <a:xfrm flipH="1">
              <a:off x="21" y="351"/>
              <a:ext cx="0" cy="115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 Box 251"/>
            <p:cNvSpPr txBox="1">
              <a:spLocks noChangeArrowheads="1"/>
            </p:cNvSpPr>
            <p:nvPr/>
          </p:nvSpPr>
          <p:spPr bwMode="auto">
            <a:xfrm>
              <a:off x="159" y="519"/>
              <a:ext cx="37" cy="31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27432" tIns="18288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7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6" name="Text Box 252"/>
            <p:cNvSpPr txBox="1">
              <a:spLocks noChangeArrowheads="1"/>
            </p:cNvSpPr>
            <p:nvPr/>
          </p:nvSpPr>
          <p:spPr bwMode="auto">
            <a:xfrm>
              <a:off x="187" y="265"/>
              <a:ext cx="30" cy="18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27432" tIns="18288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7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25.0</a:t>
              </a:r>
            </a:p>
          </p:txBody>
        </p:sp>
        <p:sp>
          <p:nvSpPr>
            <p:cNvPr id="17" name="Text Box 253"/>
            <p:cNvSpPr txBox="1">
              <a:spLocks noChangeArrowheads="1"/>
            </p:cNvSpPr>
            <p:nvPr/>
          </p:nvSpPr>
          <p:spPr bwMode="auto">
            <a:xfrm>
              <a:off x="254" y="260"/>
              <a:ext cx="30" cy="21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27432" tIns="18288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7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25.0</a:t>
              </a:r>
            </a:p>
          </p:txBody>
        </p:sp>
        <p:sp>
          <p:nvSpPr>
            <p:cNvPr id="18" name="Text Box 254"/>
            <p:cNvSpPr txBox="1">
              <a:spLocks noChangeArrowheads="1"/>
            </p:cNvSpPr>
            <p:nvPr/>
          </p:nvSpPr>
          <p:spPr bwMode="auto">
            <a:xfrm>
              <a:off x="4" y="412"/>
              <a:ext cx="31" cy="2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18288" tIns="2286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  40</a:t>
              </a:r>
            </a:p>
          </p:txBody>
        </p:sp>
        <p:pic>
          <p:nvPicPr>
            <p:cNvPr id="19" name="Picture 25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18" t="54250" r="8907" b="23625"/>
            <a:stretch>
              <a:fillRect/>
            </a:stretch>
          </p:blipFill>
          <p:spPr bwMode="auto">
            <a:xfrm>
              <a:off x="602" y="450"/>
              <a:ext cx="435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 Box 256"/>
            <p:cNvSpPr txBox="1">
              <a:spLocks noChangeArrowheads="1"/>
            </p:cNvSpPr>
            <p:nvPr/>
          </p:nvSpPr>
          <p:spPr bwMode="auto">
            <a:xfrm>
              <a:off x="783" y="507"/>
              <a:ext cx="249" cy="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 Box 257"/>
            <p:cNvSpPr txBox="1">
              <a:spLocks noChangeArrowheads="1"/>
            </p:cNvSpPr>
            <p:nvPr/>
          </p:nvSpPr>
          <p:spPr bwMode="auto">
            <a:xfrm>
              <a:off x="798" y="469"/>
              <a:ext cx="121" cy="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27432" tIns="22860" rIns="0" bIns="0" anchor="t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1000" b="0" i="0" u="none" strike="noStrike" baseline="0" dirty="0">
                  <a:solidFill>
                    <a:srgbClr val="0000FF"/>
                  </a:solidFill>
                  <a:latin typeface="Arial"/>
                  <a:cs typeface="Arial"/>
                </a:rPr>
                <a:t>T021</a:t>
              </a:r>
            </a:p>
          </p:txBody>
        </p:sp>
        <p:sp>
          <p:nvSpPr>
            <p:cNvPr id="22" name="Rectangle 258"/>
            <p:cNvSpPr>
              <a:spLocks noChangeArrowheads="1"/>
            </p:cNvSpPr>
            <p:nvPr/>
          </p:nvSpPr>
          <p:spPr bwMode="auto">
            <a:xfrm>
              <a:off x="318" y="513"/>
              <a:ext cx="282" cy="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259"/>
            <p:cNvSpPr>
              <a:spLocks/>
            </p:cNvSpPr>
            <p:nvPr/>
          </p:nvSpPr>
          <p:spPr bwMode="auto">
            <a:xfrm>
              <a:off x="389" y="260"/>
              <a:ext cx="55" cy="66"/>
            </a:xfrm>
            <a:custGeom>
              <a:avLst/>
              <a:gdLst>
                <a:gd name="T0" fmla="*/ 0 w 55"/>
                <a:gd name="T1" fmla="*/ 12 h 66"/>
                <a:gd name="T2" fmla="*/ 41 w 55"/>
                <a:gd name="T3" fmla="*/ 66 h 66"/>
                <a:gd name="T4" fmla="*/ 55 w 55"/>
                <a:gd name="T5" fmla="*/ 53 h 66"/>
                <a:gd name="T6" fmla="*/ 29 w 55"/>
                <a:gd name="T7" fmla="*/ 0 h 66"/>
                <a:gd name="T8" fmla="*/ 0 w 55"/>
                <a:gd name="T9" fmla="*/ 12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66"/>
                <a:gd name="T17" fmla="*/ 55 w 55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66">
                  <a:moveTo>
                    <a:pt x="0" y="12"/>
                  </a:moveTo>
                  <a:lnTo>
                    <a:pt x="41" y="66"/>
                  </a:lnTo>
                  <a:lnTo>
                    <a:pt x="55" y="53"/>
                  </a:lnTo>
                  <a:lnTo>
                    <a:pt x="29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Line 261"/>
            <p:cNvSpPr>
              <a:spLocks noChangeShapeType="1"/>
            </p:cNvSpPr>
            <p:nvPr/>
          </p:nvSpPr>
          <p:spPr bwMode="auto">
            <a:xfrm>
              <a:off x="435" y="326"/>
              <a:ext cx="128" cy="162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Freeform 262"/>
            <p:cNvSpPr>
              <a:spLocks/>
            </p:cNvSpPr>
            <p:nvPr/>
          </p:nvSpPr>
          <p:spPr bwMode="auto">
            <a:xfrm>
              <a:off x="402" y="287"/>
              <a:ext cx="35" cy="41"/>
            </a:xfrm>
            <a:custGeom>
              <a:avLst/>
              <a:gdLst>
                <a:gd name="T0" fmla="*/ 35 w 35"/>
                <a:gd name="T1" fmla="*/ 41 h 41"/>
                <a:gd name="T2" fmla="*/ 0 w 35"/>
                <a:gd name="T3" fmla="*/ 0 h 41"/>
                <a:gd name="T4" fmla="*/ 25 w 35"/>
                <a:gd name="T5" fmla="*/ 0 h 41"/>
                <a:gd name="T6" fmla="*/ 0 60000 65536"/>
                <a:gd name="T7" fmla="*/ 0 60000 65536"/>
                <a:gd name="T8" fmla="*/ 0 60000 65536"/>
                <a:gd name="T9" fmla="*/ 0 w 35"/>
                <a:gd name="T10" fmla="*/ 0 h 41"/>
                <a:gd name="T11" fmla="*/ 35 w 35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41">
                  <a:moveTo>
                    <a:pt x="35" y="41"/>
                  </a:moveTo>
                  <a:lnTo>
                    <a:pt x="0" y="0"/>
                  </a:lnTo>
                  <a:lnTo>
                    <a:pt x="25" y="0"/>
                  </a:lnTo>
                </a:path>
              </a:pathLst>
            </a:cu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Text Box 263"/>
            <p:cNvSpPr txBox="1">
              <a:spLocks noChangeArrowheads="1"/>
            </p:cNvSpPr>
            <p:nvPr/>
          </p:nvSpPr>
          <p:spPr bwMode="auto">
            <a:xfrm>
              <a:off x="432" y="290"/>
              <a:ext cx="58" cy="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18288" tIns="2286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  59.5</a:t>
              </a:r>
            </a:p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+0/-0.5</a:t>
              </a:r>
            </a:p>
          </p:txBody>
        </p:sp>
        <p:sp>
          <p:nvSpPr>
            <p:cNvPr id="27" name="Freeform 264"/>
            <p:cNvSpPr>
              <a:spLocks/>
            </p:cNvSpPr>
            <p:nvPr/>
          </p:nvSpPr>
          <p:spPr bwMode="auto">
            <a:xfrm>
              <a:off x="562" y="484"/>
              <a:ext cx="22" cy="25"/>
            </a:xfrm>
            <a:custGeom>
              <a:avLst/>
              <a:gdLst>
                <a:gd name="T0" fmla="*/ 12 w 22"/>
                <a:gd name="T1" fmla="*/ 0 h 25"/>
                <a:gd name="T2" fmla="*/ 1 w 22"/>
                <a:gd name="T3" fmla="*/ 4 h 25"/>
                <a:gd name="T4" fmla="*/ 0 w 22"/>
                <a:gd name="T5" fmla="*/ 16 h 25"/>
                <a:gd name="T6" fmla="*/ 9 w 22"/>
                <a:gd name="T7" fmla="*/ 25 h 25"/>
                <a:gd name="T8" fmla="*/ 22 w 22"/>
                <a:gd name="T9" fmla="*/ 18 h 25"/>
                <a:gd name="T10" fmla="*/ 12 w 22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"/>
                <a:gd name="T19" fmla="*/ 0 h 25"/>
                <a:gd name="T20" fmla="*/ 22 w 22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" h="25">
                  <a:moveTo>
                    <a:pt x="12" y="0"/>
                  </a:moveTo>
                  <a:lnTo>
                    <a:pt x="1" y="4"/>
                  </a:lnTo>
                  <a:lnTo>
                    <a:pt x="0" y="16"/>
                  </a:lnTo>
                  <a:lnTo>
                    <a:pt x="9" y="25"/>
                  </a:lnTo>
                  <a:lnTo>
                    <a:pt x="22" y="1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265" descr="Diagonal hacia arriba ancha"/>
            <p:cNvSpPr>
              <a:spLocks/>
            </p:cNvSpPr>
            <p:nvPr/>
          </p:nvSpPr>
          <p:spPr bwMode="auto">
            <a:xfrm>
              <a:off x="60" y="22"/>
              <a:ext cx="232" cy="205"/>
            </a:xfrm>
            <a:custGeom>
              <a:avLst/>
              <a:gdLst>
                <a:gd name="T0" fmla="*/ 0 w 231"/>
                <a:gd name="T1" fmla="*/ 181 h 204"/>
                <a:gd name="T2" fmla="*/ 0 w 231"/>
                <a:gd name="T3" fmla="*/ 43 h 204"/>
                <a:gd name="T4" fmla="*/ 93 w 231"/>
                <a:gd name="T5" fmla="*/ 0 h 204"/>
                <a:gd name="T6" fmla="*/ 207 w 231"/>
                <a:gd name="T7" fmla="*/ 0 h 204"/>
                <a:gd name="T8" fmla="*/ 207 w 231"/>
                <a:gd name="T9" fmla="*/ 47 h 204"/>
                <a:gd name="T10" fmla="*/ 251 w 231"/>
                <a:gd name="T11" fmla="*/ 47 h 204"/>
                <a:gd name="T12" fmla="*/ 251 w 231"/>
                <a:gd name="T13" fmla="*/ 178 h 204"/>
                <a:gd name="T14" fmla="*/ 206 w 231"/>
                <a:gd name="T15" fmla="*/ 178 h 204"/>
                <a:gd name="T16" fmla="*/ 206 w 231"/>
                <a:gd name="T17" fmla="*/ 224 h 204"/>
                <a:gd name="T18" fmla="*/ 93 w 231"/>
                <a:gd name="T19" fmla="*/ 224 h 204"/>
                <a:gd name="T20" fmla="*/ 0 w 231"/>
                <a:gd name="T21" fmla="*/ 181 h 2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1"/>
                <a:gd name="T34" fmla="*/ 0 h 204"/>
                <a:gd name="T35" fmla="*/ 231 w 231"/>
                <a:gd name="T36" fmla="*/ 204 h 20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1" h="204">
                  <a:moveTo>
                    <a:pt x="0" y="161"/>
                  </a:moveTo>
                  <a:lnTo>
                    <a:pt x="0" y="43"/>
                  </a:lnTo>
                  <a:lnTo>
                    <a:pt x="93" y="0"/>
                  </a:lnTo>
                  <a:lnTo>
                    <a:pt x="187" y="0"/>
                  </a:lnTo>
                  <a:lnTo>
                    <a:pt x="187" y="47"/>
                  </a:lnTo>
                  <a:lnTo>
                    <a:pt x="231" y="47"/>
                  </a:lnTo>
                  <a:lnTo>
                    <a:pt x="231" y="158"/>
                  </a:lnTo>
                  <a:lnTo>
                    <a:pt x="186" y="158"/>
                  </a:lnTo>
                  <a:lnTo>
                    <a:pt x="186" y="204"/>
                  </a:lnTo>
                  <a:lnTo>
                    <a:pt x="93" y="204"/>
                  </a:lnTo>
                  <a:lnTo>
                    <a:pt x="0" y="161"/>
                  </a:lnTo>
                  <a:close/>
                </a:path>
              </a:pathLst>
            </a:custGeom>
            <a:pattFill prst="wdUp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Oval 266"/>
            <p:cNvSpPr>
              <a:spLocks noChangeArrowheads="1"/>
            </p:cNvSpPr>
            <p:nvPr/>
          </p:nvSpPr>
          <p:spPr bwMode="auto">
            <a:xfrm>
              <a:off x="590" y="148"/>
              <a:ext cx="53" cy="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267"/>
            <p:cNvSpPr>
              <a:spLocks/>
            </p:cNvSpPr>
            <p:nvPr/>
          </p:nvSpPr>
          <p:spPr bwMode="auto">
            <a:xfrm>
              <a:off x="60" y="365"/>
              <a:ext cx="93" cy="86"/>
            </a:xfrm>
            <a:custGeom>
              <a:avLst/>
              <a:gdLst>
                <a:gd name="T0" fmla="*/ 1 w 93"/>
                <a:gd name="T1" fmla="*/ 3 h 86"/>
                <a:gd name="T2" fmla="*/ 1 w 93"/>
                <a:gd name="T3" fmla="*/ 15 h 86"/>
                <a:gd name="T4" fmla="*/ 45 w 93"/>
                <a:gd name="T5" fmla="*/ 16 h 86"/>
                <a:gd name="T6" fmla="*/ 48 w 93"/>
                <a:gd name="T7" fmla="*/ 42 h 86"/>
                <a:gd name="T8" fmla="*/ 48 w 93"/>
                <a:gd name="T9" fmla="*/ 47 h 86"/>
                <a:gd name="T10" fmla="*/ 46 w 93"/>
                <a:gd name="T11" fmla="*/ 78 h 86"/>
                <a:gd name="T12" fmla="*/ 0 w 93"/>
                <a:gd name="T13" fmla="*/ 78 h 86"/>
                <a:gd name="T14" fmla="*/ 2 w 93"/>
                <a:gd name="T15" fmla="*/ 86 h 86"/>
                <a:gd name="T16" fmla="*/ 57 w 93"/>
                <a:gd name="T17" fmla="*/ 85 h 86"/>
                <a:gd name="T18" fmla="*/ 56 w 93"/>
                <a:gd name="T19" fmla="*/ 73 h 86"/>
                <a:gd name="T20" fmla="*/ 93 w 93"/>
                <a:gd name="T21" fmla="*/ 74 h 86"/>
                <a:gd name="T22" fmla="*/ 93 w 93"/>
                <a:gd name="T23" fmla="*/ 62 h 86"/>
                <a:gd name="T24" fmla="*/ 53 w 93"/>
                <a:gd name="T25" fmla="*/ 62 h 86"/>
                <a:gd name="T26" fmla="*/ 52 w 93"/>
                <a:gd name="T27" fmla="*/ 35 h 86"/>
                <a:gd name="T28" fmla="*/ 55 w 93"/>
                <a:gd name="T29" fmla="*/ 22 h 86"/>
                <a:gd name="T30" fmla="*/ 93 w 93"/>
                <a:gd name="T31" fmla="*/ 22 h 86"/>
                <a:gd name="T32" fmla="*/ 92 w 93"/>
                <a:gd name="T33" fmla="*/ 9 h 86"/>
                <a:gd name="T34" fmla="*/ 53 w 93"/>
                <a:gd name="T35" fmla="*/ 9 h 86"/>
                <a:gd name="T36" fmla="*/ 52 w 93"/>
                <a:gd name="T37" fmla="*/ 0 h 86"/>
                <a:gd name="T38" fmla="*/ 1 w 93"/>
                <a:gd name="T39" fmla="*/ 3 h 8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93"/>
                <a:gd name="T61" fmla="*/ 0 h 86"/>
                <a:gd name="T62" fmla="*/ 93 w 93"/>
                <a:gd name="T63" fmla="*/ 86 h 8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93" h="86">
                  <a:moveTo>
                    <a:pt x="1" y="3"/>
                  </a:moveTo>
                  <a:lnTo>
                    <a:pt x="1" y="15"/>
                  </a:lnTo>
                  <a:lnTo>
                    <a:pt x="45" y="16"/>
                  </a:lnTo>
                  <a:lnTo>
                    <a:pt x="48" y="42"/>
                  </a:lnTo>
                  <a:lnTo>
                    <a:pt x="48" y="47"/>
                  </a:lnTo>
                  <a:lnTo>
                    <a:pt x="46" y="78"/>
                  </a:lnTo>
                  <a:lnTo>
                    <a:pt x="0" y="78"/>
                  </a:lnTo>
                  <a:lnTo>
                    <a:pt x="2" y="86"/>
                  </a:lnTo>
                  <a:lnTo>
                    <a:pt x="57" y="85"/>
                  </a:lnTo>
                  <a:lnTo>
                    <a:pt x="56" y="73"/>
                  </a:lnTo>
                  <a:lnTo>
                    <a:pt x="93" y="74"/>
                  </a:lnTo>
                  <a:lnTo>
                    <a:pt x="93" y="62"/>
                  </a:lnTo>
                  <a:lnTo>
                    <a:pt x="53" y="62"/>
                  </a:lnTo>
                  <a:lnTo>
                    <a:pt x="52" y="35"/>
                  </a:lnTo>
                  <a:lnTo>
                    <a:pt x="55" y="22"/>
                  </a:lnTo>
                  <a:lnTo>
                    <a:pt x="93" y="22"/>
                  </a:lnTo>
                  <a:lnTo>
                    <a:pt x="92" y="9"/>
                  </a:lnTo>
                  <a:lnTo>
                    <a:pt x="53" y="9"/>
                  </a:lnTo>
                  <a:lnTo>
                    <a:pt x="52" y="0"/>
                  </a:lnTo>
                  <a:lnTo>
                    <a:pt x="1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Rectangle 268"/>
            <p:cNvSpPr>
              <a:spLocks noChangeArrowheads="1"/>
            </p:cNvSpPr>
            <p:nvPr/>
          </p:nvSpPr>
          <p:spPr bwMode="auto">
            <a:xfrm>
              <a:off x="155" y="375"/>
              <a:ext cx="9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Rectangle 269"/>
            <p:cNvSpPr>
              <a:spLocks noChangeArrowheads="1"/>
            </p:cNvSpPr>
            <p:nvPr/>
          </p:nvSpPr>
          <p:spPr bwMode="auto">
            <a:xfrm>
              <a:off x="155" y="428"/>
              <a:ext cx="90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Rectangle 270"/>
            <p:cNvSpPr>
              <a:spLocks noChangeArrowheads="1"/>
            </p:cNvSpPr>
            <p:nvPr/>
          </p:nvSpPr>
          <p:spPr bwMode="auto">
            <a:xfrm>
              <a:off x="247" y="377"/>
              <a:ext cx="43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Rectangle 271"/>
            <p:cNvSpPr>
              <a:spLocks noChangeArrowheads="1"/>
            </p:cNvSpPr>
            <p:nvPr/>
          </p:nvSpPr>
          <p:spPr bwMode="auto">
            <a:xfrm>
              <a:off x="247" y="427"/>
              <a:ext cx="43" cy="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Freeform 272"/>
            <p:cNvSpPr>
              <a:spLocks/>
            </p:cNvSpPr>
            <p:nvPr/>
          </p:nvSpPr>
          <p:spPr bwMode="auto">
            <a:xfrm>
              <a:off x="503" y="358"/>
              <a:ext cx="41" cy="50"/>
            </a:xfrm>
            <a:custGeom>
              <a:avLst/>
              <a:gdLst>
                <a:gd name="T0" fmla="*/ 1 w 41"/>
                <a:gd name="T1" fmla="*/ 12 h 50"/>
                <a:gd name="T2" fmla="*/ 0 w 41"/>
                <a:gd name="T3" fmla="*/ 19 h 50"/>
                <a:gd name="T4" fmla="*/ 19 w 41"/>
                <a:gd name="T5" fmla="*/ 25 h 50"/>
                <a:gd name="T6" fmla="*/ 31 w 41"/>
                <a:gd name="T7" fmla="*/ 47 h 50"/>
                <a:gd name="T8" fmla="*/ 31 w 41"/>
                <a:gd name="T9" fmla="*/ 50 h 50"/>
                <a:gd name="T10" fmla="*/ 41 w 41"/>
                <a:gd name="T11" fmla="*/ 50 h 50"/>
                <a:gd name="T12" fmla="*/ 29 w 41"/>
                <a:gd name="T13" fmla="*/ 21 h 50"/>
                <a:gd name="T14" fmla="*/ 21 w 41"/>
                <a:gd name="T15" fmla="*/ 16 h 50"/>
                <a:gd name="T16" fmla="*/ 27 w 41"/>
                <a:gd name="T17" fmla="*/ 4 h 50"/>
                <a:gd name="T18" fmla="*/ 20 w 41"/>
                <a:gd name="T19" fmla="*/ 0 h 50"/>
                <a:gd name="T20" fmla="*/ 13 w 41"/>
                <a:gd name="T21" fmla="*/ 13 h 50"/>
                <a:gd name="T22" fmla="*/ 1 w 41"/>
                <a:gd name="T23" fmla="*/ 12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1"/>
                <a:gd name="T37" fmla="*/ 0 h 50"/>
                <a:gd name="T38" fmla="*/ 41 w 41"/>
                <a:gd name="T39" fmla="*/ 50 h 5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1" h="50">
                  <a:moveTo>
                    <a:pt x="1" y="12"/>
                  </a:moveTo>
                  <a:lnTo>
                    <a:pt x="0" y="19"/>
                  </a:lnTo>
                  <a:lnTo>
                    <a:pt x="19" y="25"/>
                  </a:lnTo>
                  <a:lnTo>
                    <a:pt x="31" y="47"/>
                  </a:lnTo>
                  <a:lnTo>
                    <a:pt x="31" y="50"/>
                  </a:lnTo>
                  <a:lnTo>
                    <a:pt x="41" y="50"/>
                  </a:lnTo>
                  <a:lnTo>
                    <a:pt x="29" y="21"/>
                  </a:lnTo>
                  <a:lnTo>
                    <a:pt x="21" y="16"/>
                  </a:lnTo>
                  <a:lnTo>
                    <a:pt x="27" y="4"/>
                  </a:lnTo>
                  <a:lnTo>
                    <a:pt x="20" y="0"/>
                  </a:lnTo>
                  <a:lnTo>
                    <a:pt x="13" y="13"/>
                  </a:lnTo>
                  <a:lnTo>
                    <a:pt x="1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Freeform 273"/>
            <p:cNvSpPr>
              <a:spLocks/>
            </p:cNvSpPr>
            <p:nvPr/>
          </p:nvSpPr>
          <p:spPr bwMode="auto">
            <a:xfrm>
              <a:off x="523" y="414"/>
              <a:ext cx="17" cy="24"/>
            </a:xfrm>
            <a:custGeom>
              <a:avLst/>
              <a:gdLst>
                <a:gd name="T0" fmla="*/ 10 w 17"/>
                <a:gd name="T1" fmla="*/ 0 h 24"/>
                <a:gd name="T2" fmla="*/ 0 w 17"/>
                <a:gd name="T3" fmla="*/ 16 h 24"/>
                <a:gd name="T4" fmla="*/ 3 w 17"/>
                <a:gd name="T5" fmla="*/ 24 h 24"/>
                <a:gd name="T6" fmla="*/ 16 w 17"/>
                <a:gd name="T7" fmla="*/ 11 h 24"/>
                <a:gd name="T8" fmla="*/ 17 w 17"/>
                <a:gd name="T9" fmla="*/ 1 h 24"/>
                <a:gd name="T10" fmla="*/ 10 w 17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24"/>
                <a:gd name="T20" fmla="*/ 17 w 17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24">
                  <a:moveTo>
                    <a:pt x="10" y="0"/>
                  </a:moveTo>
                  <a:lnTo>
                    <a:pt x="0" y="16"/>
                  </a:lnTo>
                  <a:lnTo>
                    <a:pt x="3" y="24"/>
                  </a:lnTo>
                  <a:lnTo>
                    <a:pt x="16" y="11"/>
                  </a:lnTo>
                  <a:lnTo>
                    <a:pt x="17" y="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Freeform 274"/>
            <p:cNvSpPr>
              <a:spLocks/>
            </p:cNvSpPr>
            <p:nvPr/>
          </p:nvSpPr>
          <p:spPr bwMode="auto">
            <a:xfrm>
              <a:off x="500" y="431"/>
              <a:ext cx="21" cy="31"/>
            </a:xfrm>
            <a:custGeom>
              <a:avLst/>
              <a:gdLst>
                <a:gd name="T0" fmla="*/ 18 w 21"/>
                <a:gd name="T1" fmla="*/ 4 h 31"/>
                <a:gd name="T2" fmla="*/ 21 w 21"/>
                <a:gd name="T3" fmla="*/ 10 h 31"/>
                <a:gd name="T4" fmla="*/ 7 w 21"/>
                <a:gd name="T5" fmla="*/ 16 h 31"/>
                <a:gd name="T6" fmla="*/ 14 w 21"/>
                <a:gd name="T7" fmla="*/ 29 h 31"/>
                <a:gd name="T8" fmla="*/ 8 w 21"/>
                <a:gd name="T9" fmla="*/ 31 h 31"/>
                <a:gd name="T10" fmla="*/ 0 w 21"/>
                <a:gd name="T11" fmla="*/ 31 h 31"/>
                <a:gd name="T12" fmla="*/ 1 w 21"/>
                <a:gd name="T13" fmla="*/ 6 h 31"/>
                <a:gd name="T14" fmla="*/ 4 w 21"/>
                <a:gd name="T15" fmla="*/ 4 h 31"/>
                <a:gd name="T16" fmla="*/ 4 w 21"/>
                <a:gd name="T17" fmla="*/ 2 h 31"/>
                <a:gd name="T18" fmla="*/ 8 w 21"/>
                <a:gd name="T19" fmla="*/ 0 h 31"/>
                <a:gd name="T20" fmla="*/ 7 w 21"/>
                <a:gd name="T21" fmla="*/ 10 h 31"/>
                <a:gd name="T22" fmla="*/ 18 w 21"/>
                <a:gd name="T23" fmla="*/ 4 h 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1"/>
                <a:gd name="T37" fmla="*/ 0 h 31"/>
                <a:gd name="T38" fmla="*/ 21 w 21"/>
                <a:gd name="T39" fmla="*/ 31 h 3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1" h="31">
                  <a:moveTo>
                    <a:pt x="18" y="4"/>
                  </a:moveTo>
                  <a:lnTo>
                    <a:pt x="21" y="10"/>
                  </a:lnTo>
                  <a:lnTo>
                    <a:pt x="7" y="16"/>
                  </a:lnTo>
                  <a:lnTo>
                    <a:pt x="14" y="29"/>
                  </a:lnTo>
                  <a:lnTo>
                    <a:pt x="8" y="31"/>
                  </a:lnTo>
                  <a:lnTo>
                    <a:pt x="0" y="31"/>
                  </a:lnTo>
                  <a:lnTo>
                    <a:pt x="1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8" y="0"/>
                  </a:lnTo>
                  <a:lnTo>
                    <a:pt x="7" y="10"/>
                  </a:lnTo>
                  <a:lnTo>
                    <a:pt x="18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275"/>
            <p:cNvSpPr>
              <a:spLocks/>
            </p:cNvSpPr>
            <p:nvPr/>
          </p:nvSpPr>
          <p:spPr bwMode="auto">
            <a:xfrm>
              <a:off x="458" y="409"/>
              <a:ext cx="37" cy="39"/>
            </a:xfrm>
            <a:custGeom>
              <a:avLst/>
              <a:gdLst>
                <a:gd name="T0" fmla="*/ 2 w 37"/>
                <a:gd name="T1" fmla="*/ 0 h 39"/>
                <a:gd name="T2" fmla="*/ 10 w 37"/>
                <a:gd name="T3" fmla="*/ 0 h 39"/>
                <a:gd name="T4" fmla="*/ 13 w 37"/>
                <a:gd name="T5" fmla="*/ 15 h 39"/>
                <a:gd name="T6" fmla="*/ 26 w 37"/>
                <a:gd name="T7" fmla="*/ 28 h 39"/>
                <a:gd name="T8" fmla="*/ 37 w 37"/>
                <a:gd name="T9" fmla="*/ 33 h 39"/>
                <a:gd name="T10" fmla="*/ 37 w 37"/>
                <a:gd name="T11" fmla="*/ 39 h 39"/>
                <a:gd name="T12" fmla="*/ 12 w 37"/>
                <a:gd name="T13" fmla="*/ 32 h 39"/>
                <a:gd name="T14" fmla="*/ 0 w 37"/>
                <a:gd name="T15" fmla="*/ 0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"/>
                <a:gd name="T25" fmla="*/ 0 h 39"/>
                <a:gd name="T26" fmla="*/ 37 w 37"/>
                <a:gd name="T27" fmla="*/ 39 h 3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" h="39">
                  <a:moveTo>
                    <a:pt x="2" y="0"/>
                  </a:moveTo>
                  <a:lnTo>
                    <a:pt x="10" y="0"/>
                  </a:lnTo>
                  <a:lnTo>
                    <a:pt x="13" y="15"/>
                  </a:lnTo>
                  <a:lnTo>
                    <a:pt x="26" y="28"/>
                  </a:lnTo>
                  <a:lnTo>
                    <a:pt x="37" y="33"/>
                  </a:lnTo>
                  <a:lnTo>
                    <a:pt x="37" y="39"/>
                  </a:lnTo>
                  <a:lnTo>
                    <a:pt x="12" y="32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Freeform 276"/>
            <p:cNvSpPr>
              <a:spLocks/>
            </p:cNvSpPr>
            <p:nvPr/>
          </p:nvSpPr>
          <p:spPr bwMode="auto">
            <a:xfrm>
              <a:off x="459" y="378"/>
              <a:ext cx="19" cy="26"/>
            </a:xfrm>
            <a:custGeom>
              <a:avLst/>
              <a:gdLst>
                <a:gd name="T0" fmla="*/ 14 w 19"/>
                <a:gd name="T1" fmla="*/ 0 h 26"/>
                <a:gd name="T2" fmla="*/ 19 w 19"/>
                <a:gd name="T3" fmla="*/ 7 h 26"/>
                <a:gd name="T4" fmla="*/ 5 w 19"/>
                <a:gd name="T5" fmla="*/ 26 h 26"/>
                <a:gd name="T6" fmla="*/ 0 w 19"/>
                <a:gd name="T7" fmla="*/ 24 h 26"/>
                <a:gd name="T8" fmla="*/ 9 w 19"/>
                <a:gd name="T9" fmla="*/ 3 h 26"/>
                <a:gd name="T10" fmla="*/ 14 w 19"/>
                <a:gd name="T11" fmla="*/ 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"/>
                <a:gd name="T19" fmla="*/ 0 h 26"/>
                <a:gd name="T20" fmla="*/ 19 w 19"/>
                <a:gd name="T21" fmla="*/ 26 h 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" h="26">
                  <a:moveTo>
                    <a:pt x="14" y="0"/>
                  </a:moveTo>
                  <a:lnTo>
                    <a:pt x="19" y="7"/>
                  </a:lnTo>
                  <a:lnTo>
                    <a:pt x="5" y="26"/>
                  </a:lnTo>
                  <a:lnTo>
                    <a:pt x="0" y="24"/>
                  </a:lnTo>
                  <a:lnTo>
                    <a:pt x="9" y="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Freeform 277"/>
            <p:cNvSpPr>
              <a:spLocks/>
            </p:cNvSpPr>
            <p:nvPr/>
          </p:nvSpPr>
          <p:spPr bwMode="auto">
            <a:xfrm>
              <a:off x="479" y="370"/>
              <a:ext cx="21" cy="11"/>
            </a:xfrm>
            <a:custGeom>
              <a:avLst/>
              <a:gdLst>
                <a:gd name="T0" fmla="*/ 0 w 21"/>
                <a:gd name="T1" fmla="*/ 4 h 11"/>
                <a:gd name="T2" fmla="*/ 5 w 21"/>
                <a:gd name="T3" fmla="*/ 11 h 11"/>
                <a:gd name="T4" fmla="*/ 14 w 21"/>
                <a:gd name="T5" fmla="*/ 5 h 11"/>
                <a:gd name="T6" fmla="*/ 20 w 21"/>
                <a:gd name="T7" fmla="*/ 5 h 11"/>
                <a:gd name="T8" fmla="*/ 21 w 21"/>
                <a:gd name="T9" fmla="*/ 0 h 11"/>
                <a:gd name="T10" fmla="*/ 12 w 21"/>
                <a:gd name="T11" fmla="*/ 0 h 11"/>
                <a:gd name="T12" fmla="*/ 0 w 21"/>
                <a:gd name="T13" fmla="*/ 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"/>
                <a:gd name="T22" fmla="*/ 0 h 11"/>
                <a:gd name="T23" fmla="*/ 21 w 21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" h="11">
                  <a:moveTo>
                    <a:pt x="0" y="4"/>
                  </a:moveTo>
                  <a:lnTo>
                    <a:pt x="5" y="11"/>
                  </a:lnTo>
                  <a:lnTo>
                    <a:pt x="14" y="5"/>
                  </a:lnTo>
                  <a:lnTo>
                    <a:pt x="20" y="5"/>
                  </a:lnTo>
                  <a:lnTo>
                    <a:pt x="21" y="0"/>
                  </a:lnTo>
                  <a:lnTo>
                    <a:pt x="12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Freeform 278"/>
            <p:cNvSpPr>
              <a:spLocks/>
            </p:cNvSpPr>
            <p:nvPr/>
          </p:nvSpPr>
          <p:spPr bwMode="auto">
            <a:xfrm>
              <a:off x="502" y="463"/>
              <a:ext cx="6" cy="32"/>
            </a:xfrm>
            <a:custGeom>
              <a:avLst/>
              <a:gdLst>
                <a:gd name="T0" fmla="*/ 0 w 6"/>
                <a:gd name="T1" fmla="*/ 31 h 32"/>
                <a:gd name="T2" fmla="*/ 0 w 6"/>
                <a:gd name="T3" fmla="*/ 0 h 32"/>
                <a:gd name="T4" fmla="*/ 5 w 6"/>
                <a:gd name="T5" fmla="*/ 0 h 32"/>
                <a:gd name="T6" fmla="*/ 6 w 6"/>
                <a:gd name="T7" fmla="*/ 32 h 32"/>
                <a:gd name="T8" fmla="*/ 0 w 6"/>
                <a:gd name="T9" fmla="*/ 3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"/>
                <a:gd name="T16" fmla="*/ 0 h 32"/>
                <a:gd name="T17" fmla="*/ 6 w 6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" h="32">
                  <a:moveTo>
                    <a:pt x="0" y="3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6" y="32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Freeform 279"/>
            <p:cNvSpPr>
              <a:spLocks/>
            </p:cNvSpPr>
            <p:nvPr/>
          </p:nvSpPr>
          <p:spPr bwMode="auto">
            <a:xfrm>
              <a:off x="483" y="458"/>
              <a:ext cx="16" cy="4"/>
            </a:xfrm>
            <a:custGeom>
              <a:avLst/>
              <a:gdLst>
                <a:gd name="T0" fmla="*/ 0 w 16"/>
                <a:gd name="T1" fmla="*/ 0 h 4"/>
                <a:gd name="T2" fmla="*/ 3 w 16"/>
                <a:gd name="T3" fmla="*/ 2 h 4"/>
                <a:gd name="T4" fmla="*/ 9 w 16"/>
                <a:gd name="T5" fmla="*/ 3 h 4"/>
                <a:gd name="T6" fmla="*/ 16 w 16"/>
                <a:gd name="T7" fmla="*/ 4 h 4"/>
                <a:gd name="T8" fmla="*/ 16 w 16"/>
                <a:gd name="T9" fmla="*/ 1 h 4"/>
                <a:gd name="T10" fmla="*/ 9 w 16"/>
                <a:gd name="T11" fmla="*/ 1 h 4"/>
                <a:gd name="T12" fmla="*/ 0 w 1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"/>
                <a:gd name="T22" fmla="*/ 0 h 4"/>
                <a:gd name="T23" fmla="*/ 16 w 1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" h="4">
                  <a:moveTo>
                    <a:pt x="0" y="0"/>
                  </a:moveTo>
                  <a:lnTo>
                    <a:pt x="3" y="2"/>
                  </a:lnTo>
                  <a:lnTo>
                    <a:pt x="9" y="3"/>
                  </a:lnTo>
                  <a:lnTo>
                    <a:pt x="16" y="4"/>
                  </a:lnTo>
                  <a:lnTo>
                    <a:pt x="16" y="1"/>
                  </a:lnTo>
                  <a:lnTo>
                    <a:pt x="9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Freeform 280"/>
            <p:cNvSpPr>
              <a:spLocks/>
            </p:cNvSpPr>
            <p:nvPr/>
          </p:nvSpPr>
          <p:spPr bwMode="auto">
            <a:xfrm>
              <a:off x="525" y="458"/>
              <a:ext cx="14" cy="5"/>
            </a:xfrm>
            <a:custGeom>
              <a:avLst/>
              <a:gdLst>
                <a:gd name="T0" fmla="*/ 14 w 14"/>
                <a:gd name="T1" fmla="*/ 5 h 5"/>
                <a:gd name="T2" fmla="*/ 11 w 14"/>
                <a:gd name="T3" fmla="*/ 0 h 5"/>
                <a:gd name="T4" fmla="*/ 0 w 14"/>
                <a:gd name="T5" fmla="*/ 0 h 5"/>
                <a:gd name="T6" fmla="*/ 1 w 14"/>
                <a:gd name="T7" fmla="*/ 5 h 5"/>
                <a:gd name="T8" fmla="*/ 14 w 14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"/>
                <a:gd name="T16" fmla="*/ 0 h 5"/>
                <a:gd name="T17" fmla="*/ 14 w 14"/>
                <a:gd name="T18" fmla="*/ 5 h 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" h="5">
                  <a:moveTo>
                    <a:pt x="14" y="5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Freeform 281"/>
            <p:cNvSpPr>
              <a:spLocks/>
            </p:cNvSpPr>
            <p:nvPr/>
          </p:nvSpPr>
          <p:spPr bwMode="auto">
            <a:xfrm>
              <a:off x="527" y="320"/>
              <a:ext cx="27" cy="38"/>
            </a:xfrm>
            <a:custGeom>
              <a:avLst/>
              <a:gdLst>
                <a:gd name="T0" fmla="*/ 0 w 27"/>
                <a:gd name="T1" fmla="*/ 34 h 38"/>
                <a:gd name="T2" fmla="*/ 7 w 27"/>
                <a:gd name="T3" fmla="*/ 38 h 38"/>
                <a:gd name="T4" fmla="*/ 27 w 27"/>
                <a:gd name="T5" fmla="*/ 4 h 38"/>
                <a:gd name="T6" fmla="*/ 22 w 27"/>
                <a:gd name="T7" fmla="*/ 0 h 38"/>
                <a:gd name="T8" fmla="*/ 0 w 27"/>
                <a:gd name="T9" fmla="*/ 34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"/>
                <a:gd name="T16" fmla="*/ 0 h 38"/>
                <a:gd name="T17" fmla="*/ 27 w 27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" h="38">
                  <a:moveTo>
                    <a:pt x="0" y="34"/>
                  </a:moveTo>
                  <a:lnTo>
                    <a:pt x="7" y="38"/>
                  </a:lnTo>
                  <a:lnTo>
                    <a:pt x="27" y="4"/>
                  </a:lnTo>
                  <a:lnTo>
                    <a:pt x="22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282"/>
            <p:cNvSpPr>
              <a:spLocks/>
            </p:cNvSpPr>
            <p:nvPr/>
          </p:nvSpPr>
          <p:spPr bwMode="auto">
            <a:xfrm>
              <a:off x="549" y="265"/>
              <a:ext cx="223" cy="56"/>
            </a:xfrm>
            <a:custGeom>
              <a:avLst/>
              <a:gdLst>
                <a:gd name="T0" fmla="*/ 8 w 223"/>
                <a:gd name="T1" fmla="*/ 56 h 56"/>
                <a:gd name="T2" fmla="*/ 0 w 223"/>
                <a:gd name="T3" fmla="*/ 54 h 56"/>
                <a:gd name="T4" fmla="*/ 28 w 223"/>
                <a:gd name="T5" fmla="*/ 0 h 56"/>
                <a:gd name="T6" fmla="*/ 217 w 223"/>
                <a:gd name="T7" fmla="*/ 1 h 56"/>
                <a:gd name="T8" fmla="*/ 223 w 223"/>
                <a:gd name="T9" fmla="*/ 45 h 56"/>
                <a:gd name="T10" fmla="*/ 33 w 223"/>
                <a:gd name="T11" fmla="*/ 42 h 56"/>
                <a:gd name="T12" fmla="*/ 26 w 223"/>
                <a:gd name="T13" fmla="*/ 30 h 56"/>
                <a:gd name="T14" fmla="*/ 8 w 223"/>
                <a:gd name="T15" fmla="*/ 56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3"/>
                <a:gd name="T25" fmla="*/ 0 h 56"/>
                <a:gd name="T26" fmla="*/ 223 w 223"/>
                <a:gd name="T27" fmla="*/ 56 h 5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3" h="56">
                  <a:moveTo>
                    <a:pt x="8" y="56"/>
                  </a:moveTo>
                  <a:lnTo>
                    <a:pt x="0" y="54"/>
                  </a:lnTo>
                  <a:lnTo>
                    <a:pt x="28" y="0"/>
                  </a:lnTo>
                  <a:lnTo>
                    <a:pt x="217" y="1"/>
                  </a:lnTo>
                  <a:lnTo>
                    <a:pt x="223" y="45"/>
                  </a:lnTo>
                  <a:lnTo>
                    <a:pt x="33" y="42"/>
                  </a:lnTo>
                  <a:lnTo>
                    <a:pt x="26" y="30"/>
                  </a:lnTo>
                  <a:lnTo>
                    <a:pt x="8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Freeform 283"/>
            <p:cNvSpPr>
              <a:spLocks/>
            </p:cNvSpPr>
            <p:nvPr/>
          </p:nvSpPr>
          <p:spPr bwMode="auto">
            <a:xfrm>
              <a:off x="61" y="391"/>
              <a:ext cx="93" cy="34"/>
            </a:xfrm>
            <a:custGeom>
              <a:avLst/>
              <a:gdLst>
                <a:gd name="T0" fmla="*/ 0 w 93"/>
                <a:gd name="T1" fmla="*/ 0 h 34"/>
                <a:gd name="T2" fmla="*/ 93 w 93"/>
                <a:gd name="T3" fmla="*/ 0 h 34"/>
                <a:gd name="T4" fmla="*/ 93 w 93"/>
                <a:gd name="T5" fmla="*/ 34 h 34"/>
                <a:gd name="T6" fmla="*/ 0 w 93"/>
                <a:gd name="T7" fmla="*/ 34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34"/>
                <a:gd name="T14" fmla="*/ 93 w 93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34">
                  <a:moveTo>
                    <a:pt x="0" y="0"/>
                  </a:moveTo>
                  <a:lnTo>
                    <a:pt x="93" y="0"/>
                  </a:lnTo>
                  <a:lnTo>
                    <a:pt x="93" y="34"/>
                  </a:lnTo>
                  <a:lnTo>
                    <a:pt x="0" y="34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AutoShape 284"/>
            <p:cNvSpPr>
              <a:spLocks noChangeArrowheads="1"/>
            </p:cNvSpPr>
            <p:nvPr/>
          </p:nvSpPr>
          <p:spPr bwMode="auto">
            <a:xfrm rot="5400000">
              <a:off x="143" y="402"/>
              <a:ext cx="34" cy="11"/>
            </a:xfrm>
            <a:prstGeom prst="triangle">
              <a:avLst>
                <a:gd name="adj" fmla="val 50000"/>
              </a:avLst>
            </a:prstGeom>
            <a:noFill/>
            <a:ln w="9525" algn="ctr">
              <a:solidFill>
                <a:srgbClr val="00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Freeform 285"/>
            <p:cNvSpPr>
              <a:spLocks/>
            </p:cNvSpPr>
            <p:nvPr/>
          </p:nvSpPr>
          <p:spPr bwMode="auto">
            <a:xfrm>
              <a:off x="61" y="388"/>
              <a:ext cx="93" cy="40"/>
            </a:xfrm>
            <a:custGeom>
              <a:avLst/>
              <a:gdLst>
                <a:gd name="T0" fmla="*/ 0 w 93"/>
                <a:gd name="T1" fmla="*/ 0 h 34"/>
                <a:gd name="T2" fmla="*/ 93 w 93"/>
                <a:gd name="T3" fmla="*/ 0 h 34"/>
                <a:gd name="T4" fmla="*/ 93 w 93"/>
                <a:gd name="T5" fmla="*/ 871 h 34"/>
                <a:gd name="T6" fmla="*/ 0 w 93"/>
                <a:gd name="T7" fmla="*/ 871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34"/>
                <a:gd name="T14" fmla="*/ 93 w 93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34">
                  <a:moveTo>
                    <a:pt x="0" y="0"/>
                  </a:moveTo>
                  <a:lnTo>
                    <a:pt x="93" y="0"/>
                  </a:lnTo>
                  <a:lnTo>
                    <a:pt x="93" y="34"/>
                  </a:lnTo>
                  <a:lnTo>
                    <a:pt x="0" y="34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Freeform 286"/>
            <p:cNvSpPr>
              <a:spLocks/>
            </p:cNvSpPr>
            <p:nvPr/>
          </p:nvSpPr>
          <p:spPr bwMode="auto">
            <a:xfrm>
              <a:off x="60" y="109"/>
              <a:ext cx="104" cy="34"/>
            </a:xfrm>
            <a:custGeom>
              <a:avLst/>
              <a:gdLst>
                <a:gd name="T0" fmla="*/ 0 w 104"/>
                <a:gd name="T1" fmla="*/ 0 h 34"/>
                <a:gd name="T2" fmla="*/ 93 w 104"/>
                <a:gd name="T3" fmla="*/ 0 h 34"/>
                <a:gd name="T4" fmla="*/ 104 w 104"/>
                <a:gd name="T5" fmla="*/ 18 h 34"/>
                <a:gd name="T6" fmla="*/ 92 w 104"/>
                <a:gd name="T7" fmla="*/ 34 h 34"/>
                <a:gd name="T8" fmla="*/ 0 w 104"/>
                <a:gd name="T9" fmla="*/ 33 h 34"/>
                <a:gd name="T10" fmla="*/ 0 w 104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"/>
                <a:gd name="T19" fmla="*/ 0 h 34"/>
                <a:gd name="T20" fmla="*/ 104 w 104"/>
                <a:gd name="T21" fmla="*/ 34 h 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" h="34">
                  <a:moveTo>
                    <a:pt x="0" y="0"/>
                  </a:moveTo>
                  <a:lnTo>
                    <a:pt x="93" y="0"/>
                  </a:lnTo>
                  <a:lnTo>
                    <a:pt x="104" y="18"/>
                  </a:lnTo>
                  <a:lnTo>
                    <a:pt x="92" y="34"/>
                  </a:lnTo>
                  <a:lnTo>
                    <a:pt x="0" y="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Freeform 287"/>
            <p:cNvSpPr>
              <a:spLocks/>
            </p:cNvSpPr>
            <p:nvPr/>
          </p:nvSpPr>
          <p:spPr bwMode="auto">
            <a:xfrm>
              <a:off x="60" y="106"/>
              <a:ext cx="93" cy="40"/>
            </a:xfrm>
            <a:custGeom>
              <a:avLst/>
              <a:gdLst>
                <a:gd name="T0" fmla="*/ 0 w 93"/>
                <a:gd name="T1" fmla="*/ 0 h 34"/>
                <a:gd name="T2" fmla="*/ 93 w 93"/>
                <a:gd name="T3" fmla="*/ 0 h 34"/>
                <a:gd name="T4" fmla="*/ 93 w 93"/>
                <a:gd name="T5" fmla="*/ 871 h 34"/>
                <a:gd name="T6" fmla="*/ 0 w 93"/>
                <a:gd name="T7" fmla="*/ 871 h 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34"/>
                <a:gd name="T14" fmla="*/ 93 w 93"/>
                <a:gd name="T15" fmla="*/ 34 h 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34">
                  <a:moveTo>
                    <a:pt x="0" y="0"/>
                  </a:moveTo>
                  <a:lnTo>
                    <a:pt x="93" y="0"/>
                  </a:lnTo>
                  <a:lnTo>
                    <a:pt x="93" y="34"/>
                  </a:lnTo>
                  <a:lnTo>
                    <a:pt x="0" y="34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Line 288"/>
            <p:cNvSpPr>
              <a:spLocks noChangeShapeType="1"/>
            </p:cNvSpPr>
            <p:nvPr/>
          </p:nvSpPr>
          <p:spPr bwMode="auto">
            <a:xfrm>
              <a:off x="51" y="126"/>
              <a:ext cx="249" cy="0"/>
            </a:xfrm>
            <a:prstGeom prst="line">
              <a:avLst/>
            </a:prstGeom>
            <a:noFill/>
            <a:ln w="19050">
              <a:solidFill>
                <a:srgbClr val="CC99FF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Line 289"/>
            <p:cNvSpPr>
              <a:spLocks noChangeShapeType="1"/>
            </p:cNvSpPr>
            <p:nvPr/>
          </p:nvSpPr>
          <p:spPr bwMode="auto">
            <a:xfrm flipH="1">
              <a:off x="521" y="278"/>
              <a:ext cx="105" cy="112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 type="none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Line 290"/>
            <p:cNvSpPr>
              <a:spLocks noChangeShapeType="1"/>
            </p:cNvSpPr>
            <p:nvPr/>
          </p:nvSpPr>
          <p:spPr bwMode="auto">
            <a:xfrm>
              <a:off x="626" y="278"/>
              <a:ext cx="26" cy="0"/>
            </a:xfrm>
            <a:prstGeom prst="line">
              <a:avLst/>
            </a:prstGeom>
            <a:noFill/>
            <a:ln w="9525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Text Box 291"/>
            <p:cNvSpPr txBox="1">
              <a:spLocks noChangeArrowheads="1"/>
            </p:cNvSpPr>
            <p:nvPr/>
          </p:nvSpPr>
          <p:spPr bwMode="auto">
            <a:xfrm>
              <a:off x="655" y="267"/>
              <a:ext cx="85" cy="52"/>
            </a:xfrm>
            <a:prstGeom prst="rect">
              <a:avLst/>
            </a:prstGeom>
            <a:solidFill>
              <a:srgbClr val="FFFFF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lIns="18288" tIns="22860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M 16 TAP </a:t>
              </a:r>
            </a:p>
            <a:p>
              <a:pPr algn="l" rtl="0">
                <a:defRPr sz="1000"/>
              </a:pPr>
              <a:r>
                <a:rPr lang="en-US" sz="800" b="0" i="0" u="none" strike="noStrike" baseline="0" dirty="0">
                  <a:solidFill>
                    <a:srgbClr val="FFCC00"/>
                  </a:solidFill>
                  <a:latin typeface="Arial"/>
                  <a:cs typeface="Arial"/>
                </a:rPr>
                <a:t>30mm DP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868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539705" y="6356348"/>
            <a:ext cx="2743200" cy="365125"/>
          </a:xfrm>
        </p:spPr>
        <p:txBody>
          <a:bodyPr/>
          <a:lstStyle/>
          <a:p>
            <a:fld id="{391A32E0-1075-4409-884C-6FCA71D173B5}" type="slidenum">
              <a:rPr lang="es-MX" smtClean="0"/>
              <a:t>6</a:t>
            </a:fld>
            <a:endParaRPr lang="es-MX" dirty="0"/>
          </a:p>
        </p:txBody>
      </p:sp>
      <p:sp>
        <p:nvSpPr>
          <p:cNvPr id="11" name="CuadroTexto 10"/>
          <p:cNvSpPr txBox="1"/>
          <p:nvPr/>
        </p:nvSpPr>
        <p:spPr>
          <a:xfrm>
            <a:off x="914400" y="1913033"/>
            <a:ext cx="2034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solidFill>
                  <a:srgbClr val="FF0000"/>
                </a:solidFill>
              </a:rPr>
              <a:t>PR</a:t>
            </a:r>
            <a:r>
              <a:rPr lang="es-MX" b="1" dirty="0"/>
              <a:t> HOT STAMPING </a:t>
            </a:r>
          </a:p>
        </p:txBody>
      </p:sp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453992"/>
              </p:ext>
            </p:extLst>
          </p:nvPr>
        </p:nvGraphicFramePr>
        <p:xfrm>
          <a:off x="189785" y="47782"/>
          <a:ext cx="1159945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232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706867"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Make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Model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Bolster Size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Tonnage (metric)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Press Frame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Drive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SPM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Clamp Slot Pitch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Max. Shut Height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Min. Shut Height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Preferred Shut Height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Slide Stroke-(mm)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Bolster Capacity (kg)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Max Upper Die Weight (kg) </a:t>
                      </a:r>
                      <a:r>
                        <a:rPr lang="de-DE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Auto Camps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Rolling Bolster Window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1" i="1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Furnace Layout </a:t>
                      </a:r>
                      <a:r>
                        <a:rPr lang="en-US" sz="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24"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WIA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1200 T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3000mm x 2250mm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1200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Mono block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Hydraulic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 SPM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152.4mm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2200mm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1000mm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1200mm</a:t>
                      </a: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1200mm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30,000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15,000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Positions 0/3/6/-3/-6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2300mm x 2650mm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900" b="1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Double </a:t>
                      </a:r>
                    </a:p>
                    <a:p>
                      <a:r>
                        <a:rPr lang="en-US" sz="9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Roller Hearth 	</a:t>
                      </a:r>
                    </a:p>
                    <a:p>
                      <a:endParaRPr lang="en-US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" name="Grupo 17"/>
          <p:cNvGrpSpPr/>
          <p:nvPr/>
        </p:nvGrpSpPr>
        <p:grpSpPr>
          <a:xfrm>
            <a:off x="3027976" y="2320827"/>
            <a:ext cx="8656806" cy="3168538"/>
            <a:chOff x="487194" y="1672438"/>
            <a:chExt cx="11217612" cy="3513124"/>
          </a:xfrm>
        </p:grpSpPr>
        <p:pic>
          <p:nvPicPr>
            <p:cNvPr id="6" name="Imagen 5" descr="Recorte de pantalla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7194" y="1672438"/>
              <a:ext cx="11217612" cy="3513124"/>
            </a:xfrm>
            <a:prstGeom prst="rect">
              <a:avLst/>
            </a:prstGeom>
          </p:spPr>
        </p:pic>
        <p:pic>
          <p:nvPicPr>
            <p:cNvPr id="8" name="Imagen 7" descr="Recorte de pantalla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14999" y="4152810"/>
              <a:ext cx="2290291" cy="639777"/>
            </a:xfrm>
            <a:prstGeom prst="rect">
              <a:avLst/>
            </a:prstGeom>
          </p:spPr>
        </p:pic>
        <p:cxnSp>
          <p:nvCxnSpPr>
            <p:cNvPr id="16" name="Conector recto de flecha 15"/>
            <p:cNvCxnSpPr>
              <a:cxnSpLocks/>
            </p:cNvCxnSpPr>
            <p:nvPr/>
          </p:nvCxnSpPr>
          <p:spPr>
            <a:xfrm>
              <a:off x="3171008" y="2559498"/>
              <a:ext cx="1022019" cy="184011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CuadroTexto 8"/>
          <p:cNvSpPr txBox="1"/>
          <p:nvPr/>
        </p:nvSpPr>
        <p:spPr>
          <a:xfrm>
            <a:off x="0" y="1805312"/>
            <a:ext cx="850459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HS</a:t>
            </a:r>
          </a:p>
        </p:txBody>
      </p:sp>
      <p:sp>
        <p:nvSpPr>
          <p:cNvPr id="5" name="Rectángulo 4"/>
          <p:cNvSpPr/>
          <p:nvPr/>
        </p:nvSpPr>
        <p:spPr>
          <a:xfrm>
            <a:off x="12086658" y="0"/>
            <a:ext cx="105342" cy="6858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4152076" y="2689992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MX" sz="1100" b="1" dirty="0"/>
              <a:t>Common </a:t>
            </a:r>
            <a:r>
              <a:rPr lang="en-US" sz="1100" b="1" dirty="0"/>
              <a:t>Shut</a:t>
            </a:r>
            <a:r>
              <a:rPr lang="es-MX" sz="1100" b="1" dirty="0"/>
              <a:t> </a:t>
            </a:r>
            <a:r>
              <a:rPr lang="en-US" sz="1100" b="1" dirty="0"/>
              <a:t>Height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130221"/>
              </p:ext>
            </p:extLst>
          </p:nvPr>
        </p:nvGraphicFramePr>
        <p:xfrm>
          <a:off x="0" y="242697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43" name="Acrobat Document" showAsIcon="1" r:id="rId5" imgW="914400" imgH="792360" progId="AcroExch.Document.DC">
                  <p:embed/>
                </p:oleObj>
              </mc:Choice>
              <mc:Fallback>
                <p:oleObj name="Acrobat Document" showAsIcon="1" r:id="rId5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2426972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532058"/>
              </p:ext>
            </p:extLst>
          </p:nvPr>
        </p:nvGraphicFramePr>
        <p:xfrm>
          <a:off x="0" y="329692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44" name="Acrobat Document" showAsIcon="1" r:id="rId7" imgW="914400" imgH="792360" progId="AcroExch.Document.DC">
                  <p:embed/>
                </p:oleObj>
              </mc:Choice>
              <mc:Fallback>
                <p:oleObj name="Acrobat Document" showAsIcon="1" r:id="rId7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3296926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886580"/>
              </p:ext>
            </p:extLst>
          </p:nvPr>
        </p:nvGraphicFramePr>
        <p:xfrm>
          <a:off x="0" y="417727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45" name="Acrobat Document" showAsIcon="1" r:id="rId9" imgW="914400" imgH="792360" progId="AcroExch.Document.DC">
                  <p:embed/>
                </p:oleObj>
              </mc:Choice>
              <mc:Fallback>
                <p:oleObj name="Acrobat Document" showAsIcon="1" r:id="rId9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0" y="4177271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Imagen 19">
            <a:extLst>
              <a:ext uri="{FF2B5EF4-FFF2-40B4-BE49-F238E27FC236}">
                <a16:creationId xmlns:a16="http://schemas.microsoft.com/office/drawing/2014/main" id="{77803043-6D94-4FB4-AA04-97BA9C2FE9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6806" y="2320827"/>
            <a:ext cx="3012864" cy="227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1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388245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PR13,PR14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0" y="952244"/>
            <a:ext cx="1827900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Manual. 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5203297" y="1191269"/>
            <a:ext cx="5948458" cy="2787696"/>
            <a:chOff x="5186045" y="619737"/>
            <a:chExt cx="5948458" cy="2787696"/>
          </a:xfrm>
        </p:grpSpPr>
        <p:pic>
          <p:nvPicPr>
            <p:cNvPr id="7" name="Imagen 6" descr="Recorte de pantalla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86045" y="3079764"/>
              <a:ext cx="5948458" cy="327669"/>
            </a:xfrm>
            <a:prstGeom prst="rect">
              <a:avLst/>
            </a:prstGeom>
          </p:spPr>
        </p:pic>
        <p:pic>
          <p:nvPicPr>
            <p:cNvPr id="8" name="Imagen 7" descr="Recorte de pantalla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86045" y="619737"/>
              <a:ext cx="5948458" cy="624894"/>
            </a:xfrm>
            <a:prstGeom prst="rect">
              <a:avLst/>
            </a:prstGeom>
          </p:spPr>
        </p:pic>
        <p:pic>
          <p:nvPicPr>
            <p:cNvPr id="9" name="Imagen 8" descr="Recorte de pantalla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00801" y="1244631"/>
              <a:ext cx="3450566" cy="1910448"/>
            </a:xfrm>
            <a:prstGeom prst="rect">
              <a:avLst/>
            </a:prstGeom>
          </p:spPr>
        </p:pic>
      </p:grp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037534"/>
              </p:ext>
            </p:extLst>
          </p:nvPr>
        </p:nvGraphicFramePr>
        <p:xfrm>
          <a:off x="1218603" y="24019"/>
          <a:ext cx="107506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73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13/PR14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2743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Imagen 11" descr="Recorte de pantalla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879" y="3282586"/>
            <a:ext cx="3233860" cy="2186357"/>
          </a:xfrm>
          <a:prstGeom prst="rect">
            <a:avLst/>
          </a:prstGeom>
        </p:spPr>
      </p:pic>
      <p:cxnSp>
        <p:nvCxnSpPr>
          <p:cNvPr id="14" name="Conector recto 13"/>
          <p:cNvCxnSpPr/>
          <p:nvPr/>
        </p:nvCxnSpPr>
        <p:spPr>
          <a:xfrm>
            <a:off x="1153762" y="5532974"/>
            <a:ext cx="0" cy="8281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17"/>
          <p:cNvCxnSpPr/>
          <p:nvPr/>
        </p:nvCxnSpPr>
        <p:spPr>
          <a:xfrm>
            <a:off x="3134962" y="5532974"/>
            <a:ext cx="0" cy="8281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 flipV="1">
            <a:off x="2521538" y="6110944"/>
            <a:ext cx="613424" cy="30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/>
          <p:nvPr/>
        </p:nvCxnSpPr>
        <p:spPr>
          <a:xfrm flipH="1" flipV="1">
            <a:off x="1205521" y="6119570"/>
            <a:ext cx="587478" cy="9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uadroTexto 29"/>
          <p:cNvSpPr txBox="1"/>
          <p:nvPr/>
        </p:nvSpPr>
        <p:spPr>
          <a:xfrm>
            <a:off x="1574531" y="5991778"/>
            <a:ext cx="971741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sz="1400" dirty="0"/>
              <a:t>1676.4mm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1574531" y="6418721"/>
            <a:ext cx="16834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Distance</a:t>
            </a:r>
            <a:r>
              <a:rPr lang="es-MX" sz="1100" b="1" dirty="0"/>
              <a:t> </a:t>
            </a:r>
            <a:r>
              <a:rPr lang="en-US" sz="1100" b="1" dirty="0"/>
              <a:t>between</a:t>
            </a:r>
            <a:r>
              <a:rPr lang="es-MX" sz="1100" b="1" dirty="0"/>
              <a:t> </a:t>
            </a:r>
            <a:r>
              <a:rPr lang="en-US" sz="1100" b="1" dirty="0"/>
              <a:t>locator</a:t>
            </a:r>
            <a:endParaRPr lang="es-MX" sz="1100" b="1" dirty="0"/>
          </a:p>
        </p:txBody>
      </p:sp>
      <p:cxnSp>
        <p:nvCxnSpPr>
          <p:cNvPr id="33" name="Conector recto 32"/>
          <p:cNvCxnSpPr/>
          <p:nvPr/>
        </p:nvCxnSpPr>
        <p:spPr>
          <a:xfrm flipH="1">
            <a:off x="4306150" y="1816163"/>
            <a:ext cx="8971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34"/>
          <p:cNvCxnSpPr/>
          <p:nvPr/>
        </p:nvCxnSpPr>
        <p:spPr>
          <a:xfrm flipH="1">
            <a:off x="4441298" y="3661663"/>
            <a:ext cx="8971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/>
          <p:nvPr/>
        </p:nvCxnSpPr>
        <p:spPr>
          <a:xfrm>
            <a:off x="4889871" y="3088257"/>
            <a:ext cx="0" cy="483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 flipH="1" flipV="1">
            <a:off x="4876800" y="1984233"/>
            <a:ext cx="13071" cy="5464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4554747" y="2694228"/>
            <a:ext cx="8354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sz="1400" dirty="0"/>
              <a:t>1194mm</a:t>
            </a:r>
          </a:p>
        </p:txBody>
      </p:sp>
      <p:cxnSp>
        <p:nvCxnSpPr>
          <p:cNvPr id="44" name="Conector recto 43"/>
          <p:cNvCxnSpPr>
            <a:stCxn id="7" idx="2"/>
          </p:cNvCxnSpPr>
          <p:nvPr/>
        </p:nvCxnSpPr>
        <p:spPr>
          <a:xfrm>
            <a:off x="8177526" y="3978965"/>
            <a:ext cx="0" cy="5153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Conector recto 46"/>
          <p:cNvCxnSpPr/>
          <p:nvPr/>
        </p:nvCxnSpPr>
        <p:spPr>
          <a:xfrm>
            <a:off x="7846847" y="3978965"/>
            <a:ext cx="0" cy="5153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/>
          <p:nvPr/>
        </p:nvCxnSpPr>
        <p:spPr>
          <a:xfrm>
            <a:off x="7286130" y="4352056"/>
            <a:ext cx="5607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/>
          <p:nvPr/>
        </p:nvCxnSpPr>
        <p:spPr>
          <a:xfrm flipH="1">
            <a:off x="8177525" y="4346458"/>
            <a:ext cx="549530" cy="10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CuadroTexto 52"/>
          <p:cNvSpPr txBox="1"/>
          <p:nvPr/>
        </p:nvSpPr>
        <p:spPr>
          <a:xfrm>
            <a:off x="8764617" y="4236663"/>
            <a:ext cx="11386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152.4mm</a:t>
            </a:r>
          </a:p>
        </p:txBody>
      </p:sp>
      <p:cxnSp>
        <p:nvCxnSpPr>
          <p:cNvPr id="55" name="Conector recto 54"/>
          <p:cNvCxnSpPr/>
          <p:nvPr/>
        </p:nvCxnSpPr>
        <p:spPr>
          <a:xfrm>
            <a:off x="516800" y="2874008"/>
            <a:ext cx="0" cy="370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Conector recto 57"/>
          <p:cNvCxnSpPr/>
          <p:nvPr/>
        </p:nvCxnSpPr>
        <p:spPr>
          <a:xfrm>
            <a:off x="3749614" y="2848116"/>
            <a:ext cx="0" cy="3704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/>
          <p:nvPr/>
        </p:nvCxnSpPr>
        <p:spPr>
          <a:xfrm>
            <a:off x="2529801" y="3002005"/>
            <a:ext cx="10977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Conector recto de flecha 61"/>
          <p:cNvCxnSpPr/>
          <p:nvPr/>
        </p:nvCxnSpPr>
        <p:spPr>
          <a:xfrm flipH="1" flipV="1">
            <a:off x="662657" y="2984766"/>
            <a:ext cx="991424" cy="57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CuadroTexto 63"/>
          <p:cNvSpPr txBox="1"/>
          <p:nvPr/>
        </p:nvSpPr>
        <p:spPr>
          <a:xfrm>
            <a:off x="1623493" y="2780010"/>
            <a:ext cx="106905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2743.2mm</a:t>
            </a:r>
          </a:p>
        </p:txBody>
      </p:sp>
      <p:cxnSp>
        <p:nvCxnSpPr>
          <p:cNvPr id="66" name="Conector recto 65"/>
          <p:cNvCxnSpPr/>
          <p:nvPr/>
        </p:nvCxnSpPr>
        <p:spPr>
          <a:xfrm>
            <a:off x="3866205" y="3308465"/>
            <a:ext cx="57509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Conector recto 67"/>
          <p:cNvCxnSpPr/>
          <p:nvPr/>
        </p:nvCxnSpPr>
        <p:spPr>
          <a:xfrm>
            <a:off x="3866204" y="5453363"/>
            <a:ext cx="57509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Conector recto de flecha 69"/>
          <p:cNvCxnSpPr/>
          <p:nvPr/>
        </p:nvCxnSpPr>
        <p:spPr>
          <a:xfrm flipV="1">
            <a:off x="4044482" y="3434202"/>
            <a:ext cx="0" cy="697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Conector recto de flecha 71"/>
          <p:cNvCxnSpPr/>
          <p:nvPr/>
        </p:nvCxnSpPr>
        <p:spPr>
          <a:xfrm>
            <a:off x="4044482" y="4675517"/>
            <a:ext cx="0" cy="6814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CuadroTexto 75"/>
          <p:cNvSpPr txBox="1"/>
          <p:nvPr/>
        </p:nvSpPr>
        <p:spPr>
          <a:xfrm>
            <a:off x="3866204" y="4236663"/>
            <a:ext cx="12441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1828.8mm</a:t>
            </a:r>
          </a:p>
        </p:txBody>
      </p:sp>
      <p:sp>
        <p:nvSpPr>
          <p:cNvPr id="77" name="CuadroTexto 76"/>
          <p:cNvSpPr txBox="1"/>
          <p:nvPr/>
        </p:nvSpPr>
        <p:spPr>
          <a:xfrm>
            <a:off x="4889871" y="3042491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Common</a:t>
            </a:r>
            <a:r>
              <a:rPr lang="es-MX" sz="1100" b="1" dirty="0"/>
              <a:t> </a:t>
            </a:r>
            <a:r>
              <a:rPr lang="en-US" sz="1100" b="1" dirty="0"/>
              <a:t>Shut</a:t>
            </a:r>
            <a:r>
              <a:rPr lang="es-MX" sz="1100" b="1" dirty="0"/>
              <a:t> </a:t>
            </a:r>
            <a:r>
              <a:rPr lang="en-US" sz="1100" b="1" dirty="0"/>
              <a:t>Height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7406320" y="4724045"/>
            <a:ext cx="1707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Distance</a:t>
            </a:r>
            <a:r>
              <a:rPr lang="es-MX" sz="1100" b="1" dirty="0"/>
              <a:t> </a:t>
            </a:r>
            <a:r>
              <a:rPr lang="en-US" sz="1100" b="1" dirty="0"/>
              <a:t>between</a:t>
            </a:r>
            <a:r>
              <a:rPr lang="es-MX" sz="1100" b="1" dirty="0"/>
              <a:t> slots 6”</a:t>
            </a:r>
          </a:p>
        </p:txBody>
      </p:sp>
      <p:cxnSp>
        <p:nvCxnSpPr>
          <p:cNvPr id="80" name="Conector recto 79"/>
          <p:cNvCxnSpPr/>
          <p:nvPr/>
        </p:nvCxnSpPr>
        <p:spPr>
          <a:xfrm>
            <a:off x="146825" y="4983205"/>
            <a:ext cx="28859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Conector recto 81"/>
          <p:cNvCxnSpPr/>
          <p:nvPr/>
        </p:nvCxnSpPr>
        <p:spPr>
          <a:xfrm>
            <a:off x="116850" y="4375764"/>
            <a:ext cx="28859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Conector recto de flecha 83"/>
          <p:cNvCxnSpPr/>
          <p:nvPr/>
        </p:nvCxnSpPr>
        <p:spPr>
          <a:xfrm>
            <a:off x="291121" y="3881887"/>
            <a:ext cx="0" cy="450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Conector recto de flecha 85"/>
          <p:cNvCxnSpPr/>
          <p:nvPr/>
        </p:nvCxnSpPr>
        <p:spPr>
          <a:xfrm flipV="1">
            <a:off x="291121" y="4999887"/>
            <a:ext cx="0" cy="5649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CuadroTexto 89"/>
          <p:cNvSpPr txBox="1"/>
          <p:nvPr/>
        </p:nvSpPr>
        <p:spPr>
          <a:xfrm>
            <a:off x="80191" y="5564857"/>
            <a:ext cx="10791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533.4mm</a:t>
            </a:r>
          </a:p>
        </p:txBody>
      </p:sp>
      <p:sp>
        <p:nvSpPr>
          <p:cNvPr id="95" name="Marcador de número de diapositiva 9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7</a:t>
            </a:fld>
            <a:endParaRPr lang="es-MX" dirty="0"/>
          </a:p>
        </p:txBody>
      </p:sp>
      <p:sp>
        <p:nvSpPr>
          <p:cNvPr id="50" name="Rectángulo 49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6984" y="4724440"/>
            <a:ext cx="2555134" cy="1837400"/>
          </a:xfrm>
          <a:prstGeom prst="rect">
            <a:avLst/>
          </a:prstGeom>
        </p:spPr>
      </p:pic>
      <p:sp>
        <p:nvSpPr>
          <p:cNvPr id="15" name="Flecha izquierda 14"/>
          <p:cNvSpPr/>
          <p:nvPr/>
        </p:nvSpPr>
        <p:spPr>
          <a:xfrm>
            <a:off x="6181605" y="3845056"/>
            <a:ext cx="138188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sp>
        <p:nvSpPr>
          <p:cNvPr id="52" name="Rectángulo 51"/>
          <p:cNvSpPr/>
          <p:nvPr/>
        </p:nvSpPr>
        <p:spPr>
          <a:xfrm>
            <a:off x="2951665" y="989496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13" name="Obje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870066"/>
              </p:ext>
            </p:extLst>
          </p:nvPr>
        </p:nvGraphicFramePr>
        <p:xfrm>
          <a:off x="0" y="159805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9" name="Acrobat Document" showAsIcon="1" r:id="rId8" imgW="914400" imgH="792360" progId="AcroExch.Document.11">
                  <p:embed/>
                </p:oleObj>
              </mc:Choice>
              <mc:Fallback>
                <p:oleObj name="Acrobat Document" showAsIcon="1" r:id="rId8" imgW="914400" imgH="79236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59805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918805"/>
              </p:ext>
            </p:extLst>
          </p:nvPr>
        </p:nvGraphicFramePr>
        <p:xfrm>
          <a:off x="983789" y="159805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0" name="Acrobat Document" showAsIcon="1" r:id="rId10" imgW="914400" imgH="792360" progId="AcroExch.Document.11">
                  <p:embed/>
                </p:oleObj>
              </mc:Choice>
              <mc:Fallback>
                <p:oleObj name="Acrobat Document" showAsIcon="1" r:id="rId10" imgW="914400" imgH="79236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3789" y="1598056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27F792E5-6AF2-4E0D-9080-E5FBDDD805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3120" y="1639408"/>
            <a:ext cx="172137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2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38023" y="38818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PR15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611318"/>
              </p:ext>
            </p:extLst>
          </p:nvPr>
        </p:nvGraphicFramePr>
        <p:xfrm>
          <a:off x="981454" y="42688"/>
          <a:ext cx="1082998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45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1" name="Grupo 50"/>
          <p:cNvGrpSpPr/>
          <p:nvPr/>
        </p:nvGrpSpPr>
        <p:grpSpPr>
          <a:xfrm>
            <a:off x="3467818" y="1142940"/>
            <a:ext cx="8053501" cy="4896570"/>
            <a:chOff x="3562709" y="489574"/>
            <a:chExt cx="8053501" cy="4896570"/>
          </a:xfrm>
        </p:grpSpPr>
        <p:pic>
          <p:nvPicPr>
            <p:cNvPr id="8" name="Imagen 7" descr="Recorte de pantalla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44939" y="3459868"/>
              <a:ext cx="7108640" cy="990686"/>
            </a:xfrm>
            <a:prstGeom prst="rect">
              <a:avLst/>
            </a:prstGeom>
          </p:spPr>
        </p:pic>
        <p:pic>
          <p:nvPicPr>
            <p:cNvPr id="9" name="Imagen 8" descr="Recorte de pantalla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00136" y="1781658"/>
              <a:ext cx="5253487" cy="1686837"/>
            </a:xfrm>
            <a:prstGeom prst="rect">
              <a:avLst/>
            </a:prstGeom>
          </p:spPr>
        </p:pic>
        <p:cxnSp>
          <p:nvCxnSpPr>
            <p:cNvPr id="11" name="Conector recto 10"/>
            <p:cNvCxnSpPr/>
            <p:nvPr/>
          </p:nvCxnSpPr>
          <p:spPr>
            <a:xfrm>
              <a:off x="3688389" y="1781658"/>
              <a:ext cx="667951" cy="479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>
            <a:xfrm flipV="1">
              <a:off x="3717986" y="3459868"/>
              <a:ext cx="638354" cy="86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ector recto de flecha 17"/>
            <p:cNvCxnSpPr/>
            <p:nvPr/>
          </p:nvCxnSpPr>
          <p:spPr>
            <a:xfrm>
              <a:off x="4022364" y="2786331"/>
              <a:ext cx="0" cy="56071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ector recto de flecha 19"/>
            <p:cNvCxnSpPr/>
            <p:nvPr/>
          </p:nvCxnSpPr>
          <p:spPr>
            <a:xfrm flipV="1">
              <a:off x="4013317" y="1846052"/>
              <a:ext cx="9047" cy="53196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CuadroTexto 21"/>
            <p:cNvSpPr txBox="1"/>
            <p:nvPr/>
          </p:nvSpPr>
          <p:spPr>
            <a:xfrm>
              <a:off x="3562709" y="2378013"/>
              <a:ext cx="1302589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dirty="0"/>
                <a:t>1194mm</a:t>
              </a:r>
            </a:p>
          </p:txBody>
        </p:sp>
        <p:cxnSp>
          <p:nvCxnSpPr>
            <p:cNvPr id="24" name="Conector recto 23"/>
            <p:cNvCxnSpPr/>
            <p:nvPr/>
          </p:nvCxnSpPr>
          <p:spPr>
            <a:xfrm>
              <a:off x="8039819" y="3579962"/>
              <a:ext cx="17253" cy="124220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ector recto 26"/>
            <p:cNvCxnSpPr/>
            <p:nvPr/>
          </p:nvCxnSpPr>
          <p:spPr>
            <a:xfrm>
              <a:off x="7640129" y="3579962"/>
              <a:ext cx="25879" cy="179429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ector recto de flecha 28"/>
            <p:cNvCxnSpPr/>
            <p:nvPr/>
          </p:nvCxnSpPr>
          <p:spPr>
            <a:xfrm>
              <a:off x="7374148" y="4571999"/>
              <a:ext cx="2659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ector recto de flecha 30"/>
            <p:cNvCxnSpPr/>
            <p:nvPr/>
          </p:nvCxnSpPr>
          <p:spPr>
            <a:xfrm flipH="1">
              <a:off x="8082951" y="4571998"/>
              <a:ext cx="4715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CuadroTexto 34"/>
            <p:cNvSpPr txBox="1"/>
            <p:nvPr/>
          </p:nvSpPr>
          <p:spPr>
            <a:xfrm>
              <a:off x="8580409" y="4461458"/>
              <a:ext cx="90441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dirty="0"/>
                <a:t>225mm</a:t>
              </a:r>
            </a:p>
          </p:txBody>
        </p:sp>
        <p:cxnSp>
          <p:nvCxnSpPr>
            <p:cNvPr id="37" name="Conector recto 36"/>
            <p:cNvCxnSpPr/>
            <p:nvPr/>
          </p:nvCxnSpPr>
          <p:spPr>
            <a:xfrm>
              <a:off x="7116792" y="3579962"/>
              <a:ext cx="0" cy="179429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ector recto de flecha 41"/>
            <p:cNvCxnSpPr/>
            <p:nvPr/>
          </p:nvCxnSpPr>
          <p:spPr>
            <a:xfrm flipH="1">
              <a:off x="7763470" y="5267863"/>
              <a:ext cx="4715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de flecha 42"/>
            <p:cNvCxnSpPr/>
            <p:nvPr/>
          </p:nvCxnSpPr>
          <p:spPr>
            <a:xfrm>
              <a:off x="6512943" y="5267863"/>
              <a:ext cx="5118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CuadroTexto 44"/>
            <p:cNvSpPr txBox="1"/>
            <p:nvPr/>
          </p:nvSpPr>
          <p:spPr>
            <a:xfrm>
              <a:off x="5586922" y="5016812"/>
              <a:ext cx="90441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dirty="0"/>
                <a:t>300mm</a:t>
              </a:r>
            </a:p>
          </p:txBody>
        </p:sp>
        <p:pic>
          <p:nvPicPr>
            <p:cNvPr id="46" name="Imagen 45" descr="Recorte de pantalla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37548" y="489574"/>
              <a:ext cx="7178662" cy="1356478"/>
            </a:xfrm>
            <a:prstGeom prst="rect">
              <a:avLst/>
            </a:prstGeom>
          </p:spPr>
        </p:pic>
      </p:grpSp>
      <p:sp>
        <p:nvSpPr>
          <p:cNvPr id="52" name="CuadroTexto 51"/>
          <p:cNvSpPr txBox="1"/>
          <p:nvPr/>
        </p:nvSpPr>
        <p:spPr>
          <a:xfrm>
            <a:off x="2642103" y="2558234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Common</a:t>
            </a:r>
            <a:r>
              <a:rPr lang="es-MX" sz="1100" b="1" dirty="0"/>
              <a:t> </a:t>
            </a:r>
            <a:r>
              <a:rPr lang="en-US" sz="1100" b="1" dirty="0"/>
              <a:t>Shut</a:t>
            </a:r>
            <a:r>
              <a:rPr lang="es-MX" sz="1100" b="1" dirty="0"/>
              <a:t> </a:t>
            </a:r>
            <a:r>
              <a:rPr lang="en-US" sz="1100" b="1" dirty="0"/>
              <a:t>Height</a:t>
            </a:r>
          </a:p>
        </p:txBody>
      </p:sp>
      <p:sp>
        <p:nvSpPr>
          <p:cNvPr id="53" name="CuadroTexto 52"/>
          <p:cNvSpPr txBox="1"/>
          <p:nvPr/>
        </p:nvSpPr>
        <p:spPr>
          <a:xfrm>
            <a:off x="8169216" y="5612566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Distance</a:t>
            </a:r>
            <a:r>
              <a:rPr lang="es-MX" sz="1100" b="1" dirty="0"/>
              <a:t> </a:t>
            </a:r>
            <a:r>
              <a:rPr lang="en-US" sz="1100" b="1" dirty="0"/>
              <a:t>between</a:t>
            </a:r>
            <a:r>
              <a:rPr lang="es-MX" sz="1100" b="1" dirty="0"/>
              <a:t> slots</a:t>
            </a:r>
          </a:p>
        </p:txBody>
      </p:sp>
      <p:pic>
        <p:nvPicPr>
          <p:cNvPr id="55" name="Imagen 54" descr="Recorte de pantalla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316" y="4272195"/>
            <a:ext cx="4079742" cy="2316555"/>
          </a:xfrm>
          <a:prstGeom prst="rect">
            <a:avLst/>
          </a:prstGeom>
        </p:spPr>
      </p:pic>
      <p:sp>
        <p:nvSpPr>
          <p:cNvPr id="56" name="Rectángulo 55"/>
          <p:cNvSpPr/>
          <p:nvPr/>
        </p:nvSpPr>
        <p:spPr>
          <a:xfrm>
            <a:off x="326402" y="4000414"/>
            <a:ext cx="483600" cy="608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0" name="Marcador de número de diapositiva 5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8</a:t>
            </a:fld>
            <a:endParaRPr lang="es-MX" dirty="0"/>
          </a:p>
        </p:txBody>
      </p:sp>
      <p:sp>
        <p:nvSpPr>
          <p:cNvPr id="28" name="CuadroTexto 27"/>
          <p:cNvSpPr txBox="1"/>
          <p:nvPr/>
        </p:nvSpPr>
        <p:spPr>
          <a:xfrm>
            <a:off x="0" y="994003"/>
            <a:ext cx="1976331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Manual. </a:t>
            </a:r>
          </a:p>
        </p:txBody>
      </p:sp>
      <p:sp>
        <p:nvSpPr>
          <p:cNvPr id="30" name="Rectángulo 29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1590" y="5276786"/>
            <a:ext cx="1849676" cy="1330104"/>
          </a:xfrm>
          <a:prstGeom prst="rect">
            <a:avLst/>
          </a:prstGeom>
        </p:spPr>
      </p:pic>
      <p:sp>
        <p:nvSpPr>
          <p:cNvPr id="33" name="Rectángulo 32"/>
          <p:cNvSpPr/>
          <p:nvPr/>
        </p:nvSpPr>
        <p:spPr>
          <a:xfrm>
            <a:off x="2554589" y="1547365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049748"/>
              </p:ext>
            </p:extLst>
          </p:nvPr>
        </p:nvGraphicFramePr>
        <p:xfrm>
          <a:off x="0" y="1644513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4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644513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Flecha izquierda 33"/>
          <p:cNvSpPr/>
          <p:nvPr/>
        </p:nvSpPr>
        <p:spPr>
          <a:xfrm>
            <a:off x="4605199" y="4515617"/>
            <a:ext cx="138188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10A485-149A-4DCA-B439-3DF8A7C578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391" y="2569810"/>
            <a:ext cx="1660327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67419" y="51758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PR28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5804360" y="1602694"/>
            <a:ext cx="4831499" cy="3129089"/>
            <a:chOff x="6304692" y="1714838"/>
            <a:chExt cx="4831499" cy="3129089"/>
          </a:xfrm>
        </p:grpSpPr>
        <p:pic>
          <p:nvPicPr>
            <p:cNvPr id="5" name="Imagen 4" descr="Recorte de pantalla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35175" y="3670345"/>
              <a:ext cx="4801016" cy="1173582"/>
            </a:xfrm>
            <a:prstGeom prst="rect">
              <a:avLst/>
            </a:prstGeom>
          </p:spPr>
        </p:pic>
        <p:pic>
          <p:nvPicPr>
            <p:cNvPr id="6" name="Imagen 5" descr="Recorte de pantalla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04692" y="1714838"/>
              <a:ext cx="4831499" cy="495343"/>
            </a:xfrm>
            <a:prstGeom prst="rect">
              <a:avLst/>
            </a:prstGeom>
          </p:spPr>
        </p:pic>
      </p:grpSp>
      <p:pic>
        <p:nvPicPr>
          <p:cNvPr id="8" name="Imagen 7" descr="Recorte de pantalla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1956" y="2098037"/>
            <a:ext cx="3303916" cy="1460164"/>
          </a:xfrm>
          <a:prstGeom prst="rect">
            <a:avLst/>
          </a:prstGeom>
        </p:spPr>
      </p:pic>
      <p:cxnSp>
        <p:nvCxnSpPr>
          <p:cNvPr id="9" name="Conector recto 8"/>
          <p:cNvCxnSpPr/>
          <p:nvPr/>
        </p:nvCxnSpPr>
        <p:spPr>
          <a:xfrm flipH="1">
            <a:off x="8426530" y="3608901"/>
            <a:ext cx="1477" cy="16532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 flipH="1">
            <a:off x="8067095" y="3670148"/>
            <a:ext cx="1" cy="15919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>
            <a:off x="7523631" y="4968521"/>
            <a:ext cx="5434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>
            <a:off x="8426530" y="4976854"/>
            <a:ext cx="4673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8893834" y="4814632"/>
            <a:ext cx="88036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300mm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846478"/>
              </p:ext>
            </p:extLst>
          </p:nvPr>
        </p:nvGraphicFramePr>
        <p:xfrm>
          <a:off x="939398" y="82339"/>
          <a:ext cx="1095075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125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CuadroTexto 24"/>
          <p:cNvSpPr txBox="1"/>
          <p:nvPr/>
        </p:nvSpPr>
        <p:spPr>
          <a:xfrm>
            <a:off x="0" y="963241"/>
            <a:ext cx="1848599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Manual.</a:t>
            </a:r>
          </a:p>
        </p:txBody>
      </p:sp>
      <p:cxnSp>
        <p:nvCxnSpPr>
          <p:cNvPr id="26" name="Conector recto de flecha 25"/>
          <p:cNvCxnSpPr/>
          <p:nvPr/>
        </p:nvCxnSpPr>
        <p:spPr>
          <a:xfrm flipV="1">
            <a:off x="5583504" y="2118139"/>
            <a:ext cx="1" cy="461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/>
          <p:nvPr/>
        </p:nvCxnSpPr>
        <p:spPr>
          <a:xfrm flipH="1">
            <a:off x="5583504" y="3075477"/>
            <a:ext cx="9035" cy="493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5201328" y="2674230"/>
            <a:ext cx="8354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sz="1400" dirty="0"/>
              <a:t>1200mm</a:t>
            </a:r>
          </a:p>
        </p:txBody>
      </p:sp>
      <p:cxnSp>
        <p:nvCxnSpPr>
          <p:cNvPr id="29" name="Conector recto 28"/>
          <p:cNvCxnSpPr/>
          <p:nvPr/>
        </p:nvCxnSpPr>
        <p:spPr>
          <a:xfrm flipH="1">
            <a:off x="5253668" y="2118139"/>
            <a:ext cx="55069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29"/>
          <p:cNvCxnSpPr/>
          <p:nvPr/>
        </p:nvCxnSpPr>
        <p:spPr>
          <a:xfrm flipH="1">
            <a:off x="5356285" y="3597893"/>
            <a:ext cx="552367" cy="110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Imagen 31" descr="Recorte de pantalla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335" y="3837012"/>
            <a:ext cx="3658436" cy="2570793"/>
          </a:xfrm>
          <a:prstGeom prst="rect">
            <a:avLst/>
          </a:prstGeom>
        </p:spPr>
      </p:pic>
      <p:cxnSp>
        <p:nvCxnSpPr>
          <p:cNvPr id="34" name="Conector recto 33"/>
          <p:cNvCxnSpPr/>
          <p:nvPr/>
        </p:nvCxnSpPr>
        <p:spPr>
          <a:xfrm flipH="1">
            <a:off x="1031335" y="3384294"/>
            <a:ext cx="4791" cy="3797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H="1">
            <a:off x="4684980" y="3419044"/>
            <a:ext cx="4791" cy="3797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/>
          <p:nvPr/>
        </p:nvCxnSpPr>
        <p:spPr>
          <a:xfrm>
            <a:off x="3571336" y="3574151"/>
            <a:ext cx="10509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ector recto de flecha 40"/>
          <p:cNvCxnSpPr/>
          <p:nvPr/>
        </p:nvCxnSpPr>
        <p:spPr>
          <a:xfrm flipH="1" flipV="1">
            <a:off x="1118971" y="3574151"/>
            <a:ext cx="1010027" cy="85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CuadroTexto 42"/>
          <p:cNvSpPr txBox="1"/>
          <p:nvPr/>
        </p:nvSpPr>
        <p:spPr>
          <a:xfrm>
            <a:off x="2286000" y="3384294"/>
            <a:ext cx="128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3658mm</a:t>
            </a:r>
          </a:p>
        </p:txBody>
      </p:sp>
      <p:cxnSp>
        <p:nvCxnSpPr>
          <p:cNvPr id="45" name="Conector recto 44"/>
          <p:cNvCxnSpPr/>
          <p:nvPr/>
        </p:nvCxnSpPr>
        <p:spPr>
          <a:xfrm>
            <a:off x="353683" y="3837012"/>
            <a:ext cx="58571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48"/>
          <p:cNvCxnSpPr/>
          <p:nvPr/>
        </p:nvCxnSpPr>
        <p:spPr>
          <a:xfrm>
            <a:off x="353683" y="6407805"/>
            <a:ext cx="58571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/>
          <p:nvPr/>
        </p:nvCxnSpPr>
        <p:spPr>
          <a:xfrm flipV="1">
            <a:off x="603408" y="3884999"/>
            <a:ext cx="8185" cy="9296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/>
          <p:nvPr/>
        </p:nvCxnSpPr>
        <p:spPr>
          <a:xfrm>
            <a:off x="603408" y="5357004"/>
            <a:ext cx="0" cy="949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CuadroTexto 58"/>
          <p:cNvSpPr txBox="1"/>
          <p:nvPr/>
        </p:nvSpPr>
        <p:spPr>
          <a:xfrm>
            <a:off x="66416" y="4856242"/>
            <a:ext cx="116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2438mm</a:t>
            </a:r>
          </a:p>
        </p:txBody>
      </p:sp>
      <p:sp>
        <p:nvSpPr>
          <p:cNvPr id="67" name="CuadroTexto 66"/>
          <p:cNvSpPr txBox="1"/>
          <p:nvPr/>
        </p:nvSpPr>
        <p:spPr>
          <a:xfrm>
            <a:off x="4219515" y="2201526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Common</a:t>
            </a:r>
            <a:r>
              <a:rPr lang="es-MX" sz="1100" b="1" dirty="0"/>
              <a:t> </a:t>
            </a:r>
            <a:r>
              <a:rPr lang="en-US" sz="1100" b="1" dirty="0"/>
              <a:t>Shut</a:t>
            </a:r>
            <a:r>
              <a:rPr lang="es-MX" sz="1100" b="1" dirty="0"/>
              <a:t> </a:t>
            </a:r>
            <a:r>
              <a:rPr lang="en-US" sz="1100" b="1" dirty="0"/>
              <a:t>Height</a:t>
            </a:r>
          </a:p>
        </p:txBody>
      </p:sp>
      <p:sp>
        <p:nvSpPr>
          <p:cNvPr id="68" name="CuadroTexto 67"/>
          <p:cNvSpPr txBox="1"/>
          <p:nvPr/>
        </p:nvSpPr>
        <p:spPr>
          <a:xfrm>
            <a:off x="8893834" y="5176975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Distance</a:t>
            </a:r>
            <a:r>
              <a:rPr lang="es-MX" sz="1100" b="1" dirty="0"/>
              <a:t> </a:t>
            </a:r>
            <a:r>
              <a:rPr lang="en-US" sz="1100" b="1" dirty="0"/>
              <a:t>between</a:t>
            </a:r>
            <a:r>
              <a:rPr lang="es-MX" sz="1100" b="1" dirty="0"/>
              <a:t> slots</a:t>
            </a:r>
          </a:p>
        </p:txBody>
      </p:sp>
      <p:sp>
        <p:nvSpPr>
          <p:cNvPr id="15" name="Marcador de número de diapositiva 14"/>
          <p:cNvSpPr>
            <a:spLocks noGrp="1"/>
          </p:cNvSpPr>
          <p:nvPr>
            <p:ph type="sldNum" sz="quarter" idx="16"/>
          </p:nvPr>
        </p:nvSpPr>
        <p:spPr>
          <a:xfrm>
            <a:off x="8660182" y="6367524"/>
            <a:ext cx="2743200" cy="365125"/>
          </a:xfrm>
        </p:spPr>
        <p:txBody>
          <a:bodyPr/>
          <a:lstStyle/>
          <a:p>
            <a:fld id="{391A32E0-1075-4409-884C-6FCA71D173B5}" type="slidenum">
              <a:rPr lang="es-MX" smtClean="0"/>
              <a:t>9</a:t>
            </a:fld>
            <a:endParaRPr lang="es-MX" dirty="0"/>
          </a:p>
        </p:txBody>
      </p:sp>
      <p:sp>
        <p:nvSpPr>
          <p:cNvPr id="35" name="Rectángulo 34"/>
          <p:cNvSpPr/>
          <p:nvPr/>
        </p:nvSpPr>
        <p:spPr>
          <a:xfrm>
            <a:off x="12079050" y="19456"/>
            <a:ext cx="11295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651" y="4957277"/>
            <a:ext cx="2049655" cy="1473909"/>
          </a:xfrm>
          <a:prstGeom prst="rect">
            <a:avLst/>
          </a:prstGeom>
        </p:spPr>
      </p:pic>
      <p:sp>
        <p:nvSpPr>
          <p:cNvPr id="40" name="Rectángulo 39"/>
          <p:cNvSpPr/>
          <p:nvPr/>
        </p:nvSpPr>
        <p:spPr>
          <a:xfrm>
            <a:off x="3030965" y="1158006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214024"/>
              </p:ext>
            </p:extLst>
          </p:nvPr>
        </p:nvGraphicFramePr>
        <p:xfrm>
          <a:off x="0" y="1610168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7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610168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Flecha izquierda 41"/>
          <p:cNvSpPr/>
          <p:nvPr/>
        </p:nvSpPr>
        <p:spPr>
          <a:xfrm flipH="1">
            <a:off x="8807064" y="4116851"/>
            <a:ext cx="142733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sp>
        <p:nvSpPr>
          <p:cNvPr id="44" name="Flecha izquierda 43"/>
          <p:cNvSpPr/>
          <p:nvPr/>
        </p:nvSpPr>
        <p:spPr>
          <a:xfrm>
            <a:off x="6231082" y="4116851"/>
            <a:ext cx="138188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C8CEAFD-1ED2-4F05-A04C-14E0F308D9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8430" y="1740837"/>
            <a:ext cx="1655219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77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14068" y="39681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PR29</a:t>
            </a:r>
          </a:p>
        </p:txBody>
      </p:sp>
      <p:pic>
        <p:nvPicPr>
          <p:cNvPr id="5" name="Imagen 4" descr="Recorte de pantalla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2419" y="3924786"/>
            <a:ext cx="6424217" cy="388654"/>
          </a:xfrm>
          <a:prstGeom prst="rect">
            <a:avLst/>
          </a:prstGeom>
        </p:spPr>
      </p:pic>
      <p:pic>
        <p:nvPicPr>
          <p:cNvPr id="6" name="Imagen 5" descr="Recorte de pantalla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1937" y="1468540"/>
            <a:ext cx="6454699" cy="815411"/>
          </a:xfrm>
          <a:prstGeom prst="rect">
            <a:avLst/>
          </a:prstGeom>
        </p:spPr>
      </p:pic>
      <p:pic>
        <p:nvPicPr>
          <p:cNvPr id="7" name="Imagen 6" descr="Recorte de pantalla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967" y="2283951"/>
            <a:ext cx="3761116" cy="1640835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 flipV="1">
            <a:off x="4887042" y="2354221"/>
            <a:ext cx="1" cy="461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flipH="1">
            <a:off x="4889110" y="3316325"/>
            <a:ext cx="9035" cy="493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4506934" y="2915078"/>
            <a:ext cx="74411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sz="1400" dirty="0"/>
              <a:t>780mm</a:t>
            </a:r>
          </a:p>
        </p:txBody>
      </p:sp>
      <p:cxnSp>
        <p:nvCxnSpPr>
          <p:cNvPr id="11" name="Conector recto 10"/>
          <p:cNvCxnSpPr/>
          <p:nvPr/>
        </p:nvCxnSpPr>
        <p:spPr>
          <a:xfrm flipH="1">
            <a:off x="4506934" y="2283951"/>
            <a:ext cx="55069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/>
          <p:cNvCxnSpPr/>
          <p:nvPr/>
        </p:nvCxnSpPr>
        <p:spPr>
          <a:xfrm flipH="1">
            <a:off x="4648492" y="3947598"/>
            <a:ext cx="552367" cy="110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H="1">
            <a:off x="8555926" y="4091980"/>
            <a:ext cx="1477" cy="16532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H="1">
            <a:off x="8196491" y="4153227"/>
            <a:ext cx="1" cy="15919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>
            <a:off x="7653027" y="5451600"/>
            <a:ext cx="5434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H="1">
            <a:off x="8555926" y="5459933"/>
            <a:ext cx="4673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9023230" y="5297711"/>
            <a:ext cx="88036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300mm</a:t>
            </a:r>
          </a:p>
        </p:txBody>
      </p:sp>
      <p:graphicFrame>
        <p:nvGraphicFramePr>
          <p:cNvPr id="18" name="Tabl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587150"/>
              </p:ext>
            </p:extLst>
          </p:nvPr>
        </p:nvGraphicFramePr>
        <p:xfrm>
          <a:off x="1254478" y="73083"/>
          <a:ext cx="102597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259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6480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CuadroTexto 18"/>
          <p:cNvSpPr txBox="1"/>
          <p:nvPr/>
        </p:nvSpPr>
        <p:spPr>
          <a:xfrm>
            <a:off x="0" y="986061"/>
            <a:ext cx="1853446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Manual.</a:t>
            </a:r>
          </a:p>
        </p:txBody>
      </p:sp>
      <p:pic>
        <p:nvPicPr>
          <p:cNvPr id="20" name="Imagen 19" descr="Recorte de pantalla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047" y="4091980"/>
            <a:ext cx="3368839" cy="2006709"/>
          </a:xfrm>
          <a:prstGeom prst="rect">
            <a:avLst/>
          </a:prstGeom>
        </p:spPr>
      </p:pic>
      <p:cxnSp>
        <p:nvCxnSpPr>
          <p:cNvPr id="21" name="Conector recto 20"/>
          <p:cNvCxnSpPr/>
          <p:nvPr/>
        </p:nvCxnSpPr>
        <p:spPr>
          <a:xfrm flipH="1">
            <a:off x="1040922" y="3592235"/>
            <a:ext cx="4792" cy="3797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 flipH="1">
            <a:off x="4391367" y="3607406"/>
            <a:ext cx="4792" cy="3797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>
            <a:off x="3235866" y="3803282"/>
            <a:ext cx="105094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/>
          <p:nvPr/>
        </p:nvCxnSpPr>
        <p:spPr>
          <a:xfrm flipH="1" flipV="1">
            <a:off x="1254478" y="3792072"/>
            <a:ext cx="697430" cy="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CuadroTexto 24"/>
          <p:cNvSpPr txBox="1"/>
          <p:nvPr/>
        </p:nvSpPr>
        <p:spPr>
          <a:xfrm>
            <a:off x="2133845" y="3607406"/>
            <a:ext cx="128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6480mm</a:t>
            </a:r>
          </a:p>
        </p:txBody>
      </p:sp>
      <p:cxnSp>
        <p:nvCxnSpPr>
          <p:cNvPr id="31" name="Conector recto 30"/>
          <p:cNvCxnSpPr/>
          <p:nvPr/>
        </p:nvCxnSpPr>
        <p:spPr>
          <a:xfrm>
            <a:off x="327363" y="6098689"/>
            <a:ext cx="58571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 flipV="1">
            <a:off x="603408" y="4279376"/>
            <a:ext cx="0" cy="5352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/>
          <p:nvPr/>
        </p:nvCxnSpPr>
        <p:spPr>
          <a:xfrm>
            <a:off x="603408" y="5357004"/>
            <a:ext cx="0" cy="5175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CuadroTexto 33"/>
          <p:cNvSpPr txBox="1"/>
          <p:nvPr/>
        </p:nvSpPr>
        <p:spPr>
          <a:xfrm>
            <a:off x="66416" y="4856242"/>
            <a:ext cx="116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1524mm</a:t>
            </a:r>
          </a:p>
        </p:txBody>
      </p:sp>
      <p:cxnSp>
        <p:nvCxnSpPr>
          <p:cNvPr id="37" name="Conector recto 36"/>
          <p:cNvCxnSpPr/>
          <p:nvPr/>
        </p:nvCxnSpPr>
        <p:spPr>
          <a:xfrm>
            <a:off x="327363" y="4091980"/>
            <a:ext cx="58571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3587547" y="2383650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MX" sz="1100" b="1" dirty="0"/>
              <a:t>Common </a:t>
            </a:r>
            <a:r>
              <a:rPr lang="en-US" sz="1100" b="1" dirty="0"/>
              <a:t>Shut</a:t>
            </a:r>
            <a:r>
              <a:rPr lang="es-MX" sz="1100" b="1" dirty="0"/>
              <a:t> </a:t>
            </a:r>
            <a:r>
              <a:rPr lang="en-US" sz="1100" b="1" dirty="0"/>
              <a:t>Height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8983491" y="5001156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Distance</a:t>
            </a:r>
            <a:r>
              <a:rPr lang="es-MX" sz="1100" b="1" dirty="0"/>
              <a:t> </a:t>
            </a:r>
            <a:r>
              <a:rPr lang="en-US" sz="1100" b="1" dirty="0"/>
              <a:t>between</a:t>
            </a:r>
            <a:r>
              <a:rPr lang="es-MX" sz="1100" b="1" dirty="0"/>
              <a:t> slots</a:t>
            </a:r>
          </a:p>
        </p:txBody>
      </p:sp>
      <p:sp>
        <p:nvSpPr>
          <p:cNvPr id="27" name="Marcador de número de diapositiva 2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10</a:t>
            </a:fld>
            <a:endParaRPr lang="es-MX" dirty="0"/>
          </a:p>
        </p:txBody>
      </p:sp>
      <p:sp>
        <p:nvSpPr>
          <p:cNvPr id="35" name="Rectángulo 34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5979" y="4762313"/>
            <a:ext cx="2649653" cy="190536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7119056" y="1019667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26" name="Objeto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399523"/>
              </p:ext>
            </p:extLst>
          </p:nvPr>
        </p:nvGraphicFramePr>
        <p:xfrm>
          <a:off x="0" y="163063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3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63063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Flecha izquierda 39"/>
          <p:cNvSpPr/>
          <p:nvPr/>
        </p:nvSpPr>
        <p:spPr>
          <a:xfrm>
            <a:off x="6291140" y="4177036"/>
            <a:ext cx="138188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7FF37ADA-2F08-4F18-94E2-EF3909B419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2258" y="1900385"/>
            <a:ext cx="1687999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96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70624" y="234580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PR09,PR10,PR21</a:t>
            </a:r>
          </a:p>
        </p:txBody>
      </p:sp>
      <p:sp>
        <p:nvSpPr>
          <p:cNvPr id="14" name="Marcador de número de diapositiva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11</a:t>
            </a:fld>
            <a:endParaRPr lang="es-MX" dirty="0"/>
          </a:p>
        </p:txBody>
      </p:sp>
      <p:sp>
        <p:nvSpPr>
          <p:cNvPr id="24" name="Rectángulo 23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678" y="5056805"/>
            <a:ext cx="2114399" cy="1520466"/>
          </a:xfrm>
          <a:prstGeom prst="rect">
            <a:avLst/>
          </a:prstGeom>
        </p:spPr>
      </p:pic>
      <p:graphicFrame>
        <p:nvGraphicFramePr>
          <p:cNvPr id="31" name="Objeto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065203"/>
              </p:ext>
            </p:extLst>
          </p:nvPr>
        </p:nvGraphicFramePr>
        <p:xfrm>
          <a:off x="48116" y="244033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5" name="Acrobat Document" showAsIcon="1" r:id="rId4" imgW="914400" imgH="792360" progId="AcroExch.Document.11">
                  <p:embed/>
                </p:oleObj>
              </mc:Choice>
              <mc:Fallback>
                <p:oleObj name="Acrobat Document" showAsIcon="1" r:id="rId4" imgW="914400" imgH="79236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116" y="2440336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to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46428"/>
              </p:ext>
            </p:extLst>
          </p:nvPr>
        </p:nvGraphicFramePr>
        <p:xfrm>
          <a:off x="48116" y="161685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6" name="Acrobat Document" showAsIcon="1" r:id="rId6" imgW="914400" imgH="792360" progId="AcroExch.Document.11">
                  <p:embed/>
                </p:oleObj>
              </mc:Choice>
              <mc:Fallback>
                <p:oleObj name="Acrobat Document" showAsIcon="1" r:id="rId6" imgW="914400" imgH="79236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116" y="161685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o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713454"/>
              </p:ext>
            </p:extLst>
          </p:nvPr>
        </p:nvGraphicFramePr>
        <p:xfrm>
          <a:off x="48116" y="328685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" name="Acrobat Document" showAsIcon="1" r:id="rId8" imgW="914400" imgH="792360" progId="AcroExch.Document.11">
                  <p:embed/>
                </p:oleObj>
              </mc:Choice>
              <mc:Fallback>
                <p:oleObj name="Acrobat Document" showAsIcon="1" r:id="rId8" imgW="914400" imgH="79236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116" y="328685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upo 10"/>
          <p:cNvGrpSpPr/>
          <p:nvPr/>
        </p:nvGrpSpPr>
        <p:grpSpPr>
          <a:xfrm>
            <a:off x="1102180" y="738812"/>
            <a:ext cx="9490296" cy="4083177"/>
            <a:chOff x="2260700" y="574579"/>
            <a:chExt cx="9933709" cy="4372282"/>
          </a:xfrm>
        </p:grpSpPr>
        <p:pic>
          <p:nvPicPr>
            <p:cNvPr id="2" name="Imagen 1" descr="Recorte de pantalla"/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60700" y="574579"/>
              <a:ext cx="9933709" cy="4372282"/>
            </a:xfrm>
            <a:prstGeom prst="rect">
              <a:avLst/>
            </a:prstGeom>
          </p:spPr>
        </p:pic>
        <p:sp>
          <p:nvSpPr>
            <p:cNvPr id="12" name="CuadroTexto 11"/>
            <p:cNvSpPr txBox="1"/>
            <p:nvPr/>
          </p:nvSpPr>
          <p:spPr>
            <a:xfrm>
              <a:off x="8537965" y="4103038"/>
              <a:ext cx="153760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000" dirty="0"/>
                <a:t>Distance between slots 6”</a:t>
              </a: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2433206" y="3343667"/>
              <a:ext cx="2886939" cy="560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ángulo 33"/>
            <p:cNvSpPr/>
            <p:nvPr/>
          </p:nvSpPr>
          <p:spPr>
            <a:xfrm rot="5400000">
              <a:off x="1895258" y="2524444"/>
              <a:ext cx="1979210" cy="3732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ángulo 34"/>
            <p:cNvSpPr/>
            <p:nvPr/>
          </p:nvSpPr>
          <p:spPr>
            <a:xfrm>
              <a:off x="2421702" y="1708101"/>
              <a:ext cx="2886939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ángulo 35"/>
            <p:cNvSpPr/>
            <p:nvPr/>
          </p:nvSpPr>
          <p:spPr>
            <a:xfrm>
              <a:off x="2968857" y="2105891"/>
              <a:ext cx="1169034" cy="418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934</a:t>
              </a:r>
            </a:p>
          </p:txBody>
        </p:sp>
        <p:sp>
          <p:nvSpPr>
            <p:cNvPr id="37" name="Forma libre 36"/>
            <p:cNvSpPr/>
            <p:nvPr/>
          </p:nvSpPr>
          <p:spPr>
            <a:xfrm>
              <a:off x="3683479" y="1828800"/>
              <a:ext cx="1863306" cy="1380226"/>
            </a:xfrm>
            <a:custGeom>
              <a:avLst/>
              <a:gdLst>
                <a:gd name="connsiteX0" fmla="*/ 500332 w 1863306"/>
                <a:gd name="connsiteY0" fmla="*/ 0 h 1380226"/>
                <a:gd name="connsiteX1" fmla="*/ 1639019 w 1863306"/>
                <a:gd name="connsiteY1" fmla="*/ 34506 h 1380226"/>
                <a:gd name="connsiteX2" fmla="*/ 1863306 w 1863306"/>
                <a:gd name="connsiteY2" fmla="*/ 327804 h 1380226"/>
                <a:gd name="connsiteX3" fmla="*/ 1863306 w 1863306"/>
                <a:gd name="connsiteY3" fmla="*/ 879894 h 1380226"/>
                <a:gd name="connsiteX4" fmla="*/ 992038 w 1863306"/>
                <a:gd name="connsiteY4" fmla="*/ 1345721 h 1380226"/>
                <a:gd name="connsiteX5" fmla="*/ 724619 w 1863306"/>
                <a:gd name="connsiteY5" fmla="*/ 1380226 h 1380226"/>
                <a:gd name="connsiteX6" fmla="*/ 181155 w 1863306"/>
                <a:gd name="connsiteY6" fmla="*/ 1328468 h 1380226"/>
                <a:gd name="connsiteX7" fmla="*/ 0 w 1863306"/>
                <a:gd name="connsiteY7" fmla="*/ 1086928 h 1380226"/>
                <a:gd name="connsiteX8" fmla="*/ 215661 w 1863306"/>
                <a:gd name="connsiteY8" fmla="*/ 871268 h 1380226"/>
                <a:gd name="connsiteX9" fmla="*/ 483079 w 1863306"/>
                <a:gd name="connsiteY9" fmla="*/ 776377 h 1380226"/>
                <a:gd name="connsiteX10" fmla="*/ 508959 w 1863306"/>
                <a:gd name="connsiteY10" fmla="*/ 500332 h 1380226"/>
                <a:gd name="connsiteX11" fmla="*/ 500332 w 1863306"/>
                <a:gd name="connsiteY11" fmla="*/ 0 h 138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63306" h="1380226">
                  <a:moveTo>
                    <a:pt x="500332" y="0"/>
                  </a:moveTo>
                  <a:lnTo>
                    <a:pt x="1639019" y="34506"/>
                  </a:lnTo>
                  <a:lnTo>
                    <a:pt x="1863306" y="327804"/>
                  </a:lnTo>
                  <a:lnTo>
                    <a:pt x="1863306" y="879894"/>
                  </a:lnTo>
                  <a:lnTo>
                    <a:pt x="992038" y="1345721"/>
                  </a:lnTo>
                  <a:lnTo>
                    <a:pt x="724619" y="1380226"/>
                  </a:lnTo>
                  <a:lnTo>
                    <a:pt x="181155" y="1328468"/>
                  </a:lnTo>
                  <a:lnTo>
                    <a:pt x="0" y="1086928"/>
                  </a:lnTo>
                  <a:lnTo>
                    <a:pt x="215661" y="871268"/>
                  </a:lnTo>
                  <a:lnTo>
                    <a:pt x="483079" y="776377"/>
                  </a:lnTo>
                  <a:lnTo>
                    <a:pt x="508959" y="500332"/>
                  </a:lnTo>
                  <a:lnTo>
                    <a:pt x="50033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43" name="Flecha izquierda 42"/>
            <p:cNvSpPr/>
            <p:nvPr/>
          </p:nvSpPr>
          <p:spPr>
            <a:xfrm flipH="1">
              <a:off x="8616869" y="3320615"/>
              <a:ext cx="1700551" cy="583539"/>
            </a:xfrm>
            <a:prstGeom prst="lef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b="1" dirty="0"/>
                <a:t>FRONT  </a:t>
              </a:r>
              <a:r>
                <a:rPr lang="es-MX" sz="1100" b="1" dirty="0"/>
                <a:t>FLOW</a:t>
              </a:r>
              <a:endParaRPr lang="en-US" sz="1200" b="1" dirty="0"/>
            </a:p>
          </p:txBody>
        </p:sp>
        <p:sp>
          <p:nvSpPr>
            <p:cNvPr id="3" name="CuadroTexto 2"/>
            <p:cNvSpPr txBox="1"/>
            <p:nvPr/>
          </p:nvSpPr>
          <p:spPr>
            <a:xfrm>
              <a:off x="3071489" y="1162944"/>
              <a:ext cx="1199071" cy="43088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s-MX" sz="1100" b="1" dirty="0"/>
                <a:t>Common </a:t>
              </a:r>
              <a:r>
                <a:rPr lang="en-US" sz="1100" b="1" dirty="0"/>
                <a:t>Shut</a:t>
              </a:r>
              <a:r>
                <a:rPr lang="es-MX" sz="1100" b="1" dirty="0"/>
                <a:t> Height</a:t>
              </a:r>
            </a:p>
          </p:txBody>
        </p:sp>
      </p:grpSp>
      <p:grpSp>
        <p:nvGrpSpPr>
          <p:cNvPr id="58" name="Grupo 57"/>
          <p:cNvGrpSpPr/>
          <p:nvPr/>
        </p:nvGrpSpPr>
        <p:grpSpPr>
          <a:xfrm>
            <a:off x="4313843" y="4404152"/>
            <a:ext cx="4206149" cy="2309232"/>
            <a:chOff x="1691519" y="1271072"/>
            <a:chExt cx="3889799" cy="3777432"/>
          </a:xfrm>
        </p:grpSpPr>
        <p:pic>
          <p:nvPicPr>
            <p:cNvPr id="59" name="Imagen 58"/>
            <p:cNvPicPr>
              <a:picLocks noChangeAspect="1"/>
            </p:cNvPicPr>
            <p:nvPr/>
          </p:nvPicPr>
          <p:blipFill rotWithShape="1">
            <a:blip r:embed="rId11"/>
            <a:srcRect r="73702"/>
            <a:stretch/>
          </p:blipFill>
          <p:spPr>
            <a:xfrm>
              <a:off x="3740262" y="2115374"/>
              <a:ext cx="1841056" cy="2847976"/>
            </a:xfrm>
            <a:prstGeom prst="rect">
              <a:avLst/>
            </a:prstGeom>
          </p:spPr>
        </p:pic>
        <p:sp>
          <p:nvSpPr>
            <p:cNvPr id="60" name="Rectángulo 59"/>
            <p:cNvSpPr/>
            <p:nvPr/>
          </p:nvSpPr>
          <p:spPr>
            <a:xfrm>
              <a:off x="4561840" y="3901440"/>
              <a:ext cx="563880" cy="1778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61" name="Conector recto 60"/>
            <p:cNvCxnSpPr/>
            <p:nvPr/>
          </p:nvCxnSpPr>
          <p:spPr>
            <a:xfrm flipH="1">
              <a:off x="3696208" y="4642104"/>
              <a:ext cx="865632" cy="1117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/>
            <p:cNvCxnSpPr/>
            <p:nvPr/>
          </p:nvCxnSpPr>
          <p:spPr>
            <a:xfrm flipH="1" flipV="1">
              <a:off x="3608833" y="3092712"/>
              <a:ext cx="816863" cy="43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de flecha 62"/>
            <p:cNvCxnSpPr/>
            <p:nvPr/>
          </p:nvCxnSpPr>
          <p:spPr>
            <a:xfrm>
              <a:off x="3870960" y="2707640"/>
              <a:ext cx="508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de flecha 63"/>
            <p:cNvCxnSpPr/>
            <p:nvPr/>
          </p:nvCxnSpPr>
          <p:spPr>
            <a:xfrm flipV="1">
              <a:off x="3870960" y="4718304"/>
              <a:ext cx="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Llamada rectangular 64"/>
            <p:cNvSpPr/>
            <p:nvPr/>
          </p:nvSpPr>
          <p:spPr>
            <a:xfrm>
              <a:off x="1691519" y="1271072"/>
              <a:ext cx="1858111" cy="1238710"/>
            </a:xfrm>
            <a:prstGeom prst="wedgeRectCallout">
              <a:avLst>
                <a:gd name="adj1" fmla="val 53142"/>
                <a:gd name="adj2" fmla="val 94869"/>
              </a:avLst>
            </a:prstGeom>
            <a:solidFill>
              <a:srgbClr val="FF0000"/>
            </a:solidFill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Common</a:t>
              </a:r>
              <a:r>
                <a:rPr lang="es-MX" sz="1050" dirty="0"/>
                <a:t> </a:t>
              </a:r>
              <a:r>
                <a:rPr lang="en-US" sz="1050" dirty="0"/>
                <a:t>coil</a:t>
              </a:r>
              <a:r>
                <a:rPr lang="es-MX" sz="1050" dirty="0"/>
                <a:t> </a:t>
              </a:r>
              <a:r>
                <a:rPr lang="en-US" sz="1050" dirty="0"/>
                <a:t>feed</a:t>
              </a:r>
              <a:r>
                <a:rPr lang="es-MX" sz="1050" dirty="0"/>
                <a:t> </a:t>
              </a:r>
              <a:r>
                <a:rPr lang="en-US" sz="1050" dirty="0"/>
                <a:t>height</a:t>
              </a:r>
              <a:r>
                <a:rPr lang="es-MX" sz="1050" dirty="0"/>
                <a:t> </a:t>
              </a:r>
              <a:r>
                <a:rPr lang="en-PH" sz="1050" dirty="0"/>
                <a:t>with</a:t>
              </a:r>
              <a:r>
                <a:rPr lang="es-MX" sz="1050" dirty="0"/>
                <a:t> </a:t>
              </a:r>
              <a:r>
                <a:rPr lang="en-US" sz="1050" dirty="0"/>
                <a:t>lifters</a:t>
              </a:r>
              <a:r>
                <a:rPr lang="es-MX" sz="1050" dirty="0"/>
                <a:t> extended</a:t>
              </a:r>
            </a:p>
          </p:txBody>
        </p:sp>
        <p:sp>
          <p:nvSpPr>
            <p:cNvPr id="66" name="CuadroTexto 65"/>
            <p:cNvSpPr txBox="1"/>
            <p:nvPr/>
          </p:nvSpPr>
          <p:spPr>
            <a:xfrm>
              <a:off x="3432048" y="3712464"/>
              <a:ext cx="904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</a:rPr>
                <a:t>500mm</a:t>
              </a:r>
            </a:p>
          </p:txBody>
        </p:sp>
      </p:grpSp>
      <p:sp>
        <p:nvSpPr>
          <p:cNvPr id="30" name="Rectángulo 29"/>
          <p:cNvSpPr/>
          <p:nvPr/>
        </p:nvSpPr>
        <p:spPr>
          <a:xfrm>
            <a:off x="7035312" y="784613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16" name="Tab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720210"/>
              </p:ext>
            </p:extLst>
          </p:nvPr>
        </p:nvGraphicFramePr>
        <p:xfrm>
          <a:off x="2111432" y="97486"/>
          <a:ext cx="9648264" cy="601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0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86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655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09,</a:t>
                      </a:r>
                      <a:r>
                        <a:rPr lang="es-MX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10 ,</a:t>
                      </a:r>
                      <a:r>
                        <a:rPr lang="es-MX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934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1245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 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PR21,1000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uadroTexto 5"/>
          <p:cNvSpPr txBox="1"/>
          <p:nvPr/>
        </p:nvSpPr>
        <p:spPr>
          <a:xfrm>
            <a:off x="0" y="888890"/>
            <a:ext cx="1360539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PROG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9513" y="4206364"/>
            <a:ext cx="4698884" cy="2387358"/>
            <a:chOff x="394579" y="4091527"/>
            <a:chExt cx="5330745" cy="2809860"/>
          </a:xfrm>
        </p:grpSpPr>
        <p:sp>
          <p:nvSpPr>
            <p:cNvPr id="19" name="CuadroTexto 18"/>
            <p:cNvSpPr txBox="1"/>
            <p:nvPr/>
          </p:nvSpPr>
          <p:spPr>
            <a:xfrm>
              <a:off x="1591701" y="6639777"/>
              <a:ext cx="17540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Distance</a:t>
              </a:r>
              <a:r>
                <a:rPr lang="es-MX" sz="1100" b="1" dirty="0"/>
                <a:t> </a:t>
              </a:r>
              <a:r>
                <a:rPr lang="en-US" sz="1100" b="1" dirty="0"/>
                <a:t>between</a:t>
              </a:r>
              <a:r>
                <a:rPr lang="es-MX" sz="1100" b="1" dirty="0"/>
                <a:t> </a:t>
              </a:r>
              <a:r>
                <a:rPr lang="en-US" sz="1100" b="1" dirty="0"/>
                <a:t>locator</a:t>
              </a:r>
              <a:r>
                <a:rPr lang="es-MX" sz="1100" b="1" dirty="0"/>
                <a:t> .</a:t>
              </a:r>
            </a:p>
          </p:txBody>
        </p:sp>
        <p:pic>
          <p:nvPicPr>
            <p:cNvPr id="21" name="Imagen 20" descr="Recorte de pantalla"/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4579" y="4091527"/>
              <a:ext cx="4848045" cy="2548250"/>
            </a:xfrm>
            <a:prstGeom prst="rect">
              <a:avLst/>
            </a:prstGeom>
          </p:spPr>
        </p:pic>
        <p:sp>
          <p:nvSpPr>
            <p:cNvPr id="22" name="CuadroTexto 21"/>
            <p:cNvSpPr txBox="1"/>
            <p:nvPr/>
          </p:nvSpPr>
          <p:spPr>
            <a:xfrm>
              <a:off x="631169" y="4969364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Riser</a:t>
              </a:r>
            </a:p>
          </p:txBody>
        </p:sp>
        <p:sp>
          <p:nvSpPr>
            <p:cNvPr id="5" name="Rectángulo 4"/>
            <p:cNvSpPr/>
            <p:nvPr/>
          </p:nvSpPr>
          <p:spPr>
            <a:xfrm>
              <a:off x="3761117" y="4753156"/>
              <a:ext cx="267420" cy="3056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3753361" y="5579458"/>
              <a:ext cx="275176" cy="3123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1714883" y="4753156"/>
              <a:ext cx="279054" cy="314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3" name="Rectángulo 22"/>
            <p:cNvSpPr/>
            <p:nvPr/>
          </p:nvSpPr>
          <p:spPr>
            <a:xfrm>
              <a:off x="1714883" y="5555711"/>
              <a:ext cx="275176" cy="3273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grpSp>
          <p:nvGrpSpPr>
            <p:cNvPr id="28" name="Grupo 27"/>
            <p:cNvGrpSpPr/>
            <p:nvPr/>
          </p:nvGrpSpPr>
          <p:grpSpPr>
            <a:xfrm>
              <a:off x="3987372" y="6206589"/>
              <a:ext cx="1737952" cy="614916"/>
              <a:chOff x="5112639" y="6157281"/>
              <a:chExt cx="2372595" cy="691047"/>
            </a:xfrm>
          </p:grpSpPr>
          <p:pic>
            <p:nvPicPr>
              <p:cNvPr id="26" name="Imagen 25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12639" y="6157281"/>
                <a:ext cx="737287" cy="691047"/>
              </a:xfrm>
              <a:prstGeom prst="rect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</p:pic>
          <p:sp>
            <p:nvSpPr>
              <p:cNvPr id="27" name="CuadroTexto 26"/>
              <p:cNvSpPr txBox="1"/>
              <p:nvPr/>
            </p:nvSpPr>
            <p:spPr>
              <a:xfrm>
                <a:off x="5897829" y="6448224"/>
                <a:ext cx="1587405" cy="335853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Locator</a:t>
                </a:r>
                <a:r>
                  <a:rPr lang="es-MX" sz="1050" dirty="0"/>
                  <a:t> T020</a:t>
                </a:r>
                <a:endParaRPr lang="en-US" sz="1050" dirty="0"/>
              </a:p>
            </p:txBody>
          </p:sp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E7D75F60-4FDF-4B04-9340-B98BC79C31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49124" y="908098"/>
            <a:ext cx="1663043" cy="72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0C8F204-C2F4-4B0A-804E-E12ACF7D53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49122" y="1667898"/>
            <a:ext cx="1701453" cy="720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AE31C9C-FD08-4AF1-976C-E7FC9699EF3F}"/>
              </a:ext>
            </a:extLst>
          </p:cNvPr>
          <p:cNvSpPr txBox="1"/>
          <p:nvPr/>
        </p:nvSpPr>
        <p:spPr>
          <a:xfrm>
            <a:off x="10117900" y="2076973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PR10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DBCC128-65A5-443F-A4BF-A916FFB730DF}"/>
              </a:ext>
            </a:extLst>
          </p:cNvPr>
          <p:cNvSpPr txBox="1"/>
          <p:nvPr/>
        </p:nvSpPr>
        <p:spPr>
          <a:xfrm>
            <a:off x="10099657" y="1299319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PR09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E387109-CE8F-4FEE-AF4C-1A34E1BD796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55191" y="2442628"/>
            <a:ext cx="1686630" cy="720000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2716AB3C-C51C-492F-8DE7-8BA121BCA265}"/>
              </a:ext>
            </a:extLst>
          </p:cNvPr>
          <p:cNvSpPr txBox="1"/>
          <p:nvPr/>
        </p:nvSpPr>
        <p:spPr>
          <a:xfrm>
            <a:off x="10117900" y="2858774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PR21</a:t>
            </a:r>
          </a:p>
        </p:txBody>
      </p:sp>
    </p:spTree>
    <p:extLst>
      <p:ext uri="{BB962C8B-B14F-4D97-AF65-F5344CB8AC3E}">
        <p14:creationId xmlns:p14="http://schemas.microsoft.com/office/powerpoint/2010/main" val="2931195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16912" y="2760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PR11</a:t>
            </a:r>
          </a:p>
        </p:txBody>
      </p:sp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038527"/>
              </p:ext>
            </p:extLst>
          </p:nvPr>
        </p:nvGraphicFramePr>
        <p:xfrm>
          <a:off x="2015995" y="60482"/>
          <a:ext cx="9176580" cy="74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54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ángulo 11"/>
          <p:cNvSpPr/>
          <p:nvPr/>
        </p:nvSpPr>
        <p:spPr>
          <a:xfrm>
            <a:off x="10506853" y="-4313"/>
            <a:ext cx="685722" cy="809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8" name="CuadroTexto 17"/>
          <p:cNvSpPr txBox="1"/>
          <p:nvPr/>
        </p:nvSpPr>
        <p:spPr>
          <a:xfrm>
            <a:off x="0" y="981123"/>
            <a:ext cx="1360539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PROG</a:t>
            </a:r>
          </a:p>
        </p:txBody>
      </p:sp>
      <p:sp>
        <p:nvSpPr>
          <p:cNvPr id="15" name="Marcador de número de diapositiva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12</a:t>
            </a:fld>
            <a:endParaRPr lang="es-MX" dirty="0"/>
          </a:p>
        </p:txBody>
      </p:sp>
      <p:sp>
        <p:nvSpPr>
          <p:cNvPr id="29" name="Rectángulo 28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631" y="4850474"/>
            <a:ext cx="2172420" cy="1562190"/>
          </a:xfrm>
          <a:prstGeom prst="rect">
            <a:avLst/>
          </a:prstGeom>
        </p:spPr>
      </p:pic>
      <p:graphicFrame>
        <p:nvGraphicFramePr>
          <p:cNvPr id="16" name="Objeto 15" title="PRESS 11 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17107"/>
              </p:ext>
            </p:extLst>
          </p:nvPr>
        </p:nvGraphicFramePr>
        <p:xfrm>
          <a:off x="0" y="1633185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" name="Acrobat Document" showAsIcon="1" r:id="rId4" imgW="914400" imgH="792360" progId="AcroExch.Document.DC">
                  <p:embed/>
                </p:oleObj>
              </mc:Choice>
              <mc:Fallback>
                <p:oleObj name="Acrobat Document" showAsIcon="1" r:id="rId4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1633185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upo 8"/>
          <p:cNvGrpSpPr/>
          <p:nvPr/>
        </p:nvGrpSpPr>
        <p:grpSpPr>
          <a:xfrm>
            <a:off x="1581200" y="859374"/>
            <a:ext cx="9931572" cy="3855111"/>
            <a:chOff x="1927177" y="1322744"/>
            <a:chExt cx="9440576" cy="3686897"/>
          </a:xfrm>
        </p:grpSpPr>
        <p:pic>
          <p:nvPicPr>
            <p:cNvPr id="5" name="Imagen 4" descr="Recorte de pantalla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91219" y="1509623"/>
              <a:ext cx="7676534" cy="3484629"/>
            </a:xfrm>
            <a:prstGeom prst="rect">
              <a:avLst/>
            </a:prstGeom>
          </p:spPr>
        </p:pic>
        <p:sp>
          <p:nvSpPr>
            <p:cNvPr id="7" name="CuadroTexto 6"/>
            <p:cNvSpPr txBox="1"/>
            <p:nvPr/>
          </p:nvSpPr>
          <p:spPr>
            <a:xfrm>
              <a:off x="7119410" y="4748031"/>
              <a:ext cx="170751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Distance</a:t>
              </a:r>
              <a:r>
                <a:rPr lang="es-MX" sz="1100" b="1" dirty="0"/>
                <a:t> </a:t>
              </a:r>
              <a:r>
                <a:rPr lang="en-US" sz="1100" b="1" dirty="0"/>
                <a:t>between</a:t>
              </a:r>
              <a:r>
                <a:rPr lang="es-MX" sz="1100" b="1" dirty="0"/>
                <a:t> slots 6”</a:t>
              </a:r>
            </a:p>
          </p:txBody>
        </p:sp>
        <p:cxnSp>
          <p:nvCxnSpPr>
            <p:cNvPr id="20" name="Conector recto 19"/>
            <p:cNvCxnSpPr/>
            <p:nvPr/>
          </p:nvCxnSpPr>
          <p:spPr>
            <a:xfrm>
              <a:off x="5262113" y="2913801"/>
              <a:ext cx="66423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/>
            <p:nvPr/>
          </p:nvCxnSpPr>
          <p:spPr>
            <a:xfrm>
              <a:off x="5262113" y="3324994"/>
              <a:ext cx="66423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/>
            <p:nvPr/>
          </p:nvCxnSpPr>
          <p:spPr>
            <a:xfrm>
              <a:off x="5594230" y="2613691"/>
              <a:ext cx="0" cy="30011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ector recto de flecha 22"/>
            <p:cNvCxnSpPr/>
            <p:nvPr/>
          </p:nvCxnSpPr>
          <p:spPr>
            <a:xfrm>
              <a:off x="5594230" y="3151156"/>
              <a:ext cx="0" cy="17296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CuadroTexto 23"/>
            <p:cNvSpPr txBox="1"/>
            <p:nvPr/>
          </p:nvSpPr>
          <p:spPr>
            <a:xfrm>
              <a:off x="5046454" y="2399448"/>
              <a:ext cx="8798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/>
                <a:t>250mm</a:t>
              </a:r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3091683" y="2136988"/>
              <a:ext cx="1199071" cy="43088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s-MX" sz="1100" b="1" dirty="0"/>
                <a:t>Common Shut </a:t>
              </a:r>
              <a:r>
                <a:rPr lang="en-US" sz="1100" b="1" dirty="0"/>
                <a:t>Height</a:t>
              </a:r>
            </a:p>
          </p:txBody>
        </p:sp>
        <p:sp>
          <p:nvSpPr>
            <p:cNvPr id="36" name="Rectángulo 35"/>
            <p:cNvSpPr/>
            <p:nvPr/>
          </p:nvSpPr>
          <p:spPr>
            <a:xfrm>
              <a:off x="2801439" y="1322744"/>
              <a:ext cx="2460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Image with closed press</a:t>
              </a:r>
            </a:p>
          </p:txBody>
        </p:sp>
        <p:grpSp>
          <p:nvGrpSpPr>
            <p:cNvPr id="37" name="Grupo 36"/>
            <p:cNvGrpSpPr/>
            <p:nvPr/>
          </p:nvGrpSpPr>
          <p:grpSpPr>
            <a:xfrm>
              <a:off x="6884921" y="2174442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38" name="Rectángulo redondeado 37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ángulo 38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0" name="Grupo 39"/>
            <p:cNvGrpSpPr/>
            <p:nvPr/>
          </p:nvGrpSpPr>
          <p:grpSpPr>
            <a:xfrm>
              <a:off x="7942783" y="2174442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41" name="Rectángulo redondeado 40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Rectángulo 41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upo 42"/>
            <p:cNvGrpSpPr/>
            <p:nvPr/>
          </p:nvGrpSpPr>
          <p:grpSpPr>
            <a:xfrm>
              <a:off x="8734562" y="2195234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44" name="Rectángulo redondeado 43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Rectángulo 44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6" name="Grupo 45"/>
            <p:cNvGrpSpPr/>
            <p:nvPr/>
          </p:nvGrpSpPr>
          <p:grpSpPr>
            <a:xfrm>
              <a:off x="6094630" y="2144482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47" name="Rectángulo redondeado 46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Rectángulo 47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upo 48"/>
            <p:cNvGrpSpPr/>
            <p:nvPr/>
          </p:nvGrpSpPr>
          <p:grpSpPr>
            <a:xfrm>
              <a:off x="9518078" y="2183513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50" name="Rectángulo redondeado 49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ángulo 50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2" name="Grupo 51"/>
            <p:cNvGrpSpPr/>
            <p:nvPr/>
          </p:nvGrpSpPr>
          <p:grpSpPr>
            <a:xfrm>
              <a:off x="5316564" y="2123048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53" name="Rectángulo redondeado 52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Rectángulo 53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5" name="Conector recto de flecha 54"/>
            <p:cNvCxnSpPr/>
            <p:nvPr/>
          </p:nvCxnSpPr>
          <p:spPr>
            <a:xfrm>
              <a:off x="3349211" y="2013443"/>
              <a:ext cx="1974450" cy="3927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CuadroTexto 55"/>
            <p:cNvSpPr txBox="1"/>
            <p:nvPr/>
          </p:nvSpPr>
          <p:spPr>
            <a:xfrm>
              <a:off x="1927177" y="1628261"/>
              <a:ext cx="237802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Hydraulic</a:t>
              </a:r>
              <a:r>
                <a:rPr lang="es-MX" dirty="0"/>
                <a:t> </a:t>
              </a:r>
              <a:r>
                <a:rPr lang="en-US" dirty="0"/>
                <a:t>fixing</a:t>
              </a:r>
              <a:r>
                <a:rPr lang="es-MX" dirty="0"/>
                <a:t>  </a:t>
              </a:r>
              <a:r>
                <a:rPr lang="en-US" dirty="0"/>
                <a:t>system</a:t>
              </a:r>
            </a:p>
          </p:txBody>
        </p:sp>
        <p:cxnSp>
          <p:nvCxnSpPr>
            <p:cNvPr id="13" name="Conector recto 12"/>
            <p:cNvCxnSpPr/>
            <p:nvPr/>
          </p:nvCxnSpPr>
          <p:spPr>
            <a:xfrm flipV="1">
              <a:off x="4925683" y="3545457"/>
              <a:ext cx="5270740" cy="8626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Forma libre 2"/>
            <p:cNvSpPr/>
            <p:nvPr/>
          </p:nvSpPr>
          <p:spPr>
            <a:xfrm>
              <a:off x="8986520" y="2547620"/>
              <a:ext cx="2227580" cy="830580"/>
            </a:xfrm>
            <a:custGeom>
              <a:avLst/>
              <a:gdLst>
                <a:gd name="connsiteX0" fmla="*/ 2540 w 2227580"/>
                <a:gd name="connsiteY0" fmla="*/ 27940 h 830580"/>
                <a:gd name="connsiteX1" fmla="*/ 0 w 2227580"/>
                <a:gd name="connsiteY1" fmla="*/ 716280 h 830580"/>
                <a:gd name="connsiteX2" fmla="*/ 307340 w 2227580"/>
                <a:gd name="connsiteY2" fmla="*/ 683260 h 830580"/>
                <a:gd name="connsiteX3" fmla="*/ 1214120 w 2227580"/>
                <a:gd name="connsiteY3" fmla="*/ 739140 h 830580"/>
                <a:gd name="connsiteX4" fmla="*/ 1211580 w 2227580"/>
                <a:gd name="connsiteY4" fmla="*/ 812800 h 830580"/>
                <a:gd name="connsiteX5" fmla="*/ 2227580 w 2227580"/>
                <a:gd name="connsiteY5" fmla="*/ 830580 h 830580"/>
                <a:gd name="connsiteX6" fmla="*/ 2227580 w 2227580"/>
                <a:gd name="connsiteY6" fmla="*/ 739140 h 830580"/>
                <a:gd name="connsiteX7" fmla="*/ 2212340 w 2227580"/>
                <a:gd name="connsiteY7" fmla="*/ 7620 h 830580"/>
                <a:gd name="connsiteX8" fmla="*/ 2138680 w 2227580"/>
                <a:gd name="connsiteY8" fmla="*/ 2540 h 830580"/>
                <a:gd name="connsiteX9" fmla="*/ 2108200 w 2227580"/>
                <a:gd name="connsiteY9" fmla="*/ 0 h 830580"/>
                <a:gd name="connsiteX10" fmla="*/ 325120 w 2227580"/>
                <a:gd name="connsiteY10" fmla="*/ 2540 h 830580"/>
                <a:gd name="connsiteX11" fmla="*/ 2540 w 2227580"/>
                <a:gd name="connsiteY11" fmla="*/ 27940 h 83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27580" h="830580">
                  <a:moveTo>
                    <a:pt x="2540" y="27940"/>
                  </a:moveTo>
                  <a:cubicBezTo>
                    <a:pt x="1693" y="257387"/>
                    <a:pt x="847" y="486833"/>
                    <a:pt x="0" y="716280"/>
                  </a:cubicBezTo>
                  <a:lnTo>
                    <a:pt x="307340" y="683260"/>
                  </a:lnTo>
                  <a:lnTo>
                    <a:pt x="1214120" y="739140"/>
                  </a:lnTo>
                  <a:cubicBezTo>
                    <a:pt x="1213273" y="763693"/>
                    <a:pt x="1212427" y="788247"/>
                    <a:pt x="1211580" y="812800"/>
                  </a:cubicBezTo>
                  <a:lnTo>
                    <a:pt x="2227580" y="830580"/>
                  </a:lnTo>
                  <a:lnTo>
                    <a:pt x="2227580" y="739140"/>
                  </a:lnTo>
                  <a:lnTo>
                    <a:pt x="2212340" y="7620"/>
                  </a:lnTo>
                  <a:lnTo>
                    <a:pt x="2138680" y="2540"/>
                  </a:lnTo>
                  <a:cubicBezTo>
                    <a:pt x="2128512" y="1796"/>
                    <a:pt x="2108200" y="0"/>
                    <a:pt x="2108200" y="0"/>
                  </a:cubicBezTo>
                  <a:lnTo>
                    <a:pt x="325120" y="2540"/>
                  </a:lnTo>
                  <a:lnTo>
                    <a:pt x="2540" y="2794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57" name="Flecha izquierda 56"/>
            <p:cNvSpPr/>
            <p:nvPr/>
          </p:nvSpPr>
          <p:spPr>
            <a:xfrm>
              <a:off x="5486400" y="3772621"/>
              <a:ext cx="1381882" cy="449824"/>
            </a:xfrm>
            <a:prstGeom prst="lef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b="1" dirty="0"/>
                <a:t>FRONT  </a:t>
              </a:r>
              <a:r>
                <a:rPr lang="es-MX" sz="1100" b="1" dirty="0"/>
                <a:t>FLOW</a:t>
              </a:r>
              <a:endParaRPr lang="en-US" sz="1200" b="1" dirty="0"/>
            </a:p>
          </p:txBody>
        </p:sp>
      </p:grpSp>
      <p:grpSp>
        <p:nvGrpSpPr>
          <p:cNvPr id="8" name="Grupo 7"/>
          <p:cNvGrpSpPr/>
          <p:nvPr/>
        </p:nvGrpSpPr>
        <p:grpSpPr>
          <a:xfrm>
            <a:off x="76130" y="4026026"/>
            <a:ext cx="4374850" cy="2553557"/>
            <a:chOff x="232082" y="3441142"/>
            <a:chExt cx="5030031" cy="3305946"/>
          </a:xfrm>
        </p:grpSpPr>
        <p:pic>
          <p:nvPicPr>
            <p:cNvPr id="6" name="Imagen 5" descr="Recorte de pantalla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082" y="3737110"/>
              <a:ext cx="5030031" cy="2748368"/>
            </a:xfrm>
            <a:prstGeom prst="rect">
              <a:avLst/>
            </a:prstGeom>
          </p:spPr>
        </p:pic>
        <p:sp>
          <p:nvSpPr>
            <p:cNvPr id="32" name="CuadroTexto 31"/>
            <p:cNvSpPr txBox="1"/>
            <p:nvPr/>
          </p:nvSpPr>
          <p:spPr>
            <a:xfrm>
              <a:off x="2044821" y="6485478"/>
              <a:ext cx="16834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Distance</a:t>
              </a:r>
              <a:r>
                <a:rPr lang="es-MX" sz="1100" b="1" dirty="0"/>
                <a:t> </a:t>
              </a:r>
              <a:r>
                <a:rPr lang="en-US" sz="1100" b="1" dirty="0"/>
                <a:t>between</a:t>
              </a:r>
              <a:r>
                <a:rPr lang="es-MX" sz="1100" b="1" dirty="0"/>
                <a:t> </a:t>
              </a:r>
              <a:r>
                <a:rPr lang="en-US" sz="1100" b="1" dirty="0"/>
                <a:t>locator</a:t>
              </a:r>
              <a:endParaRPr lang="es-MX" sz="1100" b="1" dirty="0"/>
            </a:p>
          </p:txBody>
        </p:sp>
        <p:sp>
          <p:nvSpPr>
            <p:cNvPr id="34" name="CuadroTexto 33"/>
            <p:cNvSpPr txBox="1"/>
            <p:nvPr/>
          </p:nvSpPr>
          <p:spPr>
            <a:xfrm>
              <a:off x="2407639" y="4473465"/>
              <a:ext cx="5533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Bolster</a:t>
              </a:r>
            </a:p>
          </p:txBody>
        </p:sp>
        <p:grpSp>
          <p:nvGrpSpPr>
            <p:cNvPr id="30" name="Grupo 29"/>
            <p:cNvGrpSpPr/>
            <p:nvPr/>
          </p:nvGrpSpPr>
          <p:grpSpPr>
            <a:xfrm>
              <a:off x="270357" y="3441142"/>
              <a:ext cx="1812011" cy="517858"/>
              <a:chOff x="5112639" y="6157281"/>
              <a:chExt cx="2629597" cy="581880"/>
            </a:xfrm>
          </p:grpSpPr>
          <p:pic>
            <p:nvPicPr>
              <p:cNvPr id="31" name="Imagen 3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2639" y="6157281"/>
                <a:ext cx="620816" cy="581880"/>
              </a:xfrm>
              <a:prstGeom prst="rect">
                <a:avLst/>
              </a:prstGeom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</p:pic>
          <p:sp>
            <p:nvSpPr>
              <p:cNvPr id="33" name="CuadroTexto 32"/>
              <p:cNvSpPr txBox="1"/>
              <p:nvPr/>
            </p:nvSpPr>
            <p:spPr>
              <a:xfrm>
                <a:off x="5787940" y="6272074"/>
                <a:ext cx="1954296" cy="387954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Locator</a:t>
                </a:r>
                <a:r>
                  <a:rPr lang="es-MX" sz="1050" dirty="0"/>
                  <a:t> T021</a:t>
                </a:r>
                <a:endParaRPr lang="en-US" sz="1050" dirty="0"/>
              </a:p>
            </p:txBody>
          </p:sp>
        </p:grpSp>
      </p:grpSp>
      <p:grpSp>
        <p:nvGrpSpPr>
          <p:cNvPr id="68" name="Grupo 67"/>
          <p:cNvGrpSpPr/>
          <p:nvPr/>
        </p:nvGrpSpPr>
        <p:grpSpPr>
          <a:xfrm>
            <a:off x="4505409" y="4547733"/>
            <a:ext cx="4197752" cy="2167672"/>
            <a:chOff x="4216418" y="4686466"/>
            <a:chExt cx="4197752" cy="2167672"/>
          </a:xfrm>
        </p:grpSpPr>
        <p:grpSp>
          <p:nvGrpSpPr>
            <p:cNvPr id="69" name="Grupo 68"/>
            <p:cNvGrpSpPr/>
            <p:nvPr/>
          </p:nvGrpSpPr>
          <p:grpSpPr>
            <a:xfrm>
              <a:off x="6333072" y="5007148"/>
              <a:ext cx="2081098" cy="1846990"/>
              <a:chOff x="3432048" y="2147252"/>
              <a:chExt cx="2164080" cy="2901252"/>
            </a:xfrm>
          </p:grpSpPr>
          <p:pic>
            <p:nvPicPr>
              <p:cNvPr id="71" name="Imagen 70"/>
              <p:cNvPicPr>
                <a:picLocks noChangeAspect="1"/>
              </p:cNvPicPr>
              <p:nvPr/>
            </p:nvPicPr>
            <p:blipFill rotWithShape="1">
              <a:blip r:embed="rId9"/>
              <a:srcRect r="73702"/>
              <a:stretch/>
            </p:blipFill>
            <p:spPr>
              <a:xfrm>
                <a:off x="3755073" y="2147252"/>
                <a:ext cx="1841055" cy="2847975"/>
              </a:xfrm>
              <a:prstGeom prst="rect">
                <a:avLst/>
              </a:prstGeom>
            </p:spPr>
          </p:pic>
          <p:sp>
            <p:nvSpPr>
              <p:cNvPr id="72" name="Rectángulo 71"/>
              <p:cNvSpPr/>
              <p:nvPr/>
            </p:nvSpPr>
            <p:spPr>
              <a:xfrm>
                <a:off x="4561840" y="3901440"/>
                <a:ext cx="563880" cy="1778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cxnSp>
            <p:nvCxnSpPr>
              <p:cNvPr id="73" name="Conector recto 72"/>
              <p:cNvCxnSpPr/>
              <p:nvPr/>
            </p:nvCxnSpPr>
            <p:spPr>
              <a:xfrm flipH="1">
                <a:off x="3696208" y="4642104"/>
                <a:ext cx="865632" cy="1117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 recto 73"/>
              <p:cNvCxnSpPr/>
              <p:nvPr/>
            </p:nvCxnSpPr>
            <p:spPr>
              <a:xfrm flipH="1" flipV="1">
                <a:off x="3608833" y="3092712"/>
                <a:ext cx="816863" cy="43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ector recto de flecha 83"/>
              <p:cNvCxnSpPr/>
              <p:nvPr/>
            </p:nvCxnSpPr>
            <p:spPr>
              <a:xfrm>
                <a:off x="3870960" y="2707640"/>
                <a:ext cx="5080" cy="3302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cto de flecha 84"/>
              <p:cNvCxnSpPr/>
              <p:nvPr/>
            </p:nvCxnSpPr>
            <p:spPr>
              <a:xfrm flipV="1">
                <a:off x="3870960" y="4718304"/>
                <a:ext cx="0" cy="3302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CuadroTexto 85"/>
              <p:cNvSpPr txBox="1"/>
              <p:nvPr/>
            </p:nvSpPr>
            <p:spPr>
              <a:xfrm>
                <a:off x="3432048" y="3712464"/>
                <a:ext cx="904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solidFill>
                      <a:srgbClr val="FF0000"/>
                    </a:solidFill>
                  </a:rPr>
                  <a:t>425mm</a:t>
                </a:r>
              </a:p>
            </p:txBody>
          </p:sp>
        </p:grpSp>
        <p:sp>
          <p:nvSpPr>
            <p:cNvPr id="70" name="Llamada rectangular 69"/>
            <p:cNvSpPr/>
            <p:nvPr/>
          </p:nvSpPr>
          <p:spPr>
            <a:xfrm>
              <a:off x="4216418" y="4686466"/>
              <a:ext cx="2041577" cy="670121"/>
            </a:xfrm>
            <a:prstGeom prst="wedgeRectCallout">
              <a:avLst>
                <a:gd name="adj1" fmla="val 60683"/>
                <a:gd name="adj2" fmla="val 85118"/>
              </a:avLst>
            </a:prstGeom>
            <a:solidFill>
              <a:srgbClr val="FF0000"/>
            </a:solidFill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Common</a:t>
              </a:r>
              <a:r>
                <a:rPr lang="es-MX" sz="1050" dirty="0"/>
                <a:t> </a:t>
              </a:r>
              <a:r>
                <a:rPr lang="en-US" sz="1050" dirty="0"/>
                <a:t>coil</a:t>
              </a:r>
              <a:r>
                <a:rPr lang="es-MX" sz="1050" dirty="0"/>
                <a:t> </a:t>
              </a:r>
              <a:r>
                <a:rPr lang="en-US" sz="1050" dirty="0"/>
                <a:t>feed</a:t>
              </a:r>
              <a:r>
                <a:rPr lang="es-MX" sz="1050" dirty="0"/>
                <a:t> </a:t>
              </a:r>
              <a:r>
                <a:rPr lang="en-US" sz="1050" dirty="0"/>
                <a:t>height</a:t>
              </a:r>
              <a:r>
                <a:rPr lang="es-MX" sz="1050" dirty="0"/>
                <a:t> </a:t>
              </a:r>
              <a:r>
                <a:rPr lang="en-PH" sz="1050" dirty="0"/>
                <a:t>with</a:t>
              </a:r>
              <a:r>
                <a:rPr lang="es-MX" sz="1050" dirty="0"/>
                <a:t> </a:t>
              </a:r>
              <a:r>
                <a:rPr lang="en-US" sz="1050" dirty="0"/>
                <a:t>lifters</a:t>
              </a:r>
              <a:r>
                <a:rPr lang="es-MX" sz="1050" dirty="0"/>
                <a:t> extended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A9E94E11-BAFA-446A-9B60-8A5D28FE7B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1163" y="2663865"/>
            <a:ext cx="1689387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5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 descr="Recorte de pantalla"/>
          <p:cNvPicPr>
            <a:picLocks noGrp="1" noChangeAspect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0907" y="3653786"/>
            <a:ext cx="68586" cy="83827"/>
          </a:xfrm>
        </p:spPr>
      </p:pic>
      <p:sp>
        <p:nvSpPr>
          <p:cNvPr id="14" name="Marcador de número de diapositiva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13</a:t>
            </a:fld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267420" y="18555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PR17</a:t>
            </a:r>
          </a:p>
        </p:txBody>
      </p:sp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502432"/>
              </p:ext>
            </p:extLst>
          </p:nvPr>
        </p:nvGraphicFramePr>
        <p:xfrm>
          <a:off x="2183565" y="56169"/>
          <a:ext cx="9176375" cy="74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5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ángulo 10"/>
          <p:cNvSpPr/>
          <p:nvPr/>
        </p:nvSpPr>
        <p:spPr>
          <a:xfrm>
            <a:off x="9624947" y="2671587"/>
            <a:ext cx="159370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sz="800" b="1" dirty="0">
                <a:latin typeface="Calibri" panose="020F0502020204030204" pitchFamily="34" charset="0"/>
              </a:rPr>
              <a:t>Common</a:t>
            </a: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r>
              <a:rPr lang="en-US" sz="800" b="1" dirty="0">
                <a:latin typeface="Calibri" panose="020F0502020204030204" pitchFamily="34" charset="0"/>
              </a:rPr>
              <a:t>Coil Feed Height to Bols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10619117" y="2853717"/>
            <a:ext cx="1086928" cy="3039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425mm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0" y="955944"/>
            <a:ext cx="1360539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PROG</a:t>
            </a:r>
          </a:p>
        </p:txBody>
      </p:sp>
      <p:sp>
        <p:nvSpPr>
          <p:cNvPr id="28" name="Rectángulo 27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9549" y="4490912"/>
            <a:ext cx="2734931" cy="1966692"/>
          </a:xfrm>
          <a:prstGeom prst="rect">
            <a:avLst/>
          </a:prstGeom>
        </p:spPr>
      </p:pic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123970"/>
              </p:ext>
            </p:extLst>
          </p:nvPr>
        </p:nvGraphicFramePr>
        <p:xfrm>
          <a:off x="0" y="160919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" name="Acrobat Document" showAsIcon="1" r:id="rId6" imgW="914400" imgH="792360" progId="AcroExch.Document.DC">
                  <p:embed/>
                </p:oleObj>
              </mc:Choice>
              <mc:Fallback>
                <p:oleObj name="Acrobat Document" showAsIcon="1" r:id="rId6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160919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upo 25"/>
          <p:cNvGrpSpPr/>
          <p:nvPr/>
        </p:nvGrpSpPr>
        <p:grpSpPr>
          <a:xfrm>
            <a:off x="15214" y="4550700"/>
            <a:ext cx="5436467" cy="1940717"/>
            <a:chOff x="260597" y="4545579"/>
            <a:chExt cx="5436467" cy="1940717"/>
          </a:xfrm>
        </p:grpSpPr>
        <p:grpSp>
          <p:nvGrpSpPr>
            <p:cNvPr id="16" name="Grupo 15"/>
            <p:cNvGrpSpPr/>
            <p:nvPr/>
          </p:nvGrpSpPr>
          <p:grpSpPr>
            <a:xfrm>
              <a:off x="260597" y="4545579"/>
              <a:ext cx="5436467" cy="1940717"/>
              <a:chOff x="119443" y="4477377"/>
              <a:chExt cx="6324489" cy="2239167"/>
            </a:xfrm>
          </p:grpSpPr>
          <p:pic>
            <p:nvPicPr>
              <p:cNvPr id="15" name="Imagen 14" descr="Recorte de pantalla"/>
              <p:cNvPicPr>
                <a:picLocks noChangeAspect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9443" y="4477377"/>
                <a:ext cx="4803211" cy="2053496"/>
              </a:xfrm>
              <a:prstGeom prst="rect">
                <a:avLst/>
              </a:prstGeom>
            </p:spPr>
          </p:pic>
          <p:sp>
            <p:nvSpPr>
              <p:cNvPr id="33" name="CuadroTexto 32"/>
              <p:cNvSpPr txBox="1"/>
              <p:nvPr/>
            </p:nvSpPr>
            <p:spPr>
              <a:xfrm>
                <a:off x="828291" y="6431101"/>
                <a:ext cx="168347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/>
                  <a:t>Distance</a:t>
                </a:r>
                <a:r>
                  <a:rPr lang="es-MX" sz="1100" b="1" dirty="0"/>
                  <a:t> </a:t>
                </a:r>
                <a:r>
                  <a:rPr lang="en-US" sz="1100" b="1" dirty="0"/>
                  <a:t>between</a:t>
                </a:r>
                <a:r>
                  <a:rPr lang="es-MX" sz="1100" b="1" dirty="0"/>
                  <a:t> </a:t>
                </a:r>
                <a:r>
                  <a:rPr lang="en-US" sz="1100" b="1" dirty="0"/>
                  <a:t>locator</a:t>
                </a:r>
                <a:endParaRPr lang="es-MX" sz="1100" b="1" dirty="0"/>
              </a:p>
            </p:txBody>
          </p:sp>
          <p:grpSp>
            <p:nvGrpSpPr>
              <p:cNvPr id="35" name="Grupo 34"/>
              <p:cNvGrpSpPr/>
              <p:nvPr/>
            </p:nvGrpSpPr>
            <p:grpSpPr>
              <a:xfrm>
                <a:off x="4731709" y="6082353"/>
                <a:ext cx="1712223" cy="634191"/>
                <a:chOff x="5112639" y="6157281"/>
                <a:chExt cx="1957454" cy="581880"/>
              </a:xfrm>
            </p:grpSpPr>
            <p:pic>
              <p:nvPicPr>
                <p:cNvPr id="36" name="Imagen 35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12639" y="6157281"/>
                  <a:ext cx="620816" cy="581880"/>
                </a:xfrm>
                <a:prstGeom prst="rect">
                  <a:avLst/>
                </a:prstGeom>
                <a:ln w="3810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</p:pic>
            <p:sp>
              <p:nvSpPr>
                <p:cNvPr id="37" name="CuadroTexto 36"/>
                <p:cNvSpPr txBox="1"/>
                <p:nvPr/>
              </p:nvSpPr>
              <p:spPr>
                <a:xfrm>
                  <a:off x="5733454" y="6448221"/>
                  <a:ext cx="1336639" cy="232972"/>
                </a:xfrm>
                <a:prstGeom prst="rect">
                  <a:avLst/>
                </a:prstGeom>
                <a:noFill/>
                <a:ln w="3810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Locator</a:t>
                  </a:r>
                  <a:r>
                    <a:rPr lang="es-MX" sz="1050" dirty="0"/>
                    <a:t> T021</a:t>
                  </a:r>
                  <a:endParaRPr lang="en-US" sz="1050" dirty="0"/>
                </a:p>
              </p:txBody>
            </p:sp>
          </p:grpSp>
        </p:grpSp>
        <p:sp>
          <p:nvSpPr>
            <p:cNvPr id="34" name="CuadroTexto 33"/>
            <p:cNvSpPr txBox="1"/>
            <p:nvPr/>
          </p:nvSpPr>
          <p:spPr>
            <a:xfrm>
              <a:off x="1906886" y="4884037"/>
              <a:ext cx="5533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Bolster</a:t>
              </a:r>
            </a:p>
          </p:txBody>
        </p:sp>
      </p:grpSp>
      <p:sp>
        <p:nvSpPr>
          <p:cNvPr id="39" name="Rectángulo 38"/>
          <p:cNvSpPr/>
          <p:nvPr/>
        </p:nvSpPr>
        <p:spPr>
          <a:xfrm>
            <a:off x="3159358" y="965421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pSp>
        <p:nvGrpSpPr>
          <p:cNvPr id="25" name="Grupo 24"/>
          <p:cNvGrpSpPr/>
          <p:nvPr/>
        </p:nvGrpSpPr>
        <p:grpSpPr>
          <a:xfrm>
            <a:off x="4216418" y="4645646"/>
            <a:ext cx="4197752" cy="2167672"/>
            <a:chOff x="4216418" y="4686466"/>
            <a:chExt cx="4197752" cy="2167672"/>
          </a:xfrm>
        </p:grpSpPr>
        <p:grpSp>
          <p:nvGrpSpPr>
            <p:cNvPr id="40" name="Grupo 39"/>
            <p:cNvGrpSpPr/>
            <p:nvPr/>
          </p:nvGrpSpPr>
          <p:grpSpPr>
            <a:xfrm>
              <a:off x="6333072" y="5007148"/>
              <a:ext cx="2081098" cy="1846990"/>
              <a:chOff x="3432048" y="2147252"/>
              <a:chExt cx="2164080" cy="2901252"/>
            </a:xfrm>
          </p:grpSpPr>
          <p:pic>
            <p:nvPicPr>
              <p:cNvPr id="41" name="Imagen 40"/>
              <p:cNvPicPr>
                <a:picLocks noChangeAspect="1"/>
              </p:cNvPicPr>
              <p:nvPr/>
            </p:nvPicPr>
            <p:blipFill rotWithShape="1">
              <a:blip r:embed="rId10"/>
              <a:srcRect r="73702"/>
              <a:stretch/>
            </p:blipFill>
            <p:spPr>
              <a:xfrm>
                <a:off x="3755073" y="2147252"/>
                <a:ext cx="1841055" cy="2847975"/>
              </a:xfrm>
              <a:prstGeom prst="rect">
                <a:avLst/>
              </a:prstGeom>
            </p:spPr>
          </p:pic>
          <p:sp>
            <p:nvSpPr>
              <p:cNvPr id="42" name="Rectángulo 41"/>
              <p:cNvSpPr/>
              <p:nvPr/>
            </p:nvSpPr>
            <p:spPr>
              <a:xfrm>
                <a:off x="4561840" y="3901440"/>
                <a:ext cx="563880" cy="1778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cxnSp>
            <p:nvCxnSpPr>
              <p:cNvPr id="43" name="Conector recto 42"/>
              <p:cNvCxnSpPr/>
              <p:nvPr/>
            </p:nvCxnSpPr>
            <p:spPr>
              <a:xfrm flipH="1">
                <a:off x="3696208" y="4642104"/>
                <a:ext cx="865632" cy="1117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/>
              <p:cNvCxnSpPr/>
              <p:nvPr/>
            </p:nvCxnSpPr>
            <p:spPr>
              <a:xfrm flipH="1" flipV="1">
                <a:off x="3608833" y="3092712"/>
                <a:ext cx="816863" cy="43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de flecha 44"/>
              <p:cNvCxnSpPr/>
              <p:nvPr/>
            </p:nvCxnSpPr>
            <p:spPr>
              <a:xfrm>
                <a:off x="3870960" y="2707640"/>
                <a:ext cx="5080" cy="3302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de flecha 45"/>
              <p:cNvCxnSpPr/>
              <p:nvPr/>
            </p:nvCxnSpPr>
            <p:spPr>
              <a:xfrm flipV="1">
                <a:off x="3870960" y="4718304"/>
                <a:ext cx="0" cy="3302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CuadroTexto 47"/>
              <p:cNvSpPr txBox="1"/>
              <p:nvPr/>
            </p:nvSpPr>
            <p:spPr>
              <a:xfrm>
                <a:off x="3432048" y="3712464"/>
                <a:ext cx="904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solidFill>
                      <a:srgbClr val="FF0000"/>
                    </a:solidFill>
                  </a:rPr>
                  <a:t>425mm</a:t>
                </a:r>
              </a:p>
            </p:txBody>
          </p:sp>
        </p:grpSp>
        <p:sp>
          <p:nvSpPr>
            <p:cNvPr id="50" name="Llamada rectangular 49"/>
            <p:cNvSpPr/>
            <p:nvPr/>
          </p:nvSpPr>
          <p:spPr>
            <a:xfrm>
              <a:off x="4216418" y="4686466"/>
              <a:ext cx="2041577" cy="670121"/>
            </a:xfrm>
            <a:prstGeom prst="wedgeRectCallout">
              <a:avLst>
                <a:gd name="adj1" fmla="val 60683"/>
                <a:gd name="adj2" fmla="val 85118"/>
              </a:avLst>
            </a:prstGeom>
            <a:solidFill>
              <a:srgbClr val="FF0000"/>
            </a:solidFill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Common</a:t>
              </a:r>
              <a:r>
                <a:rPr lang="es-MX" sz="1050" dirty="0"/>
                <a:t> </a:t>
              </a:r>
              <a:r>
                <a:rPr lang="en-US" sz="1050" dirty="0"/>
                <a:t>coil</a:t>
              </a:r>
              <a:r>
                <a:rPr lang="es-MX" sz="1050" dirty="0"/>
                <a:t> </a:t>
              </a:r>
              <a:r>
                <a:rPr lang="en-US" sz="1050" dirty="0"/>
                <a:t>feed</a:t>
              </a:r>
              <a:r>
                <a:rPr lang="es-MX" sz="1050" dirty="0"/>
                <a:t> </a:t>
              </a:r>
              <a:r>
                <a:rPr lang="en-US" sz="1050" dirty="0"/>
                <a:t>height</a:t>
              </a:r>
              <a:r>
                <a:rPr lang="es-MX" sz="1050" dirty="0"/>
                <a:t> </a:t>
              </a:r>
              <a:r>
                <a:rPr lang="en-PH" sz="1050" dirty="0"/>
                <a:t>with</a:t>
              </a:r>
              <a:r>
                <a:rPr lang="es-MX" sz="1050" dirty="0"/>
                <a:t> </a:t>
              </a:r>
              <a:r>
                <a:rPr lang="en-US" sz="1050" dirty="0"/>
                <a:t>lifters</a:t>
              </a:r>
              <a:r>
                <a:rPr lang="es-MX" sz="1050" dirty="0"/>
                <a:t> extended</a:t>
              </a:r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1141117" y="912999"/>
            <a:ext cx="10695283" cy="3560679"/>
            <a:chOff x="1141117" y="912999"/>
            <a:chExt cx="10695283" cy="3560679"/>
          </a:xfrm>
        </p:grpSpPr>
        <p:grpSp>
          <p:nvGrpSpPr>
            <p:cNvPr id="23" name="Grupo 22"/>
            <p:cNvGrpSpPr/>
            <p:nvPr/>
          </p:nvGrpSpPr>
          <p:grpSpPr>
            <a:xfrm>
              <a:off x="1141117" y="912999"/>
              <a:ext cx="9528793" cy="3560679"/>
              <a:chOff x="2368546" y="986444"/>
              <a:chExt cx="9528793" cy="3560679"/>
            </a:xfrm>
          </p:grpSpPr>
          <p:grpSp>
            <p:nvGrpSpPr>
              <p:cNvPr id="19" name="Grupo 18"/>
              <p:cNvGrpSpPr/>
              <p:nvPr/>
            </p:nvGrpSpPr>
            <p:grpSpPr>
              <a:xfrm>
                <a:off x="3073510" y="1058798"/>
                <a:ext cx="8823829" cy="3488325"/>
                <a:chOff x="2968082" y="1109555"/>
                <a:chExt cx="8823829" cy="3488325"/>
              </a:xfrm>
            </p:grpSpPr>
            <p:pic>
              <p:nvPicPr>
                <p:cNvPr id="5" name="Imagen 4" descr="Recorte de pantalla"/>
                <p:cNvPicPr>
                  <a:picLocks noChangeAspect="1"/>
                </p:cNvPicPr>
                <p:nvPr/>
              </p:nvPicPr>
              <p:blipFill>
                <a:blip r:embed="rId1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68082" y="1109555"/>
                  <a:ext cx="8823829" cy="3488325"/>
                </a:xfrm>
                <a:prstGeom prst="rect">
                  <a:avLst/>
                </a:prstGeom>
              </p:spPr>
            </p:pic>
            <p:cxnSp>
              <p:nvCxnSpPr>
                <p:cNvPr id="17" name="Conector recto 16"/>
                <p:cNvCxnSpPr/>
                <p:nvPr/>
              </p:nvCxnSpPr>
              <p:spPr>
                <a:xfrm>
                  <a:off x="5020574" y="2902789"/>
                  <a:ext cx="66423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ector recto 19"/>
                <p:cNvCxnSpPr/>
                <p:nvPr/>
              </p:nvCxnSpPr>
              <p:spPr>
                <a:xfrm>
                  <a:off x="5020574" y="3633159"/>
                  <a:ext cx="66423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ector recto de flecha 21"/>
                <p:cNvCxnSpPr/>
                <p:nvPr/>
              </p:nvCxnSpPr>
              <p:spPr>
                <a:xfrm flipV="1">
                  <a:off x="5354128" y="2902789"/>
                  <a:ext cx="0" cy="2000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Conector recto de flecha 23"/>
                <p:cNvCxnSpPr/>
                <p:nvPr/>
              </p:nvCxnSpPr>
              <p:spPr>
                <a:xfrm>
                  <a:off x="5368505" y="3460198"/>
                  <a:ext cx="0" cy="1729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" name="CuadroTexto 28"/>
                <p:cNvSpPr txBox="1"/>
                <p:nvPr/>
              </p:nvSpPr>
              <p:spPr>
                <a:xfrm>
                  <a:off x="4804915" y="3129475"/>
                  <a:ext cx="8798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200" dirty="0"/>
                    <a:t>250mm</a:t>
                  </a:r>
                </a:p>
              </p:txBody>
            </p:sp>
          </p:grpSp>
          <p:sp>
            <p:nvSpPr>
              <p:cNvPr id="13" name="CuadroTexto 12"/>
              <p:cNvSpPr txBox="1"/>
              <p:nvPr/>
            </p:nvSpPr>
            <p:spPr>
              <a:xfrm>
                <a:off x="6777274" y="986444"/>
                <a:ext cx="156645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solidFill>
                      <a:srgbClr val="000000"/>
                    </a:solidFill>
                  </a:rPr>
                  <a:t>Distance</a:t>
                </a:r>
                <a:r>
                  <a:rPr lang="es-MX" sz="1000" b="1" dirty="0">
                    <a:solidFill>
                      <a:srgbClr val="000000"/>
                    </a:solidFill>
                  </a:rPr>
                  <a:t> </a:t>
                </a:r>
                <a:r>
                  <a:rPr lang="en-US" sz="1000" b="1" dirty="0">
                    <a:solidFill>
                      <a:srgbClr val="000000"/>
                    </a:solidFill>
                  </a:rPr>
                  <a:t>between</a:t>
                </a:r>
                <a:r>
                  <a:rPr lang="es-MX" sz="1000" b="1" dirty="0">
                    <a:solidFill>
                      <a:srgbClr val="000000"/>
                    </a:solidFill>
                  </a:rPr>
                  <a:t> slots </a:t>
                </a:r>
                <a:r>
                  <a:rPr lang="es-MX" sz="1000" dirty="0"/>
                  <a:t>6”</a:t>
                </a:r>
              </a:p>
            </p:txBody>
          </p:sp>
          <p:sp>
            <p:nvSpPr>
              <p:cNvPr id="10" name="CuadroTexto 9"/>
              <p:cNvSpPr txBox="1"/>
              <p:nvPr/>
            </p:nvSpPr>
            <p:spPr>
              <a:xfrm>
                <a:off x="2368546" y="2328940"/>
                <a:ext cx="1199071" cy="430887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MX" sz="1100" b="1" dirty="0"/>
                  <a:t>Common </a:t>
                </a:r>
                <a:r>
                  <a:rPr lang="en-US" sz="1100" b="1" dirty="0"/>
                  <a:t>Shut</a:t>
                </a:r>
                <a:r>
                  <a:rPr lang="es-MX" sz="1100" b="1" dirty="0"/>
                  <a:t> Height</a:t>
                </a:r>
              </a:p>
            </p:txBody>
          </p:sp>
          <p:sp>
            <p:nvSpPr>
              <p:cNvPr id="7" name="Rectángulo 6"/>
              <p:cNvSpPr/>
              <p:nvPr/>
            </p:nvSpPr>
            <p:spPr>
              <a:xfrm>
                <a:off x="8656957" y="4143894"/>
                <a:ext cx="1709122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MX" sz="1100" b="1" dirty="0">
                    <a:solidFill>
                      <a:srgbClr val="000000"/>
                    </a:solidFill>
                  </a:rPr>
                  <a:t>Distance </a:t>
                </a:r>
                <a:r>
                  <a:rPr lang="en-US" sz="1100" b="1" dirty="0">
                    <a:solidFill>
                      <a:srgbClr val="000000"/>
                    </a:solidFill>
                  </a:rPr>
                  <a:t>between</a:t>
                </a:r>
                <a:r>
                  <a:rPr lang="es-MX" sz="1100" b="1" dirty="0">
                    <a:solidFill>
                      <a:srgbClr val="000000"/>
                    </a:solidFill>
                  </a:rPr>
                  <a:t> slots 6”</a:t>
                </a:r>
                <a:endParaRPr lang="es-MX" sz="1100" b="1" dirty="0"/>
              </a:p>
            </p:txBody>
          </p:sp>
          <p:sp>
            <p:nvSpPr>
              <p:cNvPr id="49" name="Flecha izquierda 48"/>
              <p:cNvSpPr/>
              <p:nvPr/>
            </p:nvSpPr>
            <p:spPr>
              <a:xfrm>
                <a:off x="5121579" y="3859207"/>
                <a:ext cx="1381882" cy="449824"/>
              </a:xfrm>
              <a:prstGeom prst="leftArrow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200" b="1" dirty="0"/>
                  <a:t>FRONT  </a:t>
                </a:r>
                <a:r>
                  <a:rPr lang="es-MX" sz="1100" b="1" dirty="0"/>
                  <a:t>FLOW</a:t>
                </a:r>
                <a:endParaRPr lang="en-US" sz="1200" b="1" dirty="0"/>
              </a:p>
            </p:txBody>
          </p:sp>
        </p:grpSp>
        <p:sp>
          <p:nvSpPr>
            <p:cNvPr id="27" name="Forma libre 26"/>
            <p:cNvSpPr/>
            <p:nvPr/>
          </p:nvSpPr>
          <p:spPr>
            <a:xfrm>
              <a:off x="8392160" y="2296160"/>
              <a:ext cx="3444240" cy="1290320"/>
            </a:xfrm>
            <a:custGeom>
              <a:avLst/>
              <a:gdLst>
                <a:gd name="connsiteX0" fmla="*/ 0 w 3444240"/>
                <a:gd name="connsiteY0" fmla="*/ 0 h 1290320"/>
                <a:gd name="connsiteX1" fmla="*/ 0 w 3444240"/>
                <a:gd name="connsiteY1" fmla="*/ 1188720 h 1290320"/>
                <a:gd name="connsiteX2" fmla="*/ 538480 w 3444240"/>
                <a:gd name="connsiteY2" fmla="*/ 1188720 h 1290320"/>
                <a:gd name="connsiteX3" fmla="*/ 568960 w 3444240"/>
                <a:gd name="connsiteY3" fmla="*/ 1097280 h 1290320"/>
                <a:gd name="connsiteX4" fmla="*/ 568960 w 3444240"/>
                <a:gd name="connsiteY4" fmla="*/ 995680 h 1290320"/>
                <a:gd name="connsiteX5" fmla="*/ 731520 w 3444240"/>
                <a:gd name="connsiteY5" fmla="*/ 1016000 h 1290320"/>
                <a:gd name="connsiteX6" fmla="*/ 782320 w 3444240"/>
                <a:gd name="connsiteY6" fmla="*/ 1178560 h 1290320"/>
                <a:gd name="connsiteX7" fmla="*/ 894080 w 3444240"/>
                <a:gd name="connsiteY7" fmla="*/ 1137920 h 1290320"/>
                <a:gd name="connsiteX8" fmla="*/ 944880 w 3444240"/>
                <a:gd name="connsiteY8" fmla="*/ 1127760 h 1290320"/>
                <a:gd name="connsiteX9" fmla="*/ 1005840 w 3444240"/>
                <a:gd name="connsiteY9" fmla="*/ 1107440 h 1290320"/>
                <a:gd name="connsiteX10" fmla="*/ 1066800 w 3444240"/>
                <a:gd name="connsiteY10" fmla="*/ 1097280 h 1290320"/>
                <a:gd name="connsiteX11" fmla="*/ 1584960 w 3444240"/>
                <a:gd name="connsiteY11" fmla="*/ 1178560 h 1290320"/>
                <a:gd name="connsiteX12" fmla="*/ 1625600 w 3444240"/>
                <a:gd name="connsiteY12" fmla="*/ 1290320 h 1290320"/>
                <a:gd name="connsiteX13" fmla="*/ 1706880 w 3444240"/>
                <a:gd name="connsiteY13" fmla="*/ 1239520 h 1290320"/>
                <a:gd name="connsiteX14" fmla="*/ 1798320 w 3444240"/>
                <a:gd name="connsiteY14" fmla="*/ 1219200 h 1290320"/>
                <a:gd name="connsiteX15" fmla="*/ 3444240 w 3444240"/>
                <a:gd name="connsiteY15" fmla="*/ 1178560 h 1290320"/>
                <a:gd name="connsiteX16" fmla="*/ 3423920 w 3444240"/>
                <a:gd name="connsiteY16" fmla="*/ 955040 h 1290320"/>
                <a:gd name="connsiteX17" fmla="*/ 3393440 w 3444240"/>
                <a:gd name="connsiteY17" fmla="*/ 873760 h 1290320"/>
                <a:gd name="connsiteX18" fmla="*/ 3383280 w 3444240"/>
                <a:gd name="connsiteY18" fmla="*/ 802640 h 1290320"/>
                <a:gd name="connsiteX19" fmla="*/ 3342640 w 3444240"/>
                <a:gd name="connsiteY19" fmla="*/ 30480 h 1290320"/>
                <a:gd name="connsiteX20" fmla="*/ 3230880 w 3444240"/>
                <a:gd name="connsiteY20" fmla="*/ 30480 h 1290320"/>
                <a:gd name="connsiteX21" fmla="*/ 0 w 3444240"/>
                <a:gd name="connsiteY21" fmla="*/ 0 h 129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44240" h="1290320">
                  <a:moveTo>
                    <a:pt x="0" y="0"/>
                  </a:moveTo>
                  <a:lnTo>
                    <a:pt x="0" y="1188720"/>
                  </a:lnTo>
                  <a:lnTo>
                    <a:pt x="538480" y="1188720"/>
                  </a:lnTo>
                  <a:lnTo>
                    <a:pt x="568960" y="1097280"/>
                  </a:lnTo>
                  <a:lnTo>
                    <a:pt x="568960" y="995680"/>
                  </a:lnTo>
                  <a:lnTo>
                    <a:pt x="731520" y="1016000"/>
                  </a:lnTo>
                  <a:lnTo>
                    <a:pt x="782320" y="1178560"/>
                  </a:lnTo>
                  <a:cubicBezTo>
                    <a:pt x="819573" y="1165013"/>
                    <a:pt x="856244" y="1149744"/>
                    <a:pt x="894080" y="1137920"/>
                  </a:cubicBezTo>
                  <a:cubicBezTo>
                    <a:pt x="910563" y="1132769"/>
                    <a:pt x="928220" y="1132304"/>
                    <a:pt x="944880" y="1127760"/>
                  </a:cubicBezTo>
                  <a:cubicBezTo>
                    <a:pt x="965544" y="1122124"/>
                    <a:pt x="985060" y="1112635"/>
                    <a:pt x="1005840" y="1107440"/>
                  </a:cubicBezTo>
                  <a:cubicBezTo>
                    <a:pt x="1025825" y="1102444"/>
                    <a:pt x="1066800" y="1097280"/>
                    <a:pt x="1066800" y="1097280"/>
                  </a:cubicBezTo>
                  <a:lnTo>
                    <a:pt x="1584960" y="1178560"/>
                  </a:lnTo>
                  <a:lnTo>
                    <a:pt x="1625600" y="1290320"/>
                  </a:lnTo>
                  <a:cubicBezTo>
                    <a:pt x="1652693" y="1273387"/>
                    <a:pt x="1677337" y="1251685"/>
                    <a:pt x="1706880" y="1239520"/>
                  </a:cubicBezTo>
                  <a:cubicBezTo>
                    <a:pt x="1735752" y="1227632"/>
                    <a:pt x="1798320" y="1219200"/>
                    <a:pt x="1798320" y="1219200"/>
                  </a:cubicBezTo>
                  <a:lnTo>
                    <a:pt x="3444240" y="1178560"/>
                  </a:lnTo>
                  <a:cubicBezTo>
                    <a:pt x="3437467" y="1104053"/>
                    <a:pt x="3436219" y="1028836"/>
                    <a:pt x="3423920" y="955040"/>
                  </a:cubicBezTo>
                  <a:cubicBezTo>
                    <a:pt x="3419163" y="926498"/>
                    <a:pt x="3400896" y="901719"/>
                    <a:pt x="3393440" y="873760"/>
                  </a:cubicBezTo>
                  <a:cubicBezTo>
                    <a:pt x="3387270" y="850621"/>
                    <a:pt x="3383280" y="802640"/>
                    <a:pt x="3383280" y="802640"/>
                  </a:cubicBezTo>
                  <a:lnTo>
                    <a:pt x="3342640" y="30480"/>
                  </a:lnTo>
                  <a:lnTo>
                    <a:pt x="3230880" y="30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3FB5C0EC-3D36-407E-89DC-790AACF24E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34" y="3180963"/>
            <a:ext cx="173622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4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641293"/>
              </p:ext>
            </p:extLst>
          </p:nvPr>
        </p:nvGraphicFramePr>
        <p:xfrm>
          <a:off x="1998559" y="57526"/>
          <a:ext cx="9305777" cy="74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58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uadroTexto 10"/>
          <p:cNvSpPr txBox="1"/>
          <p:nvPr/>
        </p:nvSpPr>
        <p:spPr>
          <a:xfrm>
            <a:off x="250166" y="271506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 18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0" y="967746"/>
            <a:ext cx="1360539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PROG</a:t>
            </a:r>
          </a:p>
        </p:txBody>
      </p:sp>
      <p:sp>
        <p:nvSpPr>
          <p:cNvPr id="19" name="Marcador de número de diapositiva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14</a:t>
            </a:fld>
            <a:endParaRPr lang="es-MX" dirty="0"/>
          </a:p>
        </p:txBody>
      </p:sp>
      <p:sp>
        <p:nvSpPr>
          <p:cNvPr id="21" name="Rectángulo 20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4" name="Objeto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982075"/>
              </p:ext>
            </p:extLst>
          </p:nvPr>
        </p:nvGraphicFramePr>
        <p:xfrm>
          <a:off x="0" y="1624032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9" name="Acrobat Document" showAsIcon="1" r:id="rId3" imgW="914400" imgH="792360" progId="AcroExch.Document.DC">
                  <p:embed/>
                </p:oleObj>
              </mc:Choice>
              <mc:Fallback>
                <p:oleObj name="Acrobat Document" showAsIcon="1" r:id="rId3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1624032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upo 16"/>
          <p:cNvGrpSpPr/>
          <p:nvPr/>
        </p:nvGrpSpPr>
        <p:grpSpPr>
          <a:xfrm>
            <a:off x="1451231" y="982066"/>
            <a:ext cx="10395147" cy="3708729"/>
            <a:chOff x="2487561" y="1040060"/>
            <a:chExt cx="9696172" cy="3443525"/>
          </a:xfrm>
        </p:grpSpPr>
        <p:sp>
          <p:nvSpPr>
            <p:cNvPr id="5" name="CuadroTexto 4"/>
            <p:cNvSpPr txBox="1"/>
            <p:nvPr/>
          </p:nvSpPr>
          <p:spPr>
            <a:xfrm>
              <a:off x="4081724" y="2877587"/>
              <a:ext cx="1085499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MX" sz="1600" dirty="0"/>
                <a:t>425 mm</a:t>
              </a:r>
            </a:p>
          </p:txBody>
        </p:sp>
        <p:pic>
          <p:nvPicPr>
            <p:cNvPr id="4" name="Imagen 3" descr="Recorte de pantalla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60100" y="1419695"/>
              <a:ext cx="7711595" cy="3063890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10984662" y="2169776"/>
              <a:ext cx="1199071" cy="43088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s-MX" sz="1100" b="1" dirty="0"/>
                <a:t>Common </a:t>
              </a:r>
              <a:r>
                <a:rPr lang="en-US" sz="1100" b="1" dirty="0"/>
                <a:t>Shut</a:t>
              </a:r>
              <a:r>
                <a:rPr lang="es-MX" sz="1100" b="1" dirty="0"/>
                <a:t> Height</a:t>
              </a:r>
            </a:p>
          </p:txBody>
        </p:sp>
        <p:sp>
          <p:nvSpPr>
            <p:cNvPr id="2" name="CuadroTexto 1"/>
            <p:cNvSpPr txBox="1"/>
            <p:nvPr/>
          </p:nvSpPr>
          <p:spPr>
            <a:xfrm>
              <a:off x="10377576" y="3398594"/>
              <a:ext cx="948907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MX" sz="1600" dirty="0"/>
                <a:t>200mm</a:t>
              </a:r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8411471" y="3737148"/>
              <a:ext cx="150714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Distance</a:t>
              </a:r>
              <a:r>
                <a:rPr lang="es-MX" sz="1100" dirty="0">
                  <a:solidFill>
                    <a:srgbClr val="000000"/>
                  </a:solidFill>
                </a:rPr>
                <a:t> </a:t>
              </a:r>
              <a:r>
                <a:rPr lang="en-US" sz="1100" dirty="0">
                  <a:solidFill>
                    <a:srgbClr val="000000"/>
                  </a:solidFill>
                </a:rPr>
                <a:t>between</a:t>
              </a:r>
              <a:r>
                <a:rPr lang="es-MX" sz="1100" dirty="0">
                  <a:solidFill>
                    <a:srgbClr val="000000"/>
                  </a:solidFill>
                </a:rPr>
                <a:t> slots</a:t>
              </a:r>
              <a:endParaRPr lang="es-MX" sz="1100" dirty="0"/>
            </a:p>
          </p:txBody>
        </p:sp>
        <p:grpSp>
          <p:nvGrpSpPr>
            <p:cNvPr id="28" name="Grupo 27"/>
            <p:cNvGrpSpPr/>
            <p:nvPr/>
          </p:nvGrpSpPr>
          <p:grpSpPr>
            <a:xfrm>
              <a:off x="8189979" y="1921792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29" name="Rectángulo redondeado 28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Rectángulo 29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upo 30"/>
            <p:cNvGrpSpPr/>
            <p:nvPr/>
          </p:nvGrpSpPr>
          <p:grpSpPr>
            <a:xfrm>
              <a:off x="6867182" y="1941436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32" name="Rectángulo redondeado 31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ángulo 32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upo 33"/>
            <p:cNvGrpSpPr/>
            <p:nvPr/>
          </p:nvGrpSpPr>
          <p:grpSpPr>
            <a:xfrm>
              <a:off x="5884045" y="1943226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35" name="Rectángulo redondeado 34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ángulo 35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7" name="Grupo 36"/>
            <p:cNvGrpSpPr/>
            <p:nvPr/>
          </p:nvGrpSpPr>
          <p:grpSpPr>
            <a:xfrm>
              <a:off x="9173773" y="1947269"/>
              <a:ext cx="275303" cy="337836"/>
              <a:chOff x="3274142" y="1382809"/>
              <a:chExt cx="275303" cy="337836"/>
            </a:xfrm>
            <a:solidFill>
              <a:srgbClr val="FF0000"/>
            </a:solidFill>
          </p:grpSpPr>
          <p:sp>
            <p:nvSpPr>
              <p:cNvPr id="38" name="Rectángulo redondeado 37"/>
              <p:cNvSpPr/>
              <p:nvPr/>
            </p:nvSpPr>
            <p:spPr>
              <a:xfrm>
                <a:off x="3274142" y="1573161"/>
                <a:ext cx="275303" cy="147484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ángulo 38"/>
              <p:cNvSpPr/>
              <p:nvPr/>
            </p:nvSpPr>
            <p:spPr>
              <a:xfrm>
                <a:off x="3387212" y="1382809"/>
                <a:ext cx="49161" cy="19664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41" name="Conector recto de flecha 40"/>
            <p:cNvCxnSpPr>
              <a:endCxn id="35" idx="1"/>
            </p:cNvCxnSpPr>
            <p:nvPr/>
          </p:nvCxnSpPr>
          <p:spPr>
            <a:xfrm>
              <a:off x="3909595" y="1814593"/>
              <a:ext cx="1974450" cy="3927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CuadroTexto 43"/>
            <p:cNvSpPr txBox="1"/>
            <p:nvPr/>
          </p:nvSpPr>
          <p:spPr>
            <a:xfrm>
              <a:off x="2487561" y="1429411"/>
              <a:ext cx="2378023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Hydraulic</a:t>
              </a:r>
              <a:r>
                <a:rPr lang="es-MX" dirty="0"/>
                <a:t> </a:t>
              </a:r>
              <a:r>
                <a:rPr lang="en-US" dirty="0"/>
                <a:t>fixing</a:t>
              </a:r>
              <a:r>
                <a:rPr lang="es-MX" dirty="0"/>
                <a:t>  </a:t>
              </a:r>
              <a:r>
                <a:rPr lang="en-US" dirty="0"/>
                <a:t>system</a:t>
              </a:r>
            </a:p>
          </p:txBody>
        </p:sp>
        <p:sp>
          <p:nvSpPr>
            <p:cNvPr id="53" name="Rectángulo 52"/>
            <p:cNvSpPr/>
            <p:nvPr/>
          </p:nvSpPr>
          <p:spPr>
            <a:xfrm>
              <a:off x="4681811" y="1040060"/>
              <a:ext cx="2460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Image with closed press</a:t>
              </a:r>
            </a:p>
          </p:txBody>
        </p:sp>
        <p:sp>
          <p:nvSpPr>
            <p:cNvPr id="42" name="CuadroTexto 41"/>
            <p:cNvSpPr txBox="1"/>
            <p:nvPr/>
          </p:nvSpPr>
          <p:spPr>
            <a:xfrm>
              <a:off x="7117195" y="1306300"/>
              <a:ext cx="156645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000000"/>
                  </a:solidFill>
                </a:rPr>
                <a:t>Distance</a:t>
              </a:r>
              <a:r>
                <a:rPr lang="es-MX" sz="1000" b="1" dirty="0">
                  <a:solidFill>
                    <a:srgbClr val="000000"/>
                  </a:solidFill>
                </a:rPr>
                <a:t> </a:t>
              </a:r>
              <a:r>
                <a:rPr lang="en-US" sz="1000" b="1" dirty="0">
                  <a:solidFill>
                    <a:srgbClr val="000000"/>
                  </a:solidFill>
                </a:rPr>
                <a:t>between</a:t>
              </a:r>
              <a:r>
                <a:rPr lang="es-MX" sz="1000" b="1" dirty="0">
                  <a:solidFill>
                    <a:srgbClr val="000000"/>
                  </a:solidFill>
                </a:rPr>
                <a:t> slots </a:t>
              </a:r>
              <a:r>
                <a:rPr lang="es-MX" sz="1000" dirty="0"/>
                <a:t>6”</a:t>
              </a:r>
            </a:p>
          </p:txBody>
        </p:sp>
        <p:sp>
          <p:nvSpPr>
            <p:cNvPr id="7" name="Forma libre 6"/>
            <p:cNvSpPr/>
            <p:nvPr/>
          </p:nvSpPr>
          <p:spPr>
            <a:xfrm>
              <a:off x="3947160" y="2495550"/>
              <a:ext cx="1215390" cy="982980"/>
            </a:xfrm>
            <a:custGeom>
              <a:avLst/>
              <a:gdLst>
                <a:gd name="connsiteX0" fmla="*/ 22860 w 1215390"/>
                <a:gd name="connsiteY0" fmla="*/ 57150 h 982980"/>
                <a:gd name="connsiteX1" fmla="*/ 22860 w 1215390"/>
                <a:gd name="connsiteY1" fmla="*/ 57150 h 982980"/>
                <a:gd name="connsiteX2" fmla="*/ 87630 w 1215390"/>
                <a:gd name="connsiteY2" fmla="*/ 38100 h 982980"/>
                <a:gd name="connsiteX3" fmla="*/ 167640 w 1215390"/>
                <a:gd name="connsiteY3" fmla="*/ 15240 h 982980"/>
                <a:gd name="connsiteX4" fmla="*/ 217170 w 1215390"/>
                <a:gd name="connsiteY4" fmla="*/ 7620 h 982980"/>
                <a:gd name="connsiteX5" fmla="*/ 281940 w 1215390"/>
                <a:gd name="connsiteY5" fmla="*/ 0 h 982980"/>
                <a:gd name="connsiteX6" fmla="*/ 1188720 w 1215390"/>
                <a:gd name="connsiteY6" fmla="*/ 102870 h 982980"/>
                <a:gd name="connsiteX7" fmla="*/ 1215390 w 1215390"/>
                <a:gd name="connsiteY7" fmla="*/ 876300 h 982980"/>
                <a:gd name="connsiteX8" fmla="*/ 1074420 w 1215390"/>
                <a:gd name="connsiteY8" fmla="*/ 872490 h 982980"/>
                <a:gd name="connsiteX9" fmla="*/ 986790 w 1215390"/>
                <a:gd name="connsiteY9" fmla="*/ 971550 h 982980"/>
                <a:gd name="connsiteX10" fmla="*/ 15240 w 1215390"/>
                <a:gd name="connsiteY10" fmla="*/ 982980 h 982980"/>
                <a:gd name="connsiteX11" fmla="*/ 0 w 1215390"/>
                <a:gd name="connsiteY11" fmla="*/ 937260 h 982980"/>
                <a:gd name="connsiteX12" fmla="*/ 22860 w 1215390"/>
                <a:gd name="connsiteY12" fmla="*/ 57150 h 982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5390" h="982980">
                  <a:moveTo>
                    <a:pt x="22860" y="57150"/>
                  </a:moveTo>
                  <a:lnTo>
                    <a:pt x="22860" y="57150"/>
                  </a:lnTo>
                  <a:cubicBezTo>
                    <a:pt x="44450" y="50800"/>
                    <a:pt x="66280" y="45217"/>
                    <a:pt x="87630" y="38100"/>
                  </a:cubicBezTo>
                  <a:cubicBezTo>
                    <a:pt x="120312" y="27206"/>
                    <a:pt x="131760" y="22416"/>
                    <a:pt x="167640" y="15240"/>
                  </a:cubicBezTo>
                  <a:cubicBezTo>
                    <a:pt x="184020" y="11964"/>
                    <a:pt x="200612" y="9828"/>
                    <a:pt x="217170" y="7620"/>
                  </a:cubicBezTo>
                  <a:cubicBezTo>
                    <a:pt x="238718" y="4747"/>
                    <a:pt x="281940" y="0"/>
                    <a:pt x="281940" y="0"/>
                  </a:cubicBezTo>
                  <a:lnTo>
                    <a:pt x="1188720" y="102870"/>
                  </a:lnTo>
                  <a:lnTo>
                    <a:pt x="1215390" y="876300"/>
                  </a:lnTo>
                  <a:lnTo>
                    <a:pt x="1074420" y="872490"/>
                  </a:lnTo>
                  <a:lnTo>
                    <a:pt x="986790" y="971550"/>
                  </a:lnTo>
                  <a:lnTo>
                    <a:pt x="15240" y="982980"/>
                  </a:lnTo>
                  <a:lnTo>
                    <a:pt x="0" y="937260"/>
                  </a:lnTo>
                  <a:lnTo>
                    <a:pt x="22860" y="5715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55" name="Flecha izquierda 54"/>
            <p:cNvSpPr/>
            <p:nvPr/>
          </p:nvSpPr>
          <p:spPr>
            <a:xfrm>
              <a:off x="5595686" y="3566322"/>
              <a:ext cx="1381882" cy="449824"/>
            </a:xfrm>
            <a:prstGeom prst="lef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b="1" dirty="0"/>
                <a:t>FRONT  </a:t>
              </a:r>
              <a:r>
                <a:rPr lang="es-MX" sz="1100" b="1" dirty="0"/>
                <a:t>FLOW</a:t>
              </a:r>
              <a:endParaRPr lang="en-US" sz="1200" b="1" dirty="0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114910" y="3475060"/>
            <a:ext cx="3950181" cy="2881290"/>
            <a:chOff x="3214770" y="3924497"/>
            <a:chExt cx="3950181" cy="2881290"/>
          </a:xfrm>
        </p:grpSpPr>
        <p:grpSp>
          <p:nvGrpSpPr>
            <p:cNvPr id="43" name="Grupo 42"/>
            <p:cNvGrpSpPr/>
            <p:nvPr/>
          </p:nvGrpSpPr>
          <p:grpSpPr>
            <a:xfrm>
              <a:off x="4789056" y="4417646"/>
              <a:ext cx="2375895" cy="2388141"/>
              <a:chOff x="3432048" y="2147252"/>
              <a:chExt cx="2164080" cy="2901252"/>
            </a:xfrm>
          </p:grpSpPr>
          <p:pic>
            <p:nvPicPr>
              <p:cNvPr id="45" name="Imagen 44"/>
              <p:cNvPicPr>
                <a:picLocks noChangeAspect="1"/>
              </p:cNvPicPr>
              <p:nvPr/>
            </p:nvPicPr>
            <p:blipFill rotWithShape="1">
              <a:blip r:embed="rId6"/>
              <a:srcRect r="73702"/>
              <a:stretch/>
            </p:blipFill>
            <p:spPr>
              <a:xfrm>
                <a:off x="3755073" y="2147252"/>
                <a:ext cx="1841055" cy="2847975"/>
              </a:xfrm>
              <a:prstGeom prst="rect">
                <a:avLst/>
              </a:prstGeom>
            </p:spPr>
          </p:pic>
          <p:sp>
            <p:nvSpPr>
              <p:cNvPr id="46" name="Rectángulo 45"/>
              <p:cNvSpPr/>
              <p:nvPr/>
            </p:nvSpPr>
            <p:spPr>
              <a:xfrm>
                <a:off x="4561840" y="3901440"/>
                <a:ext cx="563880" cy="1778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cxnSp>
            <p:nvCxnSpPr>
              <p:cNvPr id="47" name="Conector recto 46"/>
              <p:cNvCxnSpPr/>
              <p:nvPr/>
            </p:nvCxnSpPr>
            <p:spPr>
              <a:xfrm flipH="1">
                <a:off x="3696208" y="4642104"/>
                <a:ext cx="865632" cy="1117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/>
              <p:cNvCxnSpPr/>
              <p:nvPr/>
            </p:nvCxnSpPr>
            <p:spPr>
              <a:xfrm flipH="1" flipV="1">
                <a:off x="3608833" y="3092712"/>
                <a:ext cx="816863" cy="43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de flecha 48"/>
              <p:cNvCxnSpPr/>
              <p:nvPr/>
            </p:nvCxnSpPr>
            <p:spPr>
              <a:xfrm>
                <a:off x="3870960" y="2707640"/>
                <a:ext cx="5080" cy="3302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de flecha 49"/>
              <p:cNvCxnSpPr/>
              <p:nvPr/>
            </p:nvCxnSpPr>
            <p:spPr>
              <a:xfrm flipV="1">
                <a:off x="3870960" y="4718304"/>
                <a:ext cx="0" cy="3302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CuadroTexto 51"/>
              <p:cNvSpPr txBox="1"/>
              <p:nvPr/>
            </p:nvSpPr>
            <p:spPr>
              <a:xfrm>
                <a:off x="3432048" y="3712464"/>
                <a:ext cx="904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solidFill>
                      <a:srgbClr val="FF0000"/>
                    </a:solidFill>
                  </a:rPr>
                  <a:t>425mm</a:t>
                </a:r>
              </a:p>
            </p:txBody>
          </p:sp>
        </p:grpSp>
        <p:sp>
          <p:nvSpPr>
            <p:cNvPr id="56" name="Llamada rectangular 55"/>
            <p:cNvSpPr/>
            <p:nvPr/>
          </p:nvSpPr>
          <p:spPr>
            <a:xfrm>
              <a:off x="3214770" y="3924497"/>
              <a:ext cx="2041577" cy="670121"/>
            </a:xfrm>
            <a:prstGeom prst="wedgeRectCallout">
              <a:avLst>
                <a:gd name="adj1" fmla="val 37882"/>
                <a:gd name="adj2" fmla="val 140940"/>
              </a:avLst>
            </a:prstGeom>
            <a:solidFill>
              <a:srgbClr val="FF0000"/>
            </a:solidFill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Common</a:t>
              </a:r>
              <a:r>
                <a:rPr lang="es-MX" sz="1050" dirty="0"/>
                <a:t> </a:t>
              </a:r>
              <a:r>
                <a:rPr lang="en-US" sz="1050" dirty="0"/>
                <a:t>coil</a:t>
              </a:r>
              <a:r>
                <a:rPr lang="es-MX" sz="1050" dirty="0"/>
                <a:t> </a:t>
              </a:r>
              <a:r>
                <a:rPr lang="en-US" sz="1050" dirty="0"/>
                <a:t>feed</a:t>
              </a:r>
              <a:r>
                <a:rPr lang="es-MX" sz="1050" dirty="0"/>
                <a:t> </a:t>
              </a:r>
              <a:r>
                <a:rPr lang="en-US" sz="1050" dirty="0"/>
                <a:t>height</a:t>
              </a:r>
              <a:r>
                <a:rPr lang="es-MX" sz="1050" dirty="0"/>
                <a:t> </a:t>
              </a:r>
              <a:r>
                <a:rPr lang="en-PH" sz="1050" dirty="0"/>
                <a:t>with</a:t>
              </a:r>
              <a:r>
                <a:rPr lang="es-MX" sz="1050" dirty="0"/>
                <a:t> </a:t>
              </a:r>
              <a:r>
                <a:rPr lang="en-US" sz="1050" dirty="0"/>
                <a:t>lifters</a:t>
              </a:r>
              <a:r>
                <a:rPr lang="es-MX" sz="1050" dirty="0"/>
                <a:t> extended</a:t>
              </a:r>
            </a:p>
          </p:txBody>
        </p:sp>
      </p:grpSp>
      <p:pic>
        <p:nvPicPr>
          <p:cNvPr id="22" name="Imagen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9862" y="4482561"/>
            <a:ext cx="2642524" cy="1900242"/>
          </a:xfrm>
          <a:prstGeom prst="rect">
            <a:avLst/>
          </a:prstGeom>
        </p:spPr>
      </p:pic>
      <p:grpSp>
        <p:nvGrpSpPr>
          <p:cNvPr id="9" name="Grupo 8"/>
          <p:cNvGrpSpPr/>
          <p:nvPr/>
        </p:nvGrpSpPr>
        <p:grpSpPr>
          <a:xfrm>
            <a:off x="4390046" y="4724525"/>
            <a:ext cx="4795927" cy="1996949"/>
            <a:chOff x="-85434" y="2400054"/>
            <a:chExt cx="4471618" cy="2130580"/>
          </a:xfrm>
        </p:grpSpPr>
        <p:grpSp>
          <p:nvGrpSpPr>
            <p:cNvPr id="6" name="Grupo 5"/>
            <p:cNvGrpSpPr/>
            <p:nvPr/>
          </p:nvGrpSpPr>
          <p:grpSpPr>
            <a:xfrm>
              <a:off x="-85434" y="2400054"/>
              <a:ext cx="4471618" cy="2130580"/>
              <a:chOff x="52652" y="4007055"/>
              <a:chExt cx="5215520" cy="2896943"/>
            </a:xfrm>
          </p:grpSpPr>
          <p:sp>
            <p:nvSpPr>
              <p:cNvPr id="14" name="CuadroTexto 13"/>
              <p:cNvSpPr txBox="1"/>
              <p:nvPr/>
            </p:nvSpPr>
            <p:spPr>
              <a:xfrm>
                <a:off x="2265134" y="6642388"/>
                <a:ext cx="168347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/>
                  <a:t>Distance</a:t>
                </a:r>
                <a:r>
                  <a:rPr lang="es-MX" sz="1100" b="1" dirty="0"/>
                  <a:t> </a:t>
                </a:r>
                <a:r>
                  <a:rPr lang="en-US" sz="1100" b="1" dirty="0"/>
                  <a:t>between</a:t>
                </a:r>
                <a:r>
                  <a:rPr lang="es-MX" sz="1100" b="1" dirty="0"/>
                  <a:t> </a:t>
                </a:r>
                <a:r>
                  <a:rPr lang="en-US" sz="1100" b="1" dirty="0"/>
                  <a:t>locator</a:t>
                </a:r>
                <a:endParaRPr lang="es-MX" sz="1100" b="1" dirty="0"/>
              </a:p>
            </p:txBody>
          </p:sp>
          <p:grpSp>
            <p:nvGrpSpPr>
              <p:cNvPr id="3" name="Grupo 2"/>
              <p:cNvGrpSpPr/>
              <p:nvPr/>
            </p:nvGrpSpPr>
            <p:grpSpPr>
              <a:xfrm>
                <a:off x="52652" y="4007055"/>
                <a:ext cx="5215520" cy="2886453"/>
                <a:chOff x="167363" y="3972697"/>
                <a:chExt cx="5215520" cy="2886453"/>
              </a:xfrm>
            </p:grpSpPr>
            <p:pic>
              <p:nvPicPr>
                <p:cNvPr id="12" name="Imagen 11" descr="Recorte de pantalla"/>
                <p:cNvPicPr>
                  <a:picLocks noChangeAspect="1"/>
                </p:cNvPicPr>
                <p:nvPr/>
              </p:nvPicPr>
              <p:blipFill>
                <a:blip r:embed="rId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1937" y="3972697"/>
                  <a:ext cx="4830946" cy="2641247"/>
                </a:xfrm>
                <a:prstGeom prst="rect">
                  <a:avLst/>
                </a:prstGeom>
              </p:spPr>
            </p:pic>
            <p:grpSp>
              <p:nvGrpSpPr>
                <p:cNvPr id="23" name="Grupo 22"/>
                <p:cNvGrpSpPr/>
                <p:nvPr/>
              </p:nvGrpSpPr>
              <p:grpSpPr>
                <a:xfrm>
                  <a:off x="167363" y="6174337"/>
                  <a:ext cx="2026228" cy="684813"/>
                  <a:chOff x="4900902" y="9089814"/>
                  <a:chExt cx="2026228" cy="684813"/>
                </a:xfrm>
              </p:grpSpPr>
              <p:pic>
                <p:nvPicPr>
                  <p:cNvPr id="24" name="Imagen 23"/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4900902" y="9089814"/>
                    <a:ext cx="620816" cy="581881"/>
                  </a:xfrm>
                  <a:prstGeom prst="rect">
                    <a:avLst/>
                  </a:prstGeom>
                  <a:ln w="38100"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</p:pic>
              <p:sp>
                <p:nvSpPr>
                  <p:cNvPr id="25" name="CuadroTexto 24"/>
                  <p:cNvSpPr txBox="1"/>
                  <p:nvPr/>
                </p:nvSpPr>
                <p:spPr>
                  <a:xfrm>
                    <a:off x="5521717" y="9380753"/>
                    <a:ext cx="1405413" cy="393874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50" dirty="0"/>
                      <a:t>Locator</a:t>
                    </a:r>
                    <a:r>
                      <a:rPr lang="es-MX" sz="1050" dirty="0"/>
                      <a:t> T021</a:t>
                    </a:r>
                    <a:endParaRPr lang="en-US" sz="1050" dirty="0"/>
                  </a:p>
                </p:txBody>
              </p:sp>
            </p:grpSp>
          </p:grpSp>
        </p:grpSp>
        <p:sp>
          <p:nvSpPr>
            <p:cNvPr id="13" name="CuadroTexto 12"/>
            <p:cNvSpPr txBox="1"/>
            <p:nvPr/>
          </p:nvSpPr>
          <p:spPr>
            <a:xfrm>
              <a:off x="2160572" y="3706670"/>
              <a:ext cx="5533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Bolster</a:t>
              </a:r>
            </a:p>
          </p:txBody>
        </p:sp>
      </p:grpSp>
      <p:pic>
        <p:nvPicPr>
          <p:cNvPr id="20" name="Imagen 19">
            <a:extLst>
              <a:ext uri="{FF2B5EF4-FFF2-40B4-BE49-F238E27FC236}">
                <a16:creationId xmlns:a16="http://schemas.microsoft.com/office/drawing/2014/main" id="{D8728B87-F380-4448-847F-7C93DB0DF2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098" y="2251271"/>
            <a:ext cx="2027187" cy="85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13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39947" y="27463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PR22</a:t>
            </a:r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113701"/>
              </p:ext>
            </p:extLst>
          </p:nvPr>
        </p:nvGraphicFramePr>
        <p:xfrm>
          <a:off x="2029868" y="100173"/>
          <a:ext cx="9366370" cy="66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4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94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005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CuadroTexto 35"/>
          <p:cNvSpPr txBox="1"/>
          <p:nvPr/>
        </p:nvSpPr>
        <p:spPr>
          <a:xfrm>
            <a:off x="0" y="998336"/>
            <a:ext cx="3151518" cy="58477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PROG BLANKING</a:t>
            </a:r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15</a:t>
            </a:fld>
            <a:endParaRPr lang="es-MX" dirty="0"/>
          </a:p>
        </p:txBody>
      </p:sp>
      <p:sp>
        <p:nvSpPr>
          <p:cNvPr id="54" name="Rectángulo 53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696" y="4908287"/>
            <a:ext cx="2406361" cy="1730417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70356" y="4320505"/>
            <a:ext cx="3751874" cy="2073729"/>
            <a:chOff x="576108" y="3260886"/>
            <a:chExt cx="4725794" cy="3002544"/>
          </a:xfrm>
        </p:grpSpPr>
        <p:pic>
          <p:nvPicPr>
            <p:cNvPr id="31" name="Imagen 30" descr="Recorte de pantalla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15940" y="4032578"/>
              <a:ext cx="3131773" cy="2230852"/>
            </a:xfrm>
            <a:prstGeom prst="rect">
              <a:avLst/>
            </a:prstGeom>
          </p:spPr>
        </p:pic>
        <p:cxnSp>
          <p:nvCxnSpPr>
            <p:cNvPr id="48" name="Conector recto 47"/>
            <p:cNvCxnSpPr/>
            <p:nvPr/>
          </p:nvCxnSpPr>
          <p:spPr>
            <a:xfrm flipH="1">
              <a:off x="4515599" y="4032578"/>
              <a:ext cx="55069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recto 48"/>
            <p:cNvCxnSpPr/>
            <p:nvPr/>
          </p:nvCxnSpPr>
          <p:spPr>
            <a:xfrm flipH="1">
              <a:off x="4498346" y="6263430"/>
              <a:ext cx="55069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ector recto de flecha 49"/>
            <p:cNvCxnSpPr/>
            <p:nvPr/>
          </p:nvCxnSpPr>
          <p:spPr>
            <a:xfrm flipV="1">
              <a:off x="4770176" y="4250857"/>
              <a:ext cx="0" cy="7179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/>
            <p:cNvCxnSpPr/>
            <p:nvPr/>
          </p:nvCxnSpPr>
          <p:spPr>
            <a:xfrm>
              <a:off x="4770176" y="5520906"/>
              <a:ext cx="0" cy="6728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CuadroTexto 55"/>
            <p:cNvSpPr txBox="1"/>
            <p:nvPr/>
          </p:nvSpPr>
          <p:spPr>
            <a:xfrm>
              <a:off x="4466417" y="5039213"/>
              <a:ext cx="83548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sz="1400" dirty="0"/>
                <a:t>1524mm</a:t>
              </a:r>
            </a:p>
          </p:txBody>
        </p:sp>
        <p:cxnSp>
          <p:nvCxnSpPr>
            <p:cNvPr id="57" name="Conector recto 56"/>
            <p:cNvCxnSpPr/>
            <p:nvPr/>
          </p:nvCxnSpPr>
          <p:spPr>
            <a:xfrm flipV="1">
              <a:off x="1215940" y="3279250"/>
              <a:ext cx="1783" cy="62604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ector recto 58"/>
            <p:cNvCxnSpPr/>
            <p:nvPr/>
          </p:nvCxnSpPr>
          <p:spPr>
            <a:xfrm flipV="1">
              <a:off x="4298993" y="3260886"/>
              <a:ext cx="1783" cy="62604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ector recto de flecha 60"/>
            <p:cNvCxnSpPr/>
            <p:nvPr/>
          </p:nvCxnSpPr>
          <p:spPr>
            <a:xfrm flipH="1">
              <a:off x="1303988" y="3614403"/>
              <a:ext cx="883531" cy="15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de flecha 64"/>
            <p:cNvCxnSpPr/>
            <p:nvPr/>
          </p:nvCxnSpPr>
          <p:spPr>
            <a:xfrm flipV="1">
              <a:off x="3452176" y="3607770"/>
              <a:ext cx="774698" cy="11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CuadroTexto 70"/>
            <p:cNvSpPr txBox="1"/>
            <p:nvPr/>
          </p:nvSpPr>
          <p:spPr>
            <a:xfrm>
              <a:off x="2425633" y="3453881"/>
              <a:ext cx="8354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/>
                <a:t>2134mm</a:t>
              </a:r>
            </a:p>
          </p:txBody>
        </p:sp>
        <p:sp>
          <p:nvSpPr>
            <p:cNvPr id="55" name="Flecha izquierda 54"/>
            <p:cNvSpPr/>
            <p:nvPr/>
          </p:nvSpPr>
          <p:spPr>
            <a:xfrm rot="16200000">
              <a:off x="-62261" y="4451187"/>
              <a:ext cx="1797866" cy="521127"/>
            </a:xfrm>
            <a:prstGeom prst="lef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b="1" dirty="0"/>
                <a:t>FRONT  </a:t>
              </a:r>
              <a:r>
                <a:rPr lang="es-MX" sz="1100" b="1" dirty="0"/>
                <a:t>FLOW</a:t>
              </a:r>
              <a:endParaRPr lang="en-US" sz="1200" b="1" dirty="0"/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1828005" y="1600798"/>
            <a:ext cx="7244405" cy="3854365"/>
            <a:chOff x="3528242" y="1019385"/>
            <a:chExt cx="7244405" cy="3854365"/>
          </a:xfrm>
        </p:grpSpPr>
        <p:pic>
          <p:nvPicPr>
            <p:cNvPr id="5" name="Imagen 4" descr="Recorte de pantalla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24985" y="3546596"/>
              <a:ext cx="4781988" cy="557897"/>
            </a:xfrm>
            <a:prstGeom prst="rect">
              <a:avLst/>
            </a:prstGeom>
          </p:spPr>
        </p:pic>
        <p:pic>
          <p:nvPicPr>
            <p:cNvPr id="6" name="Imagen 5" descr="Recorte de pantalla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24985" y="1197468"/>
              <a:ext cx="4781988" cy="771287"/>
            </a:xfrm>
            <a:prstGeom prst="rect">
              <a:avLst/>
            </a:prstGeom>
          </p:spPr>
        </p:pic>
        <p:cxnSp>
          <p:nvCxnSpPr>
            <p:cNvPr id="9" name="Conector recto 8"/>
            <p:cNvCxnSpPr/>
            <p:nvPr/>
          </p:nvCxnSpPr>
          <p:spPr>
            <a:xfrm>
              <a:off x="8115979" y="3690994"/>
              <a:ext cx="0" cy="82699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>
            <a:xfrm>
              <a:off x="7785300" y="3690994"/>
              <a:ext cx="0" cy="82699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de flecha 13"/>
            <p:cNvCxnSpPr/>
            <p:nvPr/>
          </p:nvCxnSpPr>
          <p:spPr>
            <a:xfrm>
              <a:off x="7177178" y="4416724"/>
              <a:ext cx="5434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/>
            <p:cNvCxnSpPr/>
            <p:nvPr/>
          </p:nvCxnSpPr>
          <p:spPr>
            <a:xfrm flipH="1">
              <a:off x="8202243" y="4416724"/>
              <a:ext cx="46730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uadroTexto 18"/>
            <p:cNvSpPr txBox="1"/>
            <p:nvPr/>
          </p:nvSpPr>
          <p:spPr>
            <a:xfrm>
              <a:off x="8755810" y="4262835"/>
              <a:ext cx="880369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sz="1400" dirty="0"/>
                <a:t>152.4mm</a:t>
              </a:r>
            </a:p>
          </p:txBody>
        </p:sp>
        <p:cxnSp>
          <p:nvCxnSpPr>
            <p:cNvPr id="20" name="Conector recto de flecha 19"/>
            <p:cNvCxnSpPr/>
            <p:nvPr/>
          </p:nvCxnSpPr>
          <p:spPr>
            <a:xfrm flipH="1" flipV="1">
              <a:off x="5350052" y="1945258"/>
              <a:ext cx="2876" cy="5980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/>
            <p:cNvCxnSpPr/>
            <p:nvPr/>
          </p:nvCxnSpPr>
          <p:spPr>
            <a:xfrm>
              <a:off x="5350052" y="3030611"/>
              <a:ext cx="81" cy="5654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uadroTexto 24"/>
            <p:cNvSpPr txBox="1"/>
            <p:nvPr/>
          </p:nvSpPr>
          <p:spPr>
            <a:xfrm>
              <a:off x="4884160" y="2596579"/>
              <a:ext cx="74411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sz="1400" dirty="0"/>
                <a:t>787mm</a:t>
              </a:r>
            </a:p>
          </p:txBody>
        </p:sp>
        <p:cxnSp>
          <p:nvCxnSpPr>
            <p:cNvPr id="26" name="Conector recto 25"/>
            <p:cNvCxnSpPr/>
            <p:nvPr/>
          </p:nvCxnSpPr>
          <p:spPr>
            <a:xfrm flipH="1">
              <a:off x="5077582" y="1892034"/>
              <a:ext cx="550692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ector recto 27"/>
            <p:cNvCxnSpPr/>
            <p:nvPr/>
          </p:nvCxnSpPr>
          <p:spPr>
            <a:xfrm flipH="1">
              <a:off x="5077582" y="3608900"/>
              <a:ext cx="552367" cy="1100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CuadroTexto 29"/>
            <p:cNvSpPr txBox="1"/>
            <p:nvPr/>
          </p:nvSpPr>
          <p:spPr>
            <a:xfrm>
              <a:off x="4074347" y="2103007"/>
              <a:ext cx="1199071" cy="43088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s-MX" sz="1100" b="1" dirty="0"/>
                <a:t>Common </a:t>
              </a:r>
              <a:r>
                <a:rPr lang="en-US" sz="1100" b="1" dirty="0"/>
                <a:t>Shut</a:t>
              </a:r>
              <a:r>
                <a:rPr lang="es-MX" sz="1100" b="1" dirty="0"/>
                <a:t> </a:t>
              </a:r>
              <a:r>
                <a:rPr lang="en-US" sz="1100" b="1" dirty="0"/>
                <a:t>Height</a:t>
              </a:r>
            </a:p>
          </p:txBody>
        </p:sp>
        <p:pic>
          <p:nvPicPr>
            <p:cNvPr id="32" name="Imagen 31" descr="Recorte de pantalla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65361" y="1892035"/>
              <a:ext cx="3015069" cy="1716866"/>
            </a:xfrm>
            <a:prstGeom prst="rect">
              <a:avLst/>
            </a:prstGeom>
          </p:spPr>
        </p:pic>
        <p:cxnSp>
          <p:nvCxnSpPr>
            <p:cNvPr id="34" name="Conector recto 33"/>
            <p:cNvCxnSpPr/>
            <p:nvPr/>
          </p:nvCxnSpPr>
          <p:spPr>
            <a:xfrm flipH="1" flipV="1">
              <a:off x="10255387" y="3592271"/>
              <a:ext cx="517260" cy="74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CuadroTexto 46"/>
            <p:cNvSpPr txBox="1"/>
            <p:nvPr/>
          </p:nvSpPr>
          <p:spPr>
            <a:xfrm>
              <a:off x="7127137" y="4612140"/>
              <a:ext cx="170751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Distance</a:t>
              </a:r>
              <a:r>
                <a:rPr lang="es-MX" sz="1100" b="1" dirty="0"/>
                <a:t> </a:t>
              </a:r>
              <a:r>
                <a:rPr lang="en-US" sz="1100" b="1" dirty="0"/>
                <a:t>between</a:t>
              </a:r>
              <a:r>
                <a:rPr lang="es-MX" sz="1100" b="1" dirty="0"/>
                <a:t> slots 6”</a:t>
              </a:r>
            </a:p>
          </p:txBody>
        </p:sp>
        <p:cxnSp>
          <p:nvCxnSpPr>
            <p:cNvPr id="37" name="Conector recto 36"/>
            <p:cNvCxnSpPr/>
            <p:nvPr/>
          </p:nvCxnSpPr>
          <p:spPr>
            <a:xfrm>
              <a:off x="8115979" y="3679016"/>
              <a:ext cx="0" cy="82699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ector recto 37"/>
            <p:cNvCxnSpPr/>
            <p:nvPr/>
          </p:nvCxnSpPr>
          <p:spPr>
            <a:xfrm>
              <a:off x="7785300" y="3679016"/>
              <a:ext cx="0" cy="82699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ector recto de flecha 38"/>
            <p:cNvCxnSpPr/>
            <p:nvPr/>
          </p:nvCxnSpPr>
          <p:spPr>
            <a:xfrm>
              <a:off x="7177178" y="4404746"/>
              <a:ext cx="5434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de flecha 40"/>
            <p:cNvCxnSpPr/>
            <p:nvPr/>
          </p:nvCxnSpPr>
          <p:spPr>
            <a:xfrm flipH="1">
              <a:off x="8202243" y="4404746"/>
              <a:ext cx="46730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uadroTexto 42"/>
            <p:cNvSpPr txBox="1"/>
            <p:nvPr/>
          </p:nvSpPr>
          <p:spPr>
            <a:xfrm>
              <a:off x="8755810" y="4250857"/>
              <a:ext cx="880369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s-MX" sz="1400" dirty="0"/>
                <a:t>152.4mm</a:t>
              </a:r>
            </a:p>
          </p:txBody>
        </p:sp>
        <p:sp>
          <p:nvSpPr>
            <p:cNvPr id="58" name="Rectángulo 57"/>
            <p:cNvSpPr/>
            <p:nvPr/>
          </p:nvSpPr>
          <p:spPr>
            <a:xfrm>
              <a:off x="3528242" y="1019385"/>
              <a:ext cx="2460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Image with closed press</a:t>
              </a:r>
            </a:p>
          </p:txBody>
        </p:sp>
      </p:grp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368574"/>
              </p:ext>
            </p:extLst>
          </p:nvPr>
        </p:nvGraphicFramePr>
        <p:xfrm>
          <a:off x="0" y="163901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6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63901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Grupo 59"/>
          <p:cNvGrpSpPr/>
          <p:nvPr/>
        </p:nvGrpSpPr>
        <p:grpSpPr>
          <a:xfrm>
            <a:off x="9622035" y="1785464"/>
            <a:ext cx="2205078" cy="2586004"/>
            <a:chOff x="3432048" y="2147252"/>
            <a:chExt cx="2164080" cy="2901252"/>
          </a:xfrm>
        </p:grpSpPr>
        <p:pic>
          <p:nvPicPr>
            <p:cNvPr id="62" name="Imagen 61"/>
            <p:cNvPicPr>
              <a:picLocks noChangeAspect="1"/>
            </p:cNvPicPr>
            <p:nvPr/>
          </p:nvPicPr>
          <p:blipFill rotWithShape="1">
            <a:blip r:embed="rId10"/>
            <a:srcRect r="73702"/>
            <a:stretch/>
          </p:blipFill>
          <p:spPr>
            <a:xfrm>
              <a:off x="3755073" y="2147252"/>
              <a:ext cx="1841055" cy="2847975"/>
            </a:xfrm>
            <a:prstGeom prst="rect">
              <a:avLst/>
            </a:prstGeom>
          </p:spPr>
        </p:pic>
        <p:sp>
          <p:nvSpPr>
            <p:cNvPr id="63" name="Rectángulo 62"/>
            <p:cNvSpPr/>
            <p:nvPr/>
          </p:nvSpPr>
          <p:spPr>
            <a:xfrm>
              <a:off x="4561840" y="3901440"/>
              <a:ext cx="563880" cy="1778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64" name="Conector recto 63"/>
            <p:cNvCxnSpPr/>
            <p:nvPr/>
          </p:nvCxnSpPr>
          <p:spPr>
            <a:xfrm flipH="1">
              <a:off x="3696208" y="4642104"/>
              <a:ext cx="865632" cy="1117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/>
            <p:cNvCxnSpPr/>
            <p:nvPr/>
          </p:nvCxnSpPr>
          <p:spPr>
            <a:xfrm flipH="1" flipV="1">
              <a:off x="3608833" y="3092712"/>
              <a:ext cx="816863" cy="43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de flecha 66"/>
            <p:cNvCxnSpPr/>
            <p:nvPr/>
          </p:nvCxnSpPr>
          <p:spPr>
            <a:xfrm>
              <a:off x="3870960" y="2707640"/>
              <a:ext cx="508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de flecha 67"/>
            <p:cNvCxnSpPr/>
            <p:nvPr/>
          </p:nvCxnSpPr>
          <p:spPr>
            <a:xfrm flipV="1">
              <a:off x="3870960" y="4718304"/>
              <a:ext cx="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uadroTexto 69"/>
            <p:cNvSpPr txBox="1"/>
            <p:nvPr/>
          </p:nvSpPr>
          <p:spPr>
            <a:xfrm>
              <a:off x="3432048" y="3712464"/>
              <a:ext cx="904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</a:rPr>
                <a:t>330mm</a:t>
              </a:r>
            </a:p>
          </p:txBody>
        </p:sp>
      </p:grpSp>
      <p:sp>
        <p:nvSpPr>
          <p:cNvPr id="72" name="Llamada rectangular 71"/>
          <p:cNvSpPr/>
          <p:nvPr/>
        </p:nvSpPr>
        <p:spPr>
          <a:xfrm>
            <a:off x="7800355" y="1051362"/>
            <a:ext cx="2041577" cy="670121"/>
          </a:xfrm>
          <a:prstGeom prst="wedgeRectCallout">
            <a:avLst>
              <a:gd name="adj1" fmla="val 46680"/>
              <a:gd name="adj2" fmla="val 182363"/>
            </a:avLst>
          </a:prstGeom>
          <a:solidFill>
            <a:srgbClr val="FF0000"/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Common</a:t>
            </a:r>
            <a:r>
              <a:rPr lang="es-MX" sz="1050" dirty="0"/>
              <a:t> </a:t>
            </a:r>
            <a:r>
              <a:rPr lang="en-US" sz="1050" dirty="0"/>
              <a:t>coil</a:t>
            </a:r>
            <a:r>
              <a:rPr lang="es-MX" sz="1050" dirty="0"/>
              <a:t> </a:t>
            </a:r>
            <a:r>
              <a:rPr lang="en-US" sz="1050" dirty="0"/>
              <a:t>feed</a:t>
            </a:r>
            <a:r>
              <a:rPr lang="es-MX" sz="1050" dirty="0"/>
              <a:t> </a:t>
            </a:r>
            <a:r>
              <a:rPr lang="en-US" sz="1050" dirty="0"/>
              <a:t>height</a:t>
            </a:r>
            <a:r>
              <a:rPr lang="es-MX" sz="1050" dirty="0"/>
              <a:t> </a:t>
            </a:r>
            <a:r>
              <a:rPr lang="en-PH" sz="1050" dirty="0"/>
              <a:t>with</a:t>
            </a:r>
            <a:r>
              <a:rPr lang="es-MX" sz="1050" dirty="0"/>
              <a:t> </a:t>
            </a:r>
            <a:r>
              <a:rPr lang="en-US" sz="1050" dirty="0"/>
              <a:t>lifters</a:t>
            </a:r>
            <a:r>
              <a:rPr lang="es-MX" sz="1050" dirty="0"/>
              <a:t> extended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BF16BC-F8B3-4B48-BE61-D963DDF3D6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940" y="2899863"/>
            <a:ext cx="1991201" cy="83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444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36430" y="42269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PR30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059726"/>
              </p:ext>
            </p:extLst>
          </p:nvPr>
        </p:nvGraphicFramePr>
        <p:xfrm>
          <a:off x="1094226" y="63037"/>
          <a:ext cx="10899006" cy="74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4111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Width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Outside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1829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uadroTexto 9"/>
          <p:cNvSpPr txBox="1"/>
          <p:nvPr/>
        </p:nvSpPr>
        <p:spPr>
          <a:xfrm>
            <a:off x="0" y="1007200"/>
            <a:ext cx="1360539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PROG</a:t>
            </a:r>
          </a:p>
        </p:txBody>
      </p:sp>
      <p:sp>
        <p:nvSpPr>
          <p:cNvPr id="16" name="Marcador de número de diapositiva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16</a:t>
            </a:fld>
            <a:endParaRPr lang="es-MX" dirty="0"/>
          </a:p>
        </p:txBody>
      </p:sp>
      <p:sp>
        <p:nvSpPr>
          <p:cNvPr id="19" name="Rectángulo 18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46" y="5203274"/>
            <a:ext cx="2120122" cy="1524582"/>
          </a:xfrm>
          <a:prstGeom prst="rect">
            <a:avLst/>
          </a:prstGeom>
        </p:spPr>
      </p:pic>
      <p:graphicFrame>
        <p:nvGraphicFramePr>
          <p:cNvPr id="48" name="Objeto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40932"/>
              </p:ext>
            </p:extLst>
          </p:nvPr>
        </p:nvGraphicFramePr>
        <p:xfrm>
          <a:off x="0" y="163354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1" name="Acrobat Document" showAsIcon="1" r:id="rId4" imgW="914400" imgH="792360" progId="AcroExch.Document.DC">
                  <p:embed/>
                </p:oleObj>
              </mc:Choice>
              <mc:Fallback>
                <p:oleObj name="Acrobat Document" showAsIcon="1" r:id="rId4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1633546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upo 14"/>
          <p:cNvGrpSpPr/>
          <p:nvPr/>
        </p:nvGrpSpPr>
        <p:grpSpPr>
          <a:xfrm>
            <a:off x="2382210" y="831202"/>
            <a:ext cx="6801328" cy="3996417"/>
            <a:chOff x="3994678" y="960808"/>
            <a:chExt cx="7572489" cy="4438916"/>
          </a:xfrm>
        </p:grpSpPr>
        <p:sp>
          <p:nvSpPr>
            <p:cNvPr id="47" name="Rectángulo 46"/>
            <p:cNvSpPr/>
            <p:nvPr/>
          </p:nvSpPr>
          <p:spPr>
            <a:xfrm>
              <a:off x="4699093" y="960808"/>
              <a:ext cx="2460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Image with closed press</a:t>
              </a:r>
            </a:p>
          </p:txBody>
        </p:sp>
        <p:grpSp>
          <p:nvGrpSpPr>
            <p:cNvPr id="14" name="Grupo 13"/>
            <p:cNvGrpSpPr/>
            <p:nvPr/>
          </p:nvGrpSpPr>
          <p:grpSpPr>
            <a:xfrm>
              <a:off x="3994678" y="1705917"/>
              <a:ext cx="7572489" cy="3693807"/>
              <a:chOff x="4619511" y="1167708"/>
              <a:chExt cx="7572489" cy="3693807"/>
            </a:xfrm>
          </p:grpSpPr>
          <p:pic>
            <p:nvPicPr>
              <p:cNvPr id="6" name="Imagen 5" descr="Recorte de pantalla"/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683503" y="1169708"/>
                <a:ext cx="7203698" cy="3493928"/>
              </a:xfrm>
              <a:prstGeom prst="rect">
                <a:avLst/>
              </a:prstGeom>
            </p:spPr>
          </p:pic>
          <p:sp>
            <p:nvSpPr>
              <p:cNvPr id="7" name="CuadroTexto 6"/>
              <p:cNvSpPr txBox="1"/>
              <p:nvPr/>
            </p:nvSpPr>
            <p:spPr>
              <a:xfrm>
                <a:off x="10992929" y="2685841"/>
                <a:ext cx="1199071" cy="430887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MX" sz="1100" b="1" dirty="0"/>
                  <a:t>Common </a:t>
                </a:r>
                <a:r>
                  <a:rPr lang="en-US" sz="1100" b="1" dirty="0"/>
                  <a:t>Shut</a:t>
                </a:r>
                <a:r>
                  <a:rPr lang="es-MX" sz="1100" b="1" dirty="0"/>
                  <a:t> Height</a:t>
                </a:r>
              </a:p>
            </p:txBody>
          </p:sp>
          <p:sp>
            <p:nvSpPr>
              <p:cNvPr id="12" name="CuadroTexto 11"/>
              <p:cNvSpPr txBox="1"/>
              <p:nvPr/>
            </p:nvSpPr>
            <p:spPr>
              <a:xfrm>
                <a:off x="9209703" y="4599905"/>
                <a:ext cx="154241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/>
                  <a:t>Distance</a:t>
                </a:r>
                <a:r>
                  <a:rPr lang="es-MX" sz="1100" b="1" dirty="0"/>
                  <a:t> </a:t>
                </a:r>
                <a:r>
                  <a:rPr lang="en-US" sz="1100" b="1" dirty="0"/>
                  <a:t>between</a:t>
                </a:r>
                <a:r>
                  <a:rPr lang="es-MX" sz="1100" b="1" dirty="0"/>
                  <a:t> slots</a:t>
                </a:r>
              </a:p>
            </p:txBody>
          </p:sp>
          <p:grpSp>
            <p:nvGrpSpPr>
              <p:cNvPr id="26" name="Grupo 25"/>
              <p:cNvGrpSpPr/>
              <p:nvPr/>
            </p:nvGrpSpPr>
            <p:grpSpPr>
              <a:xfrm>
                <a:off x="7689035" y="1958861"/>
                <a:ext cx="275303" cy="337836"/>
                <a:chOff x="3274142" y="1382809"/>
                <a:chExt cx="275303" cy="337836"/>
              </a:xfrm>
              <a:solidFill>
                <a:srgbClr val="FF0000"/>
              </a:solidFill>
            </p:grpSpPr>
            <p:sp>
              <p:nvSpPr>
                <p:cNvPr id="24" name="Rectángulo redondeado 23"/>
                <p:cNvSpPr/>
                <p:nvPr/>
              </p:nvSpPr>
              <p:spPr>
                <a:xfrm>
                  <a:off x="3274142" y="1573161"/>
                  <a:ext cx="275303" cy="147484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" name="Rectángulo 24"/>
                <p:cNvSpPr/>
                <p:nvPr/>
              </p:nvSpPr>
              <p:spPr>
                <a:xfrm>
                  <a:off x="3387212" y="1382809"/>
                  <a:ext cx="49161" cy="196645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27" name="Grupo 26"/>
              <p:cNvGrpSpPr/>
              <p:nvPr/>
            </p:nvGrpSpPr>
            <p:grpSpPr>
              <a:xfrm>
                <a:off x="8765458" y="1977219"/>
                <a:ext cx="275303" cy="337836"/>
                <a:chOff x="3274142" y="1382809"/>
                <a:chExt cx="275303" cy="337836"/>
              </a:xfrm>
              <a:solidFill>
                <a:srgbClr val="FF0000"/>
              </a:solidFill>
            </p:grpSpPr>
            <p:sp>
              <p:nvSpPr>
                <p:cNvPr id="28" name="Rectángulo redondeado 27"/>
                <p:cNvSpPr/>
                <p:nvPr/>
              </p:nvSpPr>
              <p:spPr>
                <a:xfrm>
                  <a:off x="3274142" y="1573161"/>
                  <a:ext cx="275303" cy="147484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Rectángulo 28"/>
                <p:cNvSpPr/>
                <p:nvPr/>
              </p:nvSpPr>
              <p:spPr>
                <a:xfrm>
                  <a:off x="3387212" y="1382809"/>
                  <a:ext cx="49161" cy="196645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0" name="Grupo 29"/>
              <p:cNvGrpSpPr/>
              <p:nvPr/>
            </p:nvGrpSpPr>
            <p:grpSpPr>
              <a:xfrm>
                <a:off x="9572069" y="1986609"/>
                <a:ext cx="275303" cy="337836"/>
                <a:chOff x="3274142" y="1382809"/>
                <a:chExt cx="275303" cy="337836"/>
              </a:xfrm>
              <a:solidFill>
                <a:srgbClr val="FF0000"/>
              </a:solidFill>
            </p:grpSpPr>
            <p:sp>
              <p:nvSpPr>
                <p:cNvPr id="31" name="Rectángulo redondeado 30"/>
                <p:cNvSpPr/>
                <p:nvPr/>
              </p:nvSpPr>
              <p:spPr>
                <a:xfrm>
                  <a:off x="3274142" y="1573161"/>
                  <a:ext cx="275303" cy="147484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" name="Rectángulo 31"/>
                <p:cNvSpPr/>
                <p:nvPr/>
              </p:nvSpPr>
              <p:spPr>
                <a:xfrm>
                  <a:off x="3387212" y="1382809"/>
                  <a:ext cx="49161" cy="196645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3" name="Grupo 32"/>
              <p:cNvGrpSpPr/>
              <p:nvPr/>
            </p:nvGrpSpPr>
            <p:grpSpPr>
              <a:xfrm>
                <a:off x="6884464" y="1974986"/>
                <a:ext cx="275303" cy="337836"/>
                <a:chOff x="3274142" y="1382809"/>
                <a:chExt cx="275303" cy="337836"/>
              </a:xfrm>
              <a:solidFill>
                <a:srgbClr val="FF0000"/>
              </a:solidFill>
            </p:grpSpPr>
            <p:sp>
              <p:nvSpPr>
                <p:cNvPr id="34" name="Rectángulo redondeado 33"/>
                <p:cNvSpPr/>
                <p:nvPr/>
              </p:nvSpPr>
              <p:spPr>
                <a:xfrm>
                  <a:off x="3274142" y="1573161"/>
                  <a:ext cx="275303" cy="147484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Rectángulo 34"/>
                <p:cNvSpPr/>
                <p:nvPr/>
              </p:nvSpPr>
              <p:spPr>
                <a:xfrm>
                  <a:off x="3387212" y="1382809"/>
                  <a:ext cx="49161" cy="196645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6" name="Grupo 35"/>
              <p:cNvGrpSpPr/>
              <p:nvPr/>
            </p:nvGrpSpPr>
            <p:grpSpPr>
              <a:xfrm>
                <a:off x="10373345" y="1953552"/>
                <a:ext cx="275303" cy="337836"/>
                <a:chOff x="3274142" y="1382809"/>
                <a:chExt cx="275303" cy="337836"/>
              </a:xfrm>
              <a:solidFill>
                <a:srgbClr val="FF0000"/>
              </a:solidFill>
            </p:grpSpPr>
            <p:sp>
              <p:nvSpPr>
                <p:cNvPr id="37" name="Rectángulo redondeado 36"/>
                <p:cNvSpPr/>
                <p:nvPr/>
              </p:nvSpPr>
              <p:spPr>
                <a:xfrm>
                  <a:off x="3274142" y="1573161"/>
                  <a:ext cx="275303" cy="147484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" name="Rectángulo 37"/>
                <p:cNvSpPr/>
                <p:nvPr/>
              </p:nvSpPr>
              <p:spPr>
                <a:xfrm>
                  <a:off x="3387212" y="1382809"/>
                  <a:ext cx="49161" cy="196645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9" name="Grupo 38"/>
              <p:cNvGrpSpPr/>
              <p:nvPr/>
            </p:nvGrpSpPr>
            <p:grpSpPr>
              <a:xfrm>
                <a:off x="6069930" y="1963856"/>
                <a:ext cx="275303" cy="337836"/>
                <a:chOff x="3274142" y="1382809"/>
                <a:chExt cx="275303" cy="337836"/>
              </a:xfrm>
              <a:solidFill>
                <a:srgbClr val="FF0000"/>
              </a:solidFill>
            </p:grpSpPr>
            <p:sp>
              <p:nvSpPr>
                <p:cNvPr id="40" name="Rectángulo redondeado 39"/>
                <p:cNvSpPr/>
                <p:nvPr/>
              </p:nvSpPr>
              <p:spPr>
                <a:xfrm>
                  <a:off x="3274142" y="1573161"/>
                  <a:ext cx="275303" cy="147484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" name="Rectángulo 40"/>
                <p:cNvSpPr/>
                <p:nvPr/>
              </p:nvSpPr>
              <p:spPr>
                <a:xfrm>
                  <a:off x="3387212" y="1382809"/>
                  <a:ext cx="49161" cy="196645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43" name="Conector recto de flecha 42"/>
              <p:cNvCxnSpPr/>
              <p:nvPr/>
            </p:nvCxnSpPr>
            <p:spPr>
              <a:xfrm>
                <a:off x="4915130" y="1596170"/>
                <a:ext cx="1277062" cy="3953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CuadroTexto 45"/>
              <p:cNvSpPr txBox="1"/>
              <p:nvPr/>
            </p:nvSpPr>
            <p:spPr>
              <a:xfrm>
                <a:off x="4619511" y="1167708"/>
                <a:ext cx="2630381" cy="410226"/>
              </a:xfrm>
              <a:prstGeom prst="rect">
                <a:avLst/>
              </a:prstGeom>
              <a:noFill/>
              <a:ln>
                <a:solidFill>
                  <a:schemeClr val="accent3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Hydraulic</a:t>
                </a:r>
                <a:r>
                  <a:rPr lang="es-MX" dirty="0"/>
                  <a:t> </a:t>
                </a:r>
                <a:r>
                  <a:rPr lang="en-US" dirty="0"/>
                  <a:t>fixing</a:t>
                </a:r>
                <a:r>
                  <a:rPr lang="es-MX" dirty="0"/>
                  <a:t>  </a:t>
                </a:r>
                <a:r>
                  <a:rPr lang="en-US" dirty="0"/>
                  <a:t>system</a:t>
                </a:r>
              </a:p>
            </p:txBody>
          </p:sp>
          <p:sp>
            <p:nvSpPr>
              <p:cNvPr id="44" name="CuadroTexto 43"/>
              <p:cNvSpPr txBox="1"/>
              <p:nvPr/>
            </p:nvSpPr>
            <p:spPr>
              <a:xfrm>
                <a:off x="8694329" y="1558516"/>
                <a:ext cx="156645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solidFill>
                      <a:srgbClr val="000000"/>
                    </a:solidFill>
                  </a:rPr>
                  <a:t>Distance</a:t>
                </a:r>
                <a:r>
                  <a:rPr lang="es-MX" sz="1000" b="1" dirty="0">
                    <a:solidFill>
                      <a:srgbClr val="000000"/>
                    </a:solidFill>
                  </a:rPr>
                  <a:t> </a:t>
                </a:r>
                <a:r>
                  <a:rPr lang="en-US" sz="1000" b="1" dirty="0">
                    <a:solidFill>
                      <a:srgbClr val="000000"/>
                    </a:solidFill>
                  </a:rPr>
                  <a:t>between</a:t>
                </a:r>
                <a:r>
                  <a:rPr lang="es-MX" sz="1000" b="1" dirty="0">
                    <a:solidFill>
                      <a:srgbClr val="000000"/>
                    </a:solidFill>
                  </a:rPr>
                  <a:t> slots </a:t>
                </a:r>
                <a:r>
                  <a:rPr lang="es-MX" sz="1000" dirty="0"/>
                  <a:t>6”</a:t>
                </a:r>
              </a:p>
            </p:txBody>
          </p:sp>
          <p:sp>
            <p:nvSpPr>
              <p:cNvPr id="3" name="Forma libre 2"/>
              <p:cNvSpPr/>
              <p:nvPr/>
            </p:nvSpPr>
            <p:spPr>
              <a:xfrm>
                <a:off x="4747260" y="2537246"/>
                <a:ext cx="1206500" cy="708874"/>
              </a:xfrm>
              <a:custGeom>
                <a:avLst/>
                <a:gdLst>
                  <a:gd name="connsiteX0" fmla="*/ 0 w 1206500"/>
                  <a:gd name="connsiteY0" fmla="*/ 2754 h 708874"/>
                  <a:gd name="connsiteX1" fmla="*/ 0 w 1206500"/>
                  <a:gd name="connsiteY1" fmla="*/ 2754 h 708874"/>
                  <a:gd name="connsiteX2" fmla="*/ 58420 w 1206500"/>
                  <a:gd name="connsiteY2" fmla="*/ 214 h 708874"/>
                  <a:gd name="connsiteX3" fmla="*/ 1206500 w 1206500"/>
                  <a:gd name="connsiteY3" fmla="*/ 48474 h 708874"/>
                  <a:gd name="connsiteX4" fmla="*/ 1203960 w 1206500"/>
                  <a:gd name="connsiteY4" fmla="*/ 630134 h 708874"/>
                  <a:gd name="connsiteX5" fmla="*/ 977900 w 1206500"/>
                  <a:gd name="connsiteY5" fmla="*/ 625054 h 708874"/>
                  <a:gd name="connsiteX6" fmla="*/ 977900 w 1206500"/>
                  <a:gd name="connsiteY6" fmla="*/ 708874 h 708874"/>
                  <a:gd name="connsiteX7" fmla="*/ 952500 w 1206500"/>
                  <a:gd name="connsiteY7" fmla="*/ 706334 h 708874"/>
                  <a:gd name="connsiteX8" fmla="*/ 22860 w 1206500"/>
                  <a:gd name="connsiteY8" fmla="*/ 642834 h 708874"/>
                  <a:gd name="connsiteX9" fmla="*/ 0 w 1206500"/>
                  <a:gd name="connsiteY9" fmla="*/ 2754 h 708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06500" h="708874">
                    <a:moveTo>
                      <a:pt x="0" y="2754"/>
                    </a:moveTo>
                    <a:lnTo>
                      <a:pt x="0" y="2754"/>
                    </a:lnTo>
                    <a:cubicBezTo>
                      <a:pt x="34641" y="-1095"/>
                      <a:pt x="15193" y="214"/>
                      <a:pt x="58420" y="214"/>
                    </a:cubicBezTo>
                    <a:lnTo>
                      <a:pt x="1206500" y="48474"/>
                    </a:lnTo>
                    <a:cubicBezTo>
                      <a:pt x="1205653" y="242361"/>
                      <a:pt x="1204807" y="436247"/>
                      <a:pt x="1203960" y="630134"/>
                    </a:cubicBezTo>
                    <a:lnTo>
                      <a:pt x="977900" y="625054"/>
                    </a:lnTo>
                    <a:lnTo>
                      <a:pt x="977900" y="708874"/>
                    </a:lnTo>
                    <a:lnTo>
                      <a:pt x="952500" y="706334"/>
                    </a:lnTo>
                    <a:lnTo>
                      <a:pt x="22860" y="642834"/>
                    </a:lnTo>
                    <a:lnTo>
                      <a:pt x="0" y="27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57" name="Flecha izquierda 56"/>
              <p:cNvSpPr/>
              <p:nvPr/>
            </p:nvSpPr>
            <p:spPr>
              <a:xfrm>
                <a:off x="6165623" y="3641362"/>
                <a:ext cx="1381882" cy="449824"/>
              </a:xfrm>
              <a:prstGeom prst="leftArrow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200" b="1" dirty="0"/>
                  <a:t>FRONT  </a:t>
                </a:r>
                <a:r>
                  <a:rPr lang="es-MX" sz="1100" b="1" dirty="0"/>
                  <a:t>FLOW</a:t>
                </a:r>
                <a:endParaRPr lang="en-US" sz="1200" b="1" dirty="0"/>
              </a:p>
            </p:txBody>
          </p:sp>
        </p:grpSp>
      </p:grpSp>
      <p:grpSp>
        <p:nvGrpSpPr>
          <p:cNvPr id="8" name="Grupo 7"/>
          <p:cNvGrpSpPr/>
          <p:nvPr/>
        </p:nvGrpSpPr>
        <p:grpSpPr>
          <a:xfrm>
            <a:off x="85267" y="4406796"/>
            <a:ext cx="3619601" cy="2194966"/>
            <a:chOff x="336430" y="3070561"/>
            <a:chExt cx="5115464" cy="3636059"/>
          </a:xfrm>
        </p:grpSpPr>
        <p:pic>
          <p:nvPicPr>
            <p:cNvPr id="9" name="Imagen 8" descr="Recorte de pantalla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6430" y="3225658"/>
              <a:ext cx="5115464" cy="3179382"/>
            </a:xfrm>
            <a:prstGeom prst="rect">
              <a:avLst/>
            </a:prstGeom>
          </p:spPr>
        </p:pic>
        <p:sp>
          <p:nvSpPr>
            <p:cNvPr id="13" name="CuadroTexto 12"/>
            <p:cNvSpPr txBox="1"/>
            <p:nvPr/>
          </p:nvSpPr>
          <p:spPr>
            <a:xfrm>
              <a:off x="2713726" y="3070561"/>
              <a:ext cx="16834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Distance</a:t>
              </a:r>
              <a:r>
                <a:rPr lang="es-MX" sz="1100" b="1" dirty="0"/>
                <a:t> </a:t>
              </a:r>
              <a:r>
                <a:rPr lang="en-US" sz="1100" b="1" dirty="0"/>
                <a:t>between</a:t>
              </a:r>
              <a:r>
                <a:rPr lang="es-MX" sz="1100" b="1" dirty="0"/>
                <a:t> </a:t>
              </a:r>
              <a:r>
                <a:rPr lang="en-US" sz="1100" b="1" dirty="0"/>
                <a:t>locator</a:t>
              </a:r>
              <a:endParaRPr lang="es-MX" sz="1100" b="1" dirty="0"/>
            </a:p>
          </p:txBody>
        </p:sp>
        <p:grpSp>
          <p:nvGrpSpPr>
            <p:cNvPr id="20" name="Grupo 19"/>
            <p:cNvGrpSpPr/>
            <p:nvPr/>
          </p:nvGrpSpPr>
          <p:grpSpPr>
            <a:xfrm>
              <a:off x="914400" y="6108991"/>
              <a:ext cx="1672356" cy="597629"/>
              <a:chOff x="5112639" y="6157281"/>
              <a:chExt cx="2380373" cy="702909"/>
            </a:xfrm>
          </p:grpSpPr>
          <p:pic>
            <p:nvPicPr>
              <p:cNvPr id="21" name="Imagen 2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2639" y="6157281"/>
                <a:ext cx="620816" cy="581880"/>
              </a:xfrm>
              <a:prstGeom prst="rect">
                <a:avLst/>
              </a:prstGeom>
              <a:ln w="381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</p:pic>
          <p:sp>
            <p:nvSpPr>
              <p:cNvPr id="22" name="CuadroTexto 21"/>
              <p:cNvSpPr txBox="1"/>
              <p:nvPr/>
            </p:nvSpPr>
            <p:spPr>
              <a:xfrm>
                <a:off x="5733454" y="6448222"/>
                <a:ext cx="1759558" cy="411968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050" dirty="0"/>
                  <a:t>Locator T021</a:t>
                </a:r>
                <a:endParaRPr lang="en-US" sz="1050" dirty="0"/>
              </a:p>
            </p:txBody>
          </p:sp>
        </p:grpSp>
      </p:grpSp>
      <p:grpSp>
        <p:nvGrpSpPr>
          <p:cNvPr id="45" name="Grupo 44"/>
          <p:cNvGrpSpPr/>
          <p:nvPr/>
        </p:nvGrpSpPr>
        <p:grpSpPr>
          <a:xfrm>
            <a:off x="8501787" y="3906844"/>
            <a:ext cx="2129507" cy="2360648"/>
            <a:chOff x="3432048" y="2147252"/>
            <a:chExt cx="2164080" cy="2901252"/>
          </a:xfrm>
        </p:grpSpPr>
        <p:pic>
          <p:nvPicPr>
            <p:cNvPr id="49" name="Imagen 48"/>
            <p:cNvPicPr>
              <a:picLocks noChangeAspect="1"/>
            </p:cNvPicPr>
            <p:nvPr/>
          </p:nvPicPr>
          <p:blipFill rotWithShape="1">
            <a:blip r:embed="rId9"/>
            <a:srcRect r="73702"/>
            <a:stretch/>
          </p:blipFill>
          <p:spPr>
            <a:xfrm>
              <a:off x="3755073" y="2147252"/>
              <a:ext cx="1841055" cy="2847975"/>
            </a:xfrm>
            <a:prstGeom prst="rect">
              <a:avLst/>
            </a:prstGeom>
          </p:spPr>
        </p:pic>
        <p:sp>
          <p:nvSpPr>
            <p:cNvPr id="50" name="Rectángulo 49"/>
            <p:cNvSpPr/>
            <p:nvPr/>
          </p:nvSpPr>
          <p:spPr>
            <a:xfrm>
              <a:off x="4561840" y="3901440"/>
              <a:ext cx="563880" cy="1778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51" name="Conector recto 50"/>
            <p:cNvCxnSpPr/>
            <p:nvPr/>
          </p:nvCxnSpPr>
          <p:spPr>
            <a:xfrm flipH="1">
              <a:off x="3696208" y="4642104"/>
              <a:ext cx="865632" cy="1117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/>
            <p:cNvCxnSpPr/>
            <p:nvPr/>
          </p:nvCxnSpPr>
          <p:spPr>
            <a:xfrm flipH="1" flipV="1">
              <a:off x="3608833" y="3092712"/>
              <a:ext cx="816863" cy="43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de flecha 52"/>
            <p:cNvCxnSpPr/>
            <p:nvPr/>
          </p:nvCxnSpPr>
          <p:spPr>
            <a:xfrm>
              <a:off x="3870960" y="2707640"/>
              <a:ext cx="508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de flecha 53"/>
            <p:cNvCxnSpPr/>
            <p:nvPr/>
          </p:nvCxnSpPr>
          <p:spPr>
            <a:xfrm flipV="1">
              <a:off x="3870960" y="4718304"/>
              <a:ext cx="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CuadroTexto 55"/>
            <p:cNvSpPr txBox="1"/>
            <p:nvPr/>
          </p:nvSpPr>
          <p:spPr>
            <a:xfrm>
              <a:off x="3432048" y="3712464"/>
              <a:ext cx="904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</a:rPr>
                <a:t>425mm</a:t>
              </a:r>
            </a:p>
          </p:txBody>
        </p:sp>
      </p:grpSp>
      <p:sp>
        <p:nvSpPr>
          <p:cNvPr id="58" name="Llamada rectangular 57"/>
          <p:cNvSpPr/>
          <p:nvPr/>
        </p:nvSpPr>
        <p:spPr>
          <a:xfrm>
            <a:off x="9485581" y="2758879"/>
            <a:ext cx="2041577" cy="670121"/>
          </a:xfrm>
          <a:prstGeom prst="wedgeRectCallout">
            <a:avLst>
              <a:gd name="adj1" fmla="val -69273"/>
              <a:gd name="adj2" fmla="val 232395"/>
            </a:avLst>
          </a:prstGeom>
          <a:solidFill>
            <a:srgbClr val="FF0000"/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Common</a:t>
            </a:r>
            <a:r>
              <a:rPr lang="es-MX" sz="1050" dirty="0"/>
              <a:t> </a:t>
            </a:r>
            <a:r>
              <a:rPr lang="en-US" sz="1050" dirty="0"/>
              <a:t>coil</a:t>
            </a:r>
            <a:r>
              <a:rPr lang="es-MX" sz="1050" dirty="0"/>
              <a:t> </a:t>
            </a:r>
            <a:r>
              <a:rPr lang="en-US" sz="1050" dirty="0"/>
              <a:t>feed</a:t>
            </a:r>
            <a:r>
              <a:rPr lang="es-MX" sz="1050" dirty="0"/>
              <a:t> </a:t>
            </a:r>
            <a:r>
              <a:rPr lang="en-US" sz="1050" dirty="0"/>
              <a:t>height</a:t>
            </a:r>
            <a:r>
              <a:rPr lang="es-MX" sz="1050" dirty="0"/>
              <a:t> </a:t>
            </a:r>
            <a:r>
              <a:rPr lang="en-PH" sz="1050" dirty="0"/>
              <a:t>with</a:t>
            </a:r>
            <a:r>
              <a:rPr lang="es-MX" sz="1050" dirty="0"/>
              <a:t> </a:t>
            </a:r>
            <a:r>
              <a:rPr lang="en-US" sz="1050" dirty="0"/>
              <a:t>lifters</a:t>
            </a:r>
            <a:r>
              <a:rPr lang="es-MX" sz="1050" dirty="0"/>
              <a:t> extended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E50EB11-CD03-482A-8099-FF1EA9C0E2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60" y="2767807"/>
            <a:ext cx="1800000" cy="77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68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82085" y="241540"/>
            <a:ext cx="68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PR32</a:t>
            </a:r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142585"/>
              </p:ext>
            </p:extLst>
          </p:nvPr>
        </p:nvGraphicFramePr>
        <p:xfrm>
          <a:off x="966159" y="63787"/>
          <a:ext cx="11084935" cy="74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5205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Width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Outside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CuadroTexto 13"/>
          <p:cNvSpPr txBox="1"/>
          <p:nvPr/>
        </p:nvSpPr>
        <p:spPr>
          <a:xfrm>
            <a:off x="0" y="969335"/>
            <a:ext cx="3371711" cy="584775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PROG BLANKING</a:t>
            </a:r>
          </a:p>
        </p:txBody>
      </p:sp>
      <p:sp>
        <p:nvSpPr>
          <p:cNvPr id="17" name="Marcador de número de diapositiva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17</a:t>
            </a:fld>
            <a:endParaRPr lang="es-MX" dirty="0"/>
          </a:p>
        </p:txBody>
      </p:sp>
      <p:sp>
        <p:nvSpPr>
          <p:cNvPr id="20" name="Rectángulo 19"/>
          <p:cNvSpPr/>
          <p:nvPr/>
        </p:nvSpPr>
        <p:spPr>
          <a:xfrm>
            <a:off x="12079050" y="0"/>
            <a:ext cx="11295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557" y="4448195"/>
            <a:ext cx="2337201" cy="1680684"/>
          </a:xfrm>
          <a:prstGeom prst="rect">
            <a:avLst/>
          </a:prstGeom>
        </p:spPr>
      </p:pic>
      <p:sp>
        <p:nvSpPr>
          <p:cNvPr id="21" name="Rectángulo 20"/>
          <p:cNvSpPr/>
          <p:nvPr/>
        </p:nvSpPr>
        <p:spPr>
          <a:xfrm>
            <a:off x="1664970" y="5198745"/>
            <a:ext cx="1403985" cy="1339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23"/>
          <p:cNvSpPr/>
          <p:nvPr/>
        </p:nvSpPr>
        <p:spPr>
          <a:xfrm>
            <a:off x="1552755" y="5038566"/>
            <a:ext cx="1354347" cy="1601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upo 10"/>
          <p:cNvGrpSpPr/>
          <p:nvPr/>
        </p:nvGrpSpPr>
        <p:grpSpPr>
          <a:xfrm>
            <a:off x="23620" y="3775766"/>
            <a:ext cx="4508165" cy="2845957"/>
            <a:chOff x="159717" y="2593530"/>
            <a:chExt cx="5072344" cy="3787175"/>
          </a:xfrm>
        </p:grpSpPr>
        <p:sp>
          <p:nvSpPr>
            <p:cNvPr id="10" name="CuadroTexto 9"/>
            <p:cNvSpPr txBox="1"/>
            <p:nvPr/>
          </p:nvSpPr>
          <p:spPr>
            <a:xfrm>
              <a:off x="3068955" y="6119095"/>
              <a:ext cx="16834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Distance</a:t>
              </a:r>
              <a:r>
                <a:rPr lang="es-MX" sz="1100" b="1" dirty="0"/>
                <a:t> </a:t>
              </a:r>
              <a:r>
                <a:rPr lang="en-US" sz="1100" b="1" dirty="0"/>
                <a:t>between</a:t>
              </a:r>
              <a:r>
                <a:rPr lang="es-MX" sz="1100" b="1" dirty="0"/>
                <a:t> </a:t>
              </a:r>
              <a:r>
                <a:rPr lang="en-US" sz="1100" b="1" dirty="0"/>
                <a:t>locator</a:t>
              </a:r>
              <a:endParaRPr lang="es-MX" sz="1100" b="1" dirty="0"/>
            </a:p>
          </p:txBody>
        </p:sp>
        <p:grpSp>
          <p:nvGrpSpPr>
            <p:cNvPr id="9" name="Grupo 8"/>
            <p:cNvGrpSpPr/>
            <p:nvPr/>
          </p:nvGrpSpPr>
          <p:grpSpPr>
            <a:xfrm>
              <a:off x="159717" y="2593530"/>
              <a:ext cx="5072344" cy="3552017"/>
              <a:chOff x="53112" y="3088985"/>
              <a:chExt cx="5072344" cy="3552017"/>
            </a:xfrm>
          </p:grpSpPr>
          <p:sp>
            <p:nvSpPr>
              <p:cNvPr id="15" name="CuadroTexto 14"/>
              <p:cNvSpPr txBox="1"/>
              <p:nvPr/>
            </p:nvSpPr>
            <p:spPr>
              <a:xfrm>
                <a:off x="1126367" y="3504850"/>
                <a:ext cx="6985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Bolster</a:t>
                </a:r>
              </a:p>
            </p:txBody>
          </p:sp>
          <p:pic>
            <p:nvPicPr>
              <p:cNvPr id="23" name="Imagen 22" descr="Recorte de pantalla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112" y="3756488"/>
                <a:ext cx="5072344" cy="2884514"/>
              </a:xfrm>
              <a:prstGeom prst="rect">
                <a:avLst/>
              </a:prstGeom>
            </p:spPr>
          </p:pic>
          <p:grpSp>
            <p:nvGrpSpPr>
              <p:cNvPr id="26" name="Grupo 25"/>
              <p:cNvGrpSpPr/>
              <p:nvPr/>
            </p:nvGrpSpPr>
            <p:grpSpPr>
              <a:xfrm>
                <a:off x="2047366" y="3088985"/>
                <a:ext cx="1726973" cy="723641"/>
                <a:chOff x="5112639" y="6157281"/>
                <a:chExt cx="1957454" cy="581880"/>
              </a:xfrm>
            </p:grpSpPr>
            <p:pic>
              <p:nvPicPr>
                <p:cNvPr id="27" name="Imagen 26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12639" y="6157281"/>
                  <a:ext cx="620816" cy="581880"/>
                </a:xfrm>
                <a:prstGeom prst="rect">
                  <a:avLst/>
                </a:prstGeom>
                <a:ln w="3810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</p:pic>
            <p:sp>
              <p:nvSpPr>
                <p:cNvPr id="28" name="CuadroTexto 27"/>
                <p:cNvSpPr txBox="1"/>
                <p:nvPr/>
              </p:nvSpPr>
              <p:spPr>
                <a:xfrm>
                  <a:off x="5733454" y="6448221"/>
                  <a:ext cx="1336639" cy="261610"/>
                </a:xfrm>
                <a:prstGeom prst="rect">
                  <a:avLst/>
                </a:prstGeom>
                <a:noFill/>
                <a:ln w="38100"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/>
                    <a:t>Locator</a:t>
                  </a:r>
                  <a:r>
                    <a:rPr lang="es-MX" sz="1050" dirty="0"/>
                    <a:t> T020</a:t>
                  </a:r>
                  <a:endParaRPr lang="en-US" sz="1050" dirty="0"/>
                </a:p>
              </p:txBody>
            </p:sp>
          </p:grpSp>
        </p:grpSp>
      </p:grp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684109"/>
              </p:ext>
            </p:extLst>
          </p:nvPr>
        </p:nvGraphicFramePr>
        <p:xfrm>
          <a:off x="0" y="159901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6" name="Acrobat Document" showAsIcon="1" r:id="rId6" imgW="914400" imgH="792360" progId="AcroExch.Document.DC">
                  <p:embed/>
                </p:oleObj>
              </mc:Choice>
              <mc:Fallback>
                <p:oleObj name="Acrobat Document" showAsIcon="1" r:id="rId6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1599011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upo 30"/>
          <p:cNvGrpSpPr/>
          <p:nvPr/>
        </p:nvGrpSpPr>
        <p:grpSpPr>
          <a:xfrm>
            <a:off x="5675856" y="4653843"/>
            <a:ext cx="1961462" cy="2067632"/>
            <a:chOff x="3432048" y="2147252"/>
            <a:chExt cx="2164080" cy="2901252"/>
          </a:xfrm>
        </p:grpSpPr>
        <p:pic>
          <p:nvPicPr>
            <p:cNvPr id="32" name="Imagen 31"/>
            <p:cNvPicPr>
              <a:picLocks noChangeAspect="1"/>
            </p:cNvPicPr>
            <p:nvPr/>
          </p:nvPicPr>
          <p:blipFill rotWithShape="1">
            <a:blip r:embed="rId8"/>
            <a:srcRect r="73702"/>
            <a:stretch/>
          </p:blipFill>
          <p:spPr>
            <a:xfrm>
              <a:off x="3755073" y="2147252"/>
              <a:ext cx="1841055" cy="2847975"/>
            </a:xfrm>
            <a:prstGeom prst="rect">
              <a:avLst/>
            </a:prstGeom>
          </p:spPr>
        </p:pic>
        <p:sp>
          <p:nvSpPr>
            <p:cNvPr id="33" name="Rectángulo 32"/>
            <p:cNvSpPr/>
            <p:nvPr/>
          </p:nvSpPr>
          <p:spPr>
            <a:xfrm>
              <a:off x="4561840" y="3901440"/>
              <a:ext cx="563880" cy="1778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34" name="Conector recto 33"/>
            <p:cNvCxnSpPr/>
            <p:nvPr/>
          </p:nvCxnSpPr>
          <p:spPr>
            <a:xfrm flipH="1">
              <a:off x="3696208" y="4642104"/>
              <a:ext cx="865632" cy="1117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/>
            <p:cNvCxnSpPr/>
            <p:nvPr/>
          </p:nvCxnSpPr>
          <p:spPr>
            <a:xfrm flipH="1" flipV="1">
              <a:off x="3608833" y="3092712"/>
              <a:ext cx="816863" cy="43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/>
            <p:cNvCxnSpPr/>
            <p:nvPr/>
          </p:nvCxnSpPr>
          <p:spPr>
            <a:xfrm>
              <a:off x="3870960" y="2707640"/>
              <a:ext cx="508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/>
            <p:cNvCxnSpPr/>
            <p:nvPr/>
          </p:nvCxnSpPr>
          <p:spPr>
            <a:xfrm flipV="1">
              <a:off x="3870960" y="4718304"/>
              <a:ext cx="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uadroTexto 38"/>
            <p:cNvSpPr txBox="1"/>
            <p:nvPr/>
          </p:nvSpPr>
          <p:spPr>
            <a:xfrm>
              <a:off x="3432048" y="3712464"/>
              <a:ext cx="904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</a:rPr>
                <a:t>600mm</a:t>
              </a: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559711" y="1063805"/>
            <a:ext cx="7150882" cy="3024472"/>
            <a:chOff x="4061931" y="1128535"/>
            <a:chExt cx="7794644" cy="3679108"/>
          </a:xfrm>
        </p:grpSpPr>
        <p:pic>
          <p:nvPicPr>
            <p:cNvPr id="5" name="Imagen 4" descr="Recorte de pantalla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18438" y="1515518"/>
              <a:ext cx="6629975" cy="3292125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10657504" y="2380815"/>
              <a:ext cx="1199071" cy="43088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s-MX" sz="1100" b="1" dirty="0"/>
                <a:t>Common </a:t>
              </a:r>
              <a:r>
                <a:rPr lang="en-US" sz="1100" b="1" dirty="0"/>
                <a:t>Shut</a:t>
              </a:r>
              <a:r>
                <a:rPr lang="es-MX" sz="1100" b="1" dirty="0"/>
                <a:t> </a:t>
              </a:r>
              <a:r>
                <a:rPr lang="en-US" sz="1100" b="1" dirty="0"/>
                <a:t>Height</a:t>
              </a:r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10066594" y="2853803"/>
              <a:ext cx="1164566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400" dirty="0"/>
                <a:t>1070mm</a:t>
              </a:r>
            </a:p>
          </p:txBody>
        </p:sp>
        <p:sp>
          <p:nvSpPr>
            <p:cNvPr id="3" name="Rectángulo 2"/>
            <p:cNvSpPr/>
            <p:nvPr/>
          </p:nvSpPr>
          <p:spPr>
            <a:xfrm>
              <a:off x="8798242" y="4183437"/>
              <a:ext cx="154241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solidFill>
                    <a:srgbClr val="000000"/>
                  </a:solidFill>
                </a:rPr>
                <a:t>Distance</a:t>
              </a:r>
              <a:r>
                <a:rPr lang="es-MX" sz="1100" b="1" dirty="0">
                  <a:solidFill>
                    <a:srgbClr val="000000"/>
                  </a:solidFill>
                </a:rPr>
                <a:t> </a:t>
              </a:r>
              <a:r>
                <a:rPr lang="en-US" sz="1100" b="1" dirty="0">
                  <a:solidFill>
                    <a:srgbClr val="000000"/>
                  </a:solidFill>
                </a:rPr>
                <a:t>between</a:t>
              </a:r>
              <a:r>
                <a:rPr lang="es-MX" sz="1100" b="1" dirty="0">
                  <a:solidFill>
                    <a:srgbClr val="000000"/>
                  </a:solidFill>
                </a:rPr>
                <a:t> slots</a:t>
              </a:r>
              <a:endParaRPr lang="es-MX" sz="1100" b="1" dirty="0"/>
            </a:p>
          </p:txBody>
        </p:sp>
        <p:sp>
          <p:nvSpPr>
            <p:cNvPr id="29" name="Rectángulo 28"/>
            <p:cNvSpPr/>
            <p:nvPr/>
          </p:nvSpPr>
          <p:spPr>
            <a:xfrm>
              <a:off x="4061931" y="1128535"/>
              <a:ext cx="2460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Image with closed press</a:t>
              </a:r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7051073" y="1263880"/>
              <a:ext cx="14189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000000"/>
                  </a:solidFill>
                </a:rPr>
                <a:t>Distance</a:t>
              </a:r>
              <a:r>
                <a:rPr lang="es-MX" sz="1000" b="1" dirty="0">
                  <a:solidFill>
                    <a:srgbClr val="000000"/>
                  </a:solidFill>
                </a:rPr>
                <a:t> </a:t>
              </a:r>
              <a:r>
                <a:rPr lang="en-US" sz="1000" b="1" dirty="0">
                  <a:solidFill>
                    <a:srgbClr val="000000"/>
                  </a:solidFill>
                </a:rPr>
                <a:t>between</a:t>
              </a:r>
              <a:r>
                <a:rPr lang="es-MX" sz="1000" b="1" dirty="0">
                  <a:solidFill>
                    <a:srgbClr val="000000"/>
                  </a:solidFill>
                </a:rPr>
                <a:t> slots</a:t>
              </a:r>
              <a:endParaRPr lang="es-MX" sz="1000" dirty="0"/>
            </a:p>
          </p:txBody>
        </p:sp>
        <p:sp>
          <p:nvSpPr>
            <p:cNvPr id="7" name="Forma libre 6"/>
            <p:cNvSpPr/>
            <p:nvPr/>
          </p:nvSpPr>
          <p:spPr>
            <a:xfrm>
              <a:off x="4739640" y="2621280"/>
              <a:ext cx="2476500" cy="1066800"/>
            </a:xfrm>
            <a:custGeom>
              <a:avLst/>
              <a:gdLst>
                <a:gd name="connsiteX0" fmla="*/ 735330 w 2476500"/>
                <a:gd name="connsiteY0" fmla="*/ 937260 h 1066800"/>
                <a:gd name="connsiteX1" fmla="*/ 784860 w 2476500"/>
                <a:gd name="connsiteY1" fmla="*/ 857250 h 1066800"/>
                <a:gd name="connsiteX2" fmla="*/ 2468880 w 2476500"/>
                <a:gd name="connsiteY2" fmla="*/ 849630 h 1066800"/>
                <a:gd name="connsiteX3" fmla="*/ 2476500 w 2476500"/>
                <a:gd name="connsiteY3" fmla="*/ 0 h 1066800"/>
                <a:gd name="connsiteX4" fmla="*/ 60960 w 2476500"/>
                <a:gd name="connsiteY4" fmla="*/ 11430 h 1066800"/>
                <a:gd name="connsiteX5" fmla="*/ 0 w 2476500"/>
                <a:gd name="connsiteY5" fmla="*/ 1066800 h 1066800"/>
                <a:gd name="connsiteX6" fmla="*/ 30480 w 2476500"/>
                <a:gd name="connsiteY6" fmla="*/ 1047750 h 1066800"/>
                <a:gd name="connsiteX7" fmla="*/ 735330 w 2476500"/>
                <a:gd name="connsiteY7" fmla="*/ 93726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76500" h="1066800">
                  <a:moveTo>
                    <a:pt x="735330" y="937260"/>
                  </a:moveTo>
                  <a:lnTo>
                    <a:pt x="784860" y="857250"/>
                  </a:lnTo>
                  <a:lnTo>
                    <a:pt x="2468880" y="849630"/>
                  </a:lnTo>
                  <a:lnTo>
                    <a:pt x="2476500" y="0"/>
                  </a:lnTo>
                  <a:lnTo>
                    <a:pt x="60960" y="11430"/>
                  </a:lnTo>
                  <a:lnTo>
                    <a:pt x="0" y="1066800"/>
                  </a:lnTo>
                  <a:lnTo>
                    <a:pt x="30480" y="1047750"/>
                  </a:lnTo>
                  <a:lnTo>
                    <a:pt x="735330" y="93726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40" name="Flecha izquierda 39"/>
            <p:cNvSpPr/>
            <p:nvPr/>
          </p:nvSpPr>
          <p:spPr>
            <a:xfrm flipH="1">
              <a:off x="8855781" y="3477758"/>
              <a:ext cx="1427332" cy="449824"/>
            </a:xfrm>
            <a:prstGeom prst="lef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b="1" dirty="0"/>
                <a:t>FRONT  </a:t>
              </a:r>
              <a:r>
                <a:rPr lang="es-MX" sz="1100" b="1" dirty="0"/>
                <a:t>FLOW</a:t>
              </a:r>
              <a:endParaRPr lang="en-US" sz="1200" b="1" dirty="0"/>
            </a:p>
          </p:txBody>
        </p:sp>
      </p:grpSp>
      <p:sp>
        <p:nvSpPr>
          <p:cNvPr id="41" name="Llamada rectangular 40"/>
          <p:cNvSpPr/>
          <p:nvPr/>
        </p:nvSpPr>
        <p:spPr>
          <a:xfrm>
            <a:off x="2310159" y="2718880"/>
            <a:ext cx="2041577" cy="670121"/>
          </a:xfrm>
          <a:prstGeom prst="wedgeRectCallout">
            <a:avLst>
              <a:gd name="adj1" fmla="val 119338"/>
              <a:gd name="adj2" fmla="val 332461"/>
            </a:avLst>
          </a:prstGeom>
          <a:solidFill>
            <a:srgbClr val="FF0000"/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Common</a:t>
            </a:r>
            <a:r>
              <a:rPr lang="es-MX" sz="1050" dirty="0"/>
              <a:t> </a:t>
            </a:r>
            <a:r>
              <a:rPr lang="en-US" sz="1050" dirty="0"/>
              <a:t>coil</a:t>
            </a:r>
            <a:r>
              <a:rPr lang="es-MX" sz="1050" dirty="0"/>
              <a:t> </a:t>
            </a:r>
            <a:r>
              <a:rPr lang="en-US" sz="1050" dirty="0"/>
              <a:t>feed</a:t>
            </a:r>
            <a:r>
              <a:rPr lang="es-MX" sz="1050" dirty="0"/>
              <a:t> </a:t>
            </a:r>
            <a:r>
              <a:rPr lang="en-US" sz="1050" dirty="0"/>
              <a:t>height</a:t>
            </a:r>
            <a:r>
              <a:rPr lang="es-MX" sz="1050" dirty="0"/>
              <a:t> </a:t>
            </a:r>
            <a:r>
              <a:rPr lang="en-PH" sz="1050" dirty="0"/>
              <a:t>with</a:t>
            </a:r>
            <a:r>
              <a:rPr lang="es-MX" sz="1050" dirty="0"/>
              <a:t> </a:t>
            </a:r>
            <a:r>
              <a:rPr lang="en-US" sz="1050" dirty="0"/>
              <a:t>lifters</a:t>
            </a:r>
            <a:r>
              <a:rPr lang="es-MX" sz="1050" dirty="0"/>
              <a:t> extended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2A0F975-4002-4F63-824F-F281E2A9A5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9584" y="925922"/>
            <a:ext cx="1995488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79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854" y="1045030"/>
            <a:ext cx="10143744" cy="526369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98496" y="239651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PR23,PR24</a:t>
            </a:r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03965"/>
              </p:ext>
            </p:extLst>
          </p:nvPr>
        </p:nvGraphicFramePr>
        <p:xfrm>
          <a:off x="1292966" y="9728"/>
          <a:ext cx="10428858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7938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527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 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Strokes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Strokes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Transfer Lift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Max. Pitch / Transfer Pitch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Pitch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Max. Transfer Travel In &amp; Out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Max. distance between trans. bars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Min. distance between trans. bars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466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MECH/TANS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25.4-254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18,24,30,36,42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420mm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1844071" y="3951807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MX" sz="1100" b="1" dirty="0"/>
              <a:t>Common Shut Height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3247" y="916968"/>
            <a:ext cx="2587704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MECH/TRANS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6972454" y="5978133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/>
              <a:t>Distance between slots</a:t>
            </a:r>
          </a:p>
        </p:txBody>
      </p:sp>
      <p:sp>
        <p:nvSpPr>
          <p:cNvPr id="14" name="Marcador de número de diapositiva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18</a:t>
            </a:fld>
            <a:endParaRPr lang="es-MX" dirty="0"/>
          </a:p>
        </p:txBody>
      </p:sp>
      <p:sp>
        <p:nvSpPr>
          <p:cNvPr id="12" name="Rectángulo 11"/>
          <p:cNvSpPr/>
          <p:nvPr/>
        </p:nvSpPr>
        <p:spPr>
          <a:xfrm>
            <a:off x="12079050" y="9728"/>
            <a:ext cx="112950" cy="685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23" y="2886677"/>
            <a:ext cx="1154943" cy="1268173"/>
          </a:xfrm>
          <a:prstGeom prst="rect">
            <a:avLst/>
          </a:prstGeom>
        </p:spPr>
      </p:pic>
      <p:grpSp>
        <p:nvGrpSpPr>
          <p:cNvPr id="8" name="Grupo 7"/>
          <p:cNvGrpSpPr/>
          <p:nvPr/>
        </p:nvGrpSpPr>
        <p:grpSpPr>
          <a:xfrm>
            <a:off x="377894" y="5687193"/>
            <a:ext cx="1957454" cy="581880"/>
            <a:chOff x="377894" y="5687193"/>
            <a:chExt cx="1957454" cy="581880"/>
          </a:xfrm>
        </p:grpSpPr>
        <p:pic>
          <p:nvPicPr>
            <p:cNvPr id="17" name="Imagen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894" y="5687193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18" name="CuadroTexto 17"/>
            <p:cNvSpPr txBox="1"/>
            <p:nvPr/>
          </p:nvSpPr>
          <p:spPr>
            <a:xfrm>
              <a:off x="998709" y="5978133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050" dirty="0"/>
                <a:t>Locator T020</a:t>
              </a:r>
              <a:endParaRPr lang="en-US" sz="1050" dirty="0"/>
            </a:p>
          </p:txBody>
        </p:sp>
      </p:grpSp>
      <p:sp>
        <p:nvSpPr>
          <p:cNvPr id="19" name="Flecha izquierda 18"/>
          <p:cNvSpPr/>
          <p:nvPr/>
        </p:nvSpPr>
        <p:spPr>
          <a:xfrm flipH="1">
            <a:off x="5441605" y="4952972"/>
            <a:ext cx="142733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sp>
        <p:nvSpPr>
          <p:cNvPr id="20" name="Rectángulo 19"/>
          <p:cNvSpPr/>
          <p:nvPr/>
        </p:nvSpPr>
        <p:spPr>
          <a:xfrm>
            <a:off x="1317099" y="1690641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11" name="Objeto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739953"/>
              </p:ext>
            </p:extLst>
          </p:nvPr>
        </p:nvGraphicFramePr>
        <p:xfrm>
          <a:off x="0" y="1591368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9" name="Acrobat Document" showAsIcon="1" r:id="rId6" imgW="914400" imgH="792360" progId="AcroExch.Document.DC">
                  <p:embed/>
                </p:oleObj>
              </mc:Choice>
              <mc:Fallback>
                <p:oleObj name="Acrobat Document" showAsIcon="1" r:id="rId6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1591368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3043142" y="3951807"/>
            <a:ext cx="107982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1194 mm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7356939" y="2763566"/>
            <a:ext cx="1418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Distance</a:t>
            </a:r>
            <a:r>
              <a:rPr lang="es-MX" sz="1000" b="1" dirty="0">
                <a:solidFill>
                  <a:srgbClr val="000000"/>
                </a:solidFill>
              </a:rPr>
              <a:t> </a:t>
            </a:r>
            <a:r>
              <a:rPr lang="en-US" sz="1000" b="1" dirty="0">
                <a:solidFill>
                  <a:srgbClr val="000000"/>
                </a:solidFill>
              </a:rPr>
              <a:t>between</a:t>
            </a:r>
            <a:r>
              <a:rPr lang="es-MX" sz="1000" b="1" dirty="0">
                <a:solidFill>
                  <a:srgbClr val="000000"/>
                </a:solidFill>
              </a:rPr>
              <a:t> slots</a:t>
            </a:r>
            <a:endParaRPr lang="es-MX" sz="1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FE0169D-B669-44A2-952F-87AEC3E889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8548" y="2217991"/>
            <a:ext cx="163459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94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05441" y="362309"/>
            <a:ext cx="1330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/>
              <a:t>PR23,PR24</a:t>
            </a:r>
          </a:p>
        </p:txBody>
      </p:sp>
      <p:pic>
        <p:nvPicPr>
          <p:cNvPr id="5" name="Imagen 4" descr="Recorte de pantalla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041" y="510861"/>
            <a:ext cx="10015097" cy="384566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441799" y="4297069"/>
            <a:ext cx="16834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Distance</a:t>
            </a:r>
            <a:r>
              <a:rPr lang="es-MX" sz="1100" b="1" dirty="0"/>
              <a:t> </a:t>
            </a:r>
            <a:r>
              <a:rPr lang="en-US" sz="1100" b="1" dirty="0"/>
              <a:t>between</a:t>
            </a:r>
            <a:r>
              <a:rPr lang="es-MX" sz="1100" b="1" dirty="0"/>
              <a:t> </a:t>
            </a:r>
            <a:r>
              <a:rPr lang="en-US" sz="1100" b="1" dirty="0"/>
              <a:t>locator</a:t>
            </a:r>
            <a:endParaRPr lang="es-MX" sz="1100" b="1" dirty="0"/>
          </a:p>
        </p:txBody>
      </p:sp>
      <p:pic>
        <p:nvPicPr>
          <p:cNvPr id="7" name="Imagen 6" descr="Recorte de pantalla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057" y="4128685"/>
            <a:ext cx="5578323" cy="2674852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863477" y="4632385"/>
            <a:ext cx="698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/>
              <a:t>Bolster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0" y="814336"/>
            <a:ext cx="2570672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MECH/TRANS</a:t>
            </a:r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19</a:t>
            </a:fld>
            <a:endParaRPr lang="es-MX" dirty="0"/>
          </a:p>
        </p:txBody>
      </p:sp>
      <p:sp>
        <p:nvSpPr>
          <p:cNvPr id="12" name="Rectángulo 11"/>
          <p:cNvSpPr/>
          <p:nvPr/>
        </p:nvSpPr>
        <p:spPr>
          <a:xfrm>
            <a:off x="12079050" y="9728"/>
            <a:ext cx="112950" cy="685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Conector recto 2"/>
          <p:cNvCxnSpPr/>
          <p:nvPr/>
        </p:nvCxnSpPr>
        <p:spPr>
          <a:xfrm flipV="1">
            <a:off x="4071668" y="603849"/>
            <a:ext cx="0" cy="7159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4491487" y="603849"/>
            <a:ext cx="0" cy="7159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>
            <a:off x="3459192" y="814336"/>
            <a:ext cx="483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 flipH="1">
            <a:off x="4591584" y="813758"/>
            <a:ext cx="396815" cy="5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3014616" y="394990"/>
            <a:ext cx="1057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457.2mm</a:t>
            </a:r>
            <a:endParaRPr lang="en-US" sz="1600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492" y="2804641"/>
            <a:ext cx="1154943" cy="1268173"/>
          </a:xfrm>
          <a:prstGeom prst="rect">
            <a:avLst/>
          </a:prstGeom>
        </p:spPr>
      </p:pic>
      <p:grpSp>
        <p:nvGrpSpPr>
          <p:cNvPr id="18" name="Grupo 17"/>
          <p:cNvGrpSpPr/>
          <p:nvPr/>
        </p:nvGrpSpPr>
        <p:grpSpPr>
          <a:xfrm>
            <a:off x="7405703" y="5289092"/>
            <a:ext cx="1957454" cy="581880"/>
            <a:chOff x="5112639" y="6157281"/>
            <a:chExt cx="1957454" cy="581880"/>
          </a:xfrm>
        </p:grpSpPr>
        <p:pic>
          <p:nvPicPr>
            <p:cNvPr id="20" name="Imagen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12639" y="6157281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21" name="CuadroTexto 20"/>
            <p:cNvSpPr txBox="1"/>
            <p:nvPr/>
          </p:nvSpPr>
          <p:spPr>
            <a:xfrm>
              <a:off x="5733454" y="6448221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050" dirty="0"/>
                <a:t>Locator T020</a:t>
              </a:r>
              <a:endParaRPr lang="en-US" sz="1050" dirty="0"/>
            </a:p>
          </p:txBody>
        </p:sp>
      </p:grpSp>
      <p:cxnSp>
        <p:nvCxnSpPr>
          <p:cNvPr id="8" name="Conector recto 7"/>
          <p:cNvCxnSpPr/>
          <p:nvPr/>
        </p:nvCxnSpPr>
        <p:spPr>
          <a:xfrm>
            <a:off x="5391509" y="4632385"/>
            <a:ext cx="11645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/>
          <p:cNvCxnSpPr/>
          <p:nvPr/>
        </p:nvCxnSpPr>
        <p:spPr>
          <a:xfrm>
            <a:off x="5391509" y="6225396"/>
            <a:ext cx="1164566" cy="28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/>
          <p:nvPr/>
        </p:nvCxnSpPr>
        <p:spPr>
          <a:xfrm flipV="1">
            <a:off x="6409334" y="4814827"/>
            <a:ext cx="0" cy="4742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/>
          <p:nvPr/>
        </p:nvCxnSpPr>
        <p:spPr>
          <a:xfrm flipH="1">
            <a:off x="6406551" y="5710837"/>
            <a:ext cx="5659" cy="4294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uadroTexto 29"/>
          <p:cNvSpPr txBox="1"/>
          <p:nvPr/>
        </p:nvSpPr>
        <p:spPr>
          <a:xfrm>
            <a:off x="6139786" y="5376516"/>
            <a:ext cx="831011" cy="275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2438mm</a:t>
            </a:r>
            <a:endParaRPr lang="en-US" sz="1200" dirty="0"/>
          </a:p>
        </p:txBody>
      </p:sp>
      <p:graphicFrame>
        <p:nvGraphicFramePr>
          <p:cNvPr id="26" name="Objeto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942679"/>
              </p:ext>
            </p:extLst>
          </p:nvPr>
        </p:nvGraphicFramePr>
        <p:xfrm>
          <a:off x="0" y="1451028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Acrobat Document" showAsIcon="1" r:id="rId7" imgW="914400" imgH="792360" progId="AcroExch.Document.DC">
                  <p:embed/>
                </p:oleObj>
              </mc:Choice>
              <mc:Fallback>
                <p:oleObj name="Acrobat Document" showAsIcon="1" r:id="rId7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1451028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Flecha izquierda 26"/>
          <p:cNvSpPr/>
          <p:nvPr/>
        </p:nvSpPr>
        <p:spPr>
          <a:xfrm flipH="1">
            <a:off x="2212739" y="4155623"/>
            <a:ext cx="142733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F42BF32-0647-4E22-9ED1-8B9EBF3C56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8592" y="134904"/>
            <a:ext cx="163459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53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89781" y="2760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PR25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366690"/>
              </p:ext>
            </p:extLst>
          </p:nvPr>
        </p:nvGraphicFramePr>
        <p:xfrm>
          <a:off x="969483" y="63016"/>
          <a:ext cx="10864485" cy="74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242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 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Strokes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Strokes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Transfer Lift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Max. Pitch / Transfer Pitch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Pitch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MECH/TANS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2388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25.4-254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1066.8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18,24,30,36,42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uadroTexto 9"/>
          <p:cNvSpPr txBox="1"/>
          <p:nvPr/>
        </p:nvSpPr>
        <p:spPr>
          <a:xfrm>
            <a:off x="0" y="1000348"/>
            <a:ext cx="2583571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MECH/TRANS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20</a:t>
            </a:fld>
            <a:endParaRPr lang="es-MX" dirty="0"/>
          </a:p>
        </p:txBody>
      </p:sp>
      <p:sp>
        <p:nvSpPr>
          <p:cNvPr id="11" name="Rectángulo 10"/>
          <p:cNvSpPr/>
          <p:nvPr/>
        </p:nvSpPr>
        <p:spPr>
          <a:xfrm>
            <a:off x="12079050" y="19456"/>
            <a:ext cx="112950" cy="685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97" y="4158189"/>
            <a:ext cx="2128912" cy="2337629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32DDCBA3-4EC0-46DC-B1F6-6A5498AADDF2}"/>
              </a:ext>
            </a:extLst>
          </p:cNvPr>
          <p:cNvGrpSpPr/>
          <p:nvPr/>
        </p:nvGrpSpPr>
        <p:grpSpPr>
          <a:xfrm>
            <a:off x="1481545" y="1099366"/>
            <a:ext cx="9535959" cy="4256968"/>
            <a:chOff x="1481545" y="1099366"/>
            <a:chExt cx="9535959" cy="4256968"/>
          </a:xfrm>
        </p:grpSpPr>
        <p:pic>
          <p:nvPicPr>
            <p:cNvPr id="21" name="Imagen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9009" y="1099366"/>
              <a:ext cx="8638495" cy="4256968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1481545" y="3086942"/>
              <a:ext cx="1199071" cy="430887"/>
            </a:xfrm>
            <a:prstGeom prst="rect">
              <a:avLst/>
            </a:prstGeom>
            <a:solidFill>
              <a:srgbClr val="00B050"/>
            </a:solidFill>
          </p:spPr>
          <p:txBody>
            <a:bodyPr wrap="square" rtlCol="0">
              <a:spAutoFit/>
            </a:bodyPr>
            <a:lstStyle/>
            <a:p>
              <a:r>
                <a:rPr lang="es-MX" sz="1100" b="1" dirty="0"/>
                <a:t>Common Shut Height</a:t>
              </a:r>
            </a:p>
          </p:txBody>
        </p:sp>
        <p:sp>
          <p:nvSpPr>
            <p:cNvPr id="9" name="CuadroTexto 8"/>
            <p:cNvSpPr txBox="1"/>
            <p:nvPr/>
          </p:nvSpPr>
          <p:spPr>
            <a:xfrm>
              <a:off x="7075117" y="5065394"/>
              <a:ext cx="15424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100" b="1" dirty="0"/>
                <a:t>Distance between slots</a:t>
              </a:r>
            </a:p>
          </p:txBody>
        </p:sp>
        <p:grpSp>
          <p:nvGrpSpPr>
            <p:cNvPr id="15" name="Grupo 14"/>
            <p:cNvGrpSpPr/>
            <p:nvPr/>
          </p:nvGrpSpPr>
          <p:grpSpPr>
            <a:xfrm>
              <a:off x="3838042" y="4683533"/>
              <a:ext cx="1957454" cy="581880"/>
              <a:chOff x="5112639" y="6157281"/>
              <a:chExt cx="1957454" cy="581880"/>
            </a:xfrm>
          </p:grpSpPr>
          <p:pic>
            <p:nvPicPr>
              <p:cNvPr id="16" name="Imagen 1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12639" y="6157281"/>
                <a:ext cx="620816" cy="581880"/>
              </a:xfrm>
              <a:prstGeom prst="rect">
                <a:avLst/>
              </a:prstGeom>
              <a:ln w="381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</p:pic>
          <p:sp>
            <p:nvSpPr>
              <p:cNvPr id="17" name="CuadroTexto 16"/>
              <p:cNvSpPr txBox="1"/>
              <p:nvPr/>
            </p:nvSpPr>
            <p:spPr>
              <a:xfrm>
                <a:off x="5733454" y="6448221"/>
                <a:ext cx="1336639" cy="261610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050" dirty="0"/>
                  <a:t>Locator T020</a:t>
                </a:r>
                <a:endParaRPr lang="en-US" sz="1050" dirty="0"/>
              </a:p>
            </p:txBody>
          </p:sp>
        </p:grpSp>
      </p:grpSp>
      <p:sp>
        <p:nvSpPr>
          <p:cNvPr id="19" name="Rectángulo 18"/>
          <p:cNvSpPr/>
          <p:nvPr/>
        </p:nvSpPr>
        <p:spPr>
          <a:xfrm>
            <a:off x="3432652" y="1245542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222734"/>
              </p:ext>
            </p:extLst>
          </p:nvPr>
        </p:nvGraphicFramePr>
        <p:xfrm>
          <a:off x="0" y="1630746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6" name="Acrobat Document" showAsIcon="1" r:id="rId6" imgW="914400" imgH="792360" progId="AcroExch.Document.DC">
                  <p:embed/>
                </p:oleObj>
              </mc:Choice>
              <mc:Fallback>
                <p:oleObj name="Acrobat Document" showAsIcon="1" r:id="rId6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1630746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309716"/>
              </p:ext>
            </p:extLst>
          </p:nvPr>
        </p:nvGraphicFramePr>
        <p:xfrm>
          <a:off x="0" y="248153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7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2481534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lecha izquierda 19"/>
          <p:cNvSpPr/>
          <p:nvPr/>
        </p:nvSpPr>
        <p:spPr>
          <a:xfrm flipH="1">
            <a:off x="4941372" y="3805659"/>
            <a:ext cx="142733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76A4A2D-F3C8-42AF-BC7B-C4F1A42E90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2991" y="1585123"/>
            <a:ext cx="168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7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Recorte de pantalla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5846" y="214804"/>
            <a:ext cx="8100762" cy="4823878"/>
          </a:xfrm>
          <a:prstGeom prst="rect">
            <a:avLst/>
          </a:prstGeom>
        </p:spPr>
      </p:pic>
      <p:pic>
        <p:nvPicPr>
          <p:cNvPr id="5" name="Imagen 4" descr="Recorte de pantalla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875" y="4049672"/>
            <a:ext cx="5361435" cy="257541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89781" y="2760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PR25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0" y="645377"/>
            <a:ext cx="2527540" cy="5827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MECH/TRANS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1863477" y="4632385"/>
            <a:ext cx="6985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Bolster</a:t>
            </a: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582562"/>
              </p:ext>
            </p:extLst>
          </p:nvPr>
        </p:nvGraphicFramePr>
        <p:xfrm>
          <a:off x="0" y="128598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9" name="Acrobat Document" showAsIcon="1" r:id="rId5" imgW="914400" imgH="792360" progId="AcroExch.Document.DC">
                  <p:embed/>
                </p:oleObj>
              </mc:Choice>
              <mc:Fallback>
                <p:oleObj name="Acrobat Document" showAsIcon="1" r:id="rId5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128598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Marcador de número de diapositiva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21</a:t>
            </a:fld>
            <a:endParaRPr lang="es-MX" dirty="0"/>
          </a:p>
        </p:txBody>
      </p:sp>
      <p:sp>
        <p:nvSpPr>
          <p:cNvPr id="10" name="Rectángulo 9"/>
          <p:cNvSpPr/>
          <p:nvPr/>
        </p:nvSpPr>
        <p:spPr>
          <a:xfrm>
            <a:off x="12079050" y="19456"/>
            <a:ext cx="112950" cy="685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4584896" y="306823"/>
            <a:ext cx="1057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457.2mm</a:t>
            </a:r>
            <a:endParaRPr lang="en-US" sz="1600" dirty="0"/>
          </a:p>
        </p:txBody>
      </p:sp>
      <p:cxnSp>
        <p:nvCxnSpPr>
          <p:cNvPr id="13" name="Conector recto 12"/>
          <p:cNvCxnSpPr/>
          <p:nvPr/>
        </p:nvCxnSpPr>
        <p:spPr>
          <a:xfrm flipV="1">
            <a:off x="5555411" y="478899"/>
            <a:ext cx="0" cy="7159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/>
          <p:cNvCxnSpPr/>
          <p:nvPr/>
        </p:nvCxnSpPr>
        <p:spPr>
          <a:xfrm flipV="1">
            <a:off x="6001109" y="512097"/>
            <a:ext cx="0" cy="7159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>
            <a:off x="4942935" y="689386"/>
            <a:ext cx="4830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H="1">
            <a:off x="6075327" y="688808"/>
            <a:ext cx="396815" cy="5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Imagen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2723" y="1575689"/>
            <a:ext cx="1690734" cy="1856493"/>
          </a:xfrm>
          <a:prstGeom prst="rect">
            <a:avLst/>
          </a:prstGeom>
        </p:spPr>
      </p:pic>
      <p:grpSp>
        <p:nvGrpSpPr>
          <p:cNvPr id="18" name="Grupo 17"/>
          <p:cNvGrpSpPr/>
          <p:nvPr/>
        </p:nvGrpSpPr>
        <p:grpSpPr>
          <a:xfrm>
            <a:off x="6075327" y="5512686"/>
            <a:ext cx="1957454" cy="581880"/>
            <a:chOff x="5112639" y="6157281"/>
            <a:chExt cx="1957454" cy="581880"/>
          </a:xfrm>
        </p:grpSpPr>
        <p:pic>
          <p:nvPicPr>
            <p:cNvPr id="19" name="Imagen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12639" y="6157281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20" name="CuadroTexto 19"/>
            <p:cNvSpPr txBox="1"/>
            <p:nvPr/>
          </p:nvSpPr>
          <p:spPr>
            <a:xfrm>
              <a:off x="5733454" y="6448221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Locator</a:t>
              </a:r>
              <a:r>
                <a:rPr lang="es-MX" sz="1050" dirty="0"/>
                <a:t> T020</a:t>
              </a:r>
              <a:endParaRPr lang="en-US" sz="1050" dirty="0"/>
            </a:p>
          </p:txBody>
        </p:sp>
      </p:grpSp>
      <p:graphicFrame>
        <p:nvGraphicFramePr>
          <p:cNvPr id="22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751992"/>
              </p:ext>
            </p:extLst>
          </p:nvPr>
        </p:nvGraphicFramePr>
        <p:xfrm>
          <a:off x="0" y="213604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90" name="Acrobat Document" showAsIcon="1" r:id="rId9" imgW="914400" imgH="792360" progId="AcroExch.Document.DC">
                  <p:embed/>
                </p:oleObj>
              </mc:Choice>
              <mc:Fallback>
                <p:oleObj name="Acrobat Document" showAsIcon="1" r:id="rId9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0" y="213604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Flecha izquierda 22"/>
          <p:cNvSpPr/>
          <p:nvPr/>
        </p:nvSpPr>
        <p:spPr>
          <a:xfrm flipH="1">
            <a:off x="1100208" y="3953494"/>
            <a:ext cx="1427332" cy="449824"/>
          </a:xfrm>
          <a:prstGeom prst="leftArrow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/>
              <a:t>FRONT  </a:t>
            </a:r>
            <a:r>
              <a:rPr lang="es-MX" sz="1100" b="1" dirty="0"/>
              <a:t>FLOW</a:t>
            </a:r>
            <a:endParaRPr lang="en-US" sz="1200" b="1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800DE76-52D0-4A7B-BBF8-C10DB8455A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2493" y="474892"/>
            <a:ext cx="1688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7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91377" y="226518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PR26,PR27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607751"/>
              </p:ext>
            </p:extLst>
          </p:nvPr>
        </p:nvGraphicFramePr>
        <p:xfrm>
          <a:off x="1620562" y="-19346"/>
          <a:ext cx="10458488" cy="861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94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6536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507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Width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Die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Int.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Outside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64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uadroTexto 9"/>
          <p:cNvSpPr txBox="1"/>
          <p:nvPr/>
        </p:nvSpPr>
        <p:spPr>
          <a:xfrm>
            <a:off x="44088" y="941397"/>
            <a:ext cx="1987912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COIL FEED </a:t>
            </a:r>
          </a:p>
        </p:txBody>
      </p:sp>
      <p:sp>
        <p:nvSpPr>
          <p:cNvPr id="14" name="Marcador de número de diapositiva 13"/>
          <p:cNvSpPr>
            <a:spLocks noGrp="1"/>
          </p:cNvSpPr>
          <p:nvPr>
            <p:ph type="sldNum" sz="quarter" idx="16"/>
          </p:nvPr>
        </p:nvSpPr>
        <p:spPr>
          <a:xfrm>
            <a:off x="8400725" y="6151778"/>
            <a:ext cx="2743200" cy="365125"/>
          </a:xfrm>
        </p:spPr>
        <p:txBody>
          <a:bodyPr/>
          <a:lstStyle/>
          <a:p>
            <a:fld id="{391A32E0-1075-4409-884C-6FCA71D173B5}" type="slidenum">
              <a:rPr lang="es-MX" smtClean="0"/>
              <a:t>22</a:t>
            </a:fld>
            <a:endParaRPr lang="es-MX" dirty="0"/>
          </a:p>
        </p:txBody>
      </p:sp>
      <p:sp>
        <p:nvSpPr>
          <p:cNvPr id="16" name="Rectángulo 15"/>
          <p:cNvSpPr/>
          <p:nvPr/>
        </p:nvSpPr>
        <p:spPr>
          <a:xfrm>
            <a:off x="12079050" y="9728"/>
            <a:ext cx="112950" cy="6858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7" y="4637311"/>
            <a:ext cx="1940623" cy="2130881"/>
          </a:xfrm>
          <a:prstGeom prst="rect">
            <a:avLst/>
          </a:prstGeom>
        </p:spPr>
      </p:pic>
      <p:graphicFrame>
        <p:nvGraphicFramePr>
          <p:cNvPr id="22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570103"/>
              </p:ext>
            </p:extLst>
          </p:nvPr>
        </p:nvGraphicFramePr>
        <p:xfrm>
          <a:off x="0" y="1633553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2" name="Acrobat Document" showAsIcon="1" r:id="rId4" imgW="914400" imgH="792360" progId="AcroExch.Document.DC">
                  <p:embed/>
                </p:oleObj>
              </mc:Choice>
              <mc:Fallback>
                <p:oleObj name="Acrobat Document" showAsIcon="1" r:id="rId4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1633553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o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224475"/>
              </p:ext>
            </p:extLst>
          </p:nvPr>
        </p:nvGraphicFramePr>
        <p:xfrm>
          <a:off x="0" y="2478880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23" name="Acrobat Document" showAsIcon="1" r:id="rId6" imgW="914400" imgH="792360" progId="AcroExch.Document.DC">
                  <p:embed/>
                </p:oleObj>
              </mc:Choice>
              <mc:Fallback>
                <p:oleObj name="Acrobat Document" showAsIcon="1" r:id="rId6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2478880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ángulo 10"/>
          <p:cNvSpPr/>
          <p:nvPr/>
        </p:nvSpPr>
        <p:spPr>
          <a:xfrm>
            <a:off x="5509353" y="4131056"/>
            <a:ext cx="15424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000000"/>
                </a:solidFill>
              </a:rPr>
              <a:t>Distance</a:t>
            </a:r>
            <a:r>
              <a:rPr lang="es-MX" sz="1100" b="1" dirty="0">
                <a:solidFill>
                  <a:srgbClr val="000000"/>
                </a:solidFill>
              </a:rPr>
              <a:t> </a:t>
            </a:r>
            <a:r>
              <a:rPr lang="en-US" sz="1100" b="1" dirty="0">
                <a:solidFill>
                  <a:srgbClr val="000000"/>
                </a:solidFill>
              </a:rPr>
              <a:t>between</a:t>
            </a:r>
            <a:r>
              <a:rPr lang="es-MX" sz="1100" b="1" dirty="0">
                <a:solidFill>
                  <a:srgbClr val="000000"/>
                </a:solidFill>
              </a:rPr>
              <a:t> slots</a:t>
            </a:r>
            <a:endParaRPr lang="es-MX" sz="1100" b="1" dirty="0"/>
          </a:p>
        </p:txBody>
      </p:sp>
      <p:grpSp>
        <p:nvGrpSpPr>
          <p:cNvPr id="66" name="Grupo 65"/>
          <p:cNvGrpSpPr/>
          <p:nvPr/>
        </p:nvGrpSpPr>
        <p:grpSpPr>
          <a:xfrm>
            <a:off x="1438809" y="1233785"/>
            <a:ext cx="7841968" cy="4099800"/>
            <a:chOff x="1438809" y="1233785"/>
            <a:chExt cx="7841968" cy="4099800"/>
          </a:xfrm>
        </p:grpSpPr>
        <p:grpSp>
          <p:nvGrpSpPr>
            <p:cNvPr id="28" name="Grupo 27"/>
            <p:cNvGrpSpPr/>
            <p:nvPr/>
          </p:nvGrpSpPr>
          <p:grpSpPr>
            <a:xfrm>
              <a:off x="1438809" y="1233785"/>
              <a:ext cx="7801459" cy="4099800"/>
              <a:chOff x="1807909" y="1709863"/>
              <a:chExt cx="9581505" cy="5196301"/>
            </a:xfrm>
          </p:grpSpPr>
          <p:grpSp>
            <p:nvGrpSpPr>
              <p:cNvPr id="21" name="Grupo 20"/>
              <p:cNvGrpSpPr/>
              <p:nvPr/>
            </p:nvGrpSpPr>
            <p:grpSpPr>
              <a:xfrm>
                <a:off x="1807909" y="1709863"/>
                <a:ext cx="9581505" cy="5196301"/>
                <a:chOff x="1414754" y="1233785"/>
                <a:chExt cx="9581505" cy="5196301"/>
              </a:xfrm>
            </p:grpSpPr>
            <p:grpSp>
              <p:nvGrpSpPr>
                <p:cNvPr id="15" name="Grupo 14"/>
                <p:cNvGrpSpPr/>
                <p:nvPr/>
              </p:nvGrpSpPr>
              <p:grpSpPr>
                <a:xfrm>
                  <a:off x="1414754" y="1233785"/>
                  <a:ext cx="9581505" cy="5196301"/>
                  <a:chOff x="1333619" y="1341507"/>
                  <a:chExt cx="9581505" cy="5196301"/>
                </a:xfrm>
              </p:grpSpPr>
              <p:grpSp>
                <p:nvGrpSpPr>
                  <p:cNvPr id="13" name="Grupo 12"/>
                  <p:cNvGrpSpPr/>
                  <p:nvPr/>
                </p:nvGrpSpPr>
                <p:grpSpPr>
                  <a:xfrm>
                    <a:off x="1333619" y="1341507"/>
                    <a:ext cx="9581505" cy="5196301"/>
                    <a:chOff x="1442582" y="1290060"/>
                    <a:chExt cx="9581505" cy="5196301"/>
                  </a:xfrm>
                </p:grpSpPr>
                <p:grpSp>
                  <p:nvGrpSpPr>
                    <p:cNvPr id="12" name="Grupo 11"/>
                    <p:cNvGrpSpPr/>
                    <p:nvPr/>
                  </p:nvGrpSpPr>
                  <p:grpSpPr>
                    <a:xfrm>
                      <a:off x="1442582" y="1290060"/>
                      <a:ext cx="9563711" cy="5196301"/>
                      <a:chOff x="1442582" y="1290060"/>
                      <a:chExt cx="9563711" cy="5196301"/>
                    </a:xfrm>
                  </p:grpSpPr>
                  <p:pic>
                    <p:nvPicPr>
                      <p:cNvPr id="6" name="Imagen 5" descr="Recorte de pantalla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1442582" y="1706500"/>
                        <a:ext cx="9563711" cy="4126673"/>
                      </a:xfrm>
                      <a:prstGeom prst="rect">
                        <a:avLst/>
                      </a:prstGeom>
                    </p:spPr>
                  </p:pic>
                  <p:cxnSp>
                    <p:nvCxnSpPr>
                      <p:cNvPr id="17" name="Conector recto 16"/>
                      <p:cNvCxnSpPr/>
                      <p:nvPr/>
                    </p:nvCxnSpPr>
                    <p:spPr>
                      <a:xfrm flipH="1" flipV="1">
                        <a:off x="7478502" y="1290060"/>
                        <a:ext cx="22509" cy="1668451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Conector recto 17"/>
                      <p:cNvCxnSpPr/>
                      <p:nvPr/>
                    </p:nvCxnSpPr>
                    <p:spPr>
                      <a:xfrm flipV="1">
                        <a:off x="8161442" y="1304771"/>
                        <a:ext cx="496" cy="1627498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" name="Conector recto de flecha 18"/>
                      <p:cNvCxnSpPr/>
                      <p:nvPr/>
                    </p:nvCxnSpPr>
                    <p:spPr>
                      <a:xfrm>
                        <a:off x="6878623" y="1869989"/>
                        <a:ext cx="483080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Conector recto de flecha 19"/>
                      <p:cNvCxnSpPr/>
                      <p:nvPr/>
                    </p:nvCxnSpPr>
                    <p:spPr>
                      <a:xfrm flipH="1">
                        <a:off x="8203456" y="1869411"/>
                        <a:ext cx="396815" cy="57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3" name="CuadroTexto 22"/>
                      <p:cNvSpPr txBox="1"/>
                      <p:nvPr/>
                    </p:nvSpPr>
                    <p:spPr>
                      <a:xfrm>
                        <a:off x="6493617" y="1546566"/>
                        <a:ext cx="880369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s-MX" sz="1400" dirty="0"/>
                          <a:t>457.2mm</a:t>
                        </a:r>
                        <a:endParaRPr lang="en-US" sz="1400" dirty="0"/>
                      </a:p>
                    </p:txBody>
                  </p:sp>
                  <p:grpSp>
                    <p:nvGrpSpPr>
                      <p:cNvPr id="8" name="Grupo 7"/>
                      <p:cNvGrpSpPr/>
                      <p:nvPr/>
                    </p:nvGrpSpPr>
                    <p:grpSpPr>
                      <a:xfrm>
                        <a:off x="4616990" y="5904481"/>
                        <a:ext cx="1957456" cy="581880"/>
                        <a:chOff x="4616990" y="5904481"/>
                        <a:chExt cx="1957456" cy="581880"/>
                      </a:xfrm>
                    </p:grpSpPr>
                    <p:pic>
                      <p:nvPicPr>
                        <p:cNvPr id="26" name="Imagen 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616990" y="5904481"/>
                          <a:ext cx="620816" cy="581880"/>
                        </a:xfrm>
                        <a:prstGeom prst="rect">
                          <a:avLst/>
                        </a:prstGeom>
                        <a:ln w="3810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ln>
                      </p:spPr>
                    </p:pic>
                    <p:sp>
                      <p:nvSpPr>
                        <p:cNvPr id="27" name="CuadroTexto 26"/>
                        <p:cNvSpPr txBox="1"/>
                        <p:nvPr/>
                      </p:nvSpPr>
                      <p:spPr>
                        <a:xfrm>
                          <a:off x="5237807" y="6195421"/>
                          <a:ext cx="1336639" cy="261610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ln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050" dirty="0"/>
                            <a:t>Locator</a:t>
                          </a:r>
                          <a:r>
                            <a:rPr lang="es-MX" sz="1050" dirty="0"/>
                            <a:t> T020</a:t>
                          </a:r>
                          <a:endParaRPr lang="en-US" sz="1050" dirty="0"/>
                        </a:p>
                      </p:txBody>
                    </p:sp>
                  </p:grpSp>
                </p:grpSp>
                <p:sp>
                  <p:nvSpPr>
                    <p:cNvPr id="2" name="Rectángulo 1"/>
                    <p:cNvSpPr/>
                    <p:nvPr/>
                  </p:nvSpPr>
                  <p:spPr>
                    <a:xfrm>
                      <a:off x="9448800" y="3029527"/>
                      <a:ext cx="1575287" cy="34174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1" name="Rectángulo 30"/>
                    <p:cNvSpPr/>
                    <p:nvPr/>
                  </p:nvSpPr>
                  <p:spPr>
                    <a:xfrm rot="5400000">
                      <a:off x="9508423" y="3062276"/>
                      <a:ext cx="1575287" cy="34174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2" name="Rectángulo 31"/>
                    <p:cNvSpPr/>
                    <p:nvPr/>
                  </p:nvSpPr>
                  <p:spPr>
                    <a:xfrm>
                      <a:off x="8617527" y="2645544"/>
                      <a:ext cx="1507666" cy="42005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850 mm</a:t>
                      </a:r>
                    </a:p>
                  </p:txBody>
                </p:sp>
              </p:grpSp>
              <p:sp>
                <p:nvSpPr>
                  <p:cNvPr id="33" name="CuadroTexto 32"/>
                  <p:cNvSpPr txBox="1"/>
                  <p:nvPr/>
                </p:nvSpPr>
                <p:spPr>
                  <a:xfrm>
                    <a:off x="4700366" y="1729165"/>
                    <a:ext cx="141897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00" b="1" dirty="0">
                        <a:solidFill>
                          <a:srgbClr val="000000"/>
                        </a:solidFill>
                      </a:rPr>
                      <a:t>Distance</a:t>
                    </a:r>
                    <a:r>
                      <a:rPr lang="es-MX" sz="1000" b="1" dirty="0">
                        <a:solidFill>
                          <a:srgbClr val="000000"/>
                        </a:solidFill>
                      </a:rPr>
                      <a:t> </a:t>
                    </a:r>
                    <a:r>
                      <a:rPr lang="en-US" sz="1000" b="1" dirty="0">
                        <a:solidFill>
                          <a:srgbClr val="000000"/>
                        </a:solidFill>
                      </a:rPr>
                      <a:t>between</a:t>
                    </a:r>
                    <a:r>
                      <a:rPr lang="es-MX" sz="1000" b="1" dirty="0">
                        <a:solidFill>
                          <a:srgbClr val="000000"/>
                        </a:solidFill>
                      </a:rPr>
                      <a:t> slots</a:t>
                    </a:r>
                    <a:endParaRPr lang="es-MX" sz="1000" dirty="0"/>
                  </a:p>
                </p:txBody>
              </p:sp>
            </p:grpSp>
            <p:sp>
              <p:nvSpPr>
                <p:cNvPr id="43" name="Flecha izquierda 42"/>
                <p:cNvSpPr/>
                <p:nvPr/>
              </p:nvSpPr>
              <p:spPr>
                <a:xfrm>
                  <a:off x="3241435" y="4203876"/>
                  <a:ext cx="1381882" cy="449824"/>
                </a:xfrm>
                <a:prstGeom prst="leftArrow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MX" sz="1200" b="1" dirty="0"/>
                    <a:t>FRONT  </a:t>
                  </a:r>
                  <a:r>
                    <a:rPr lang="es-MX" sz="1100" b="1" dirty="0"/>
                    <a:t>FLOW</a:t>
                  </a:r>
                  <a:endParaRPr lang="en-US" sz="1200" b="1" dirty="0"/>
                </a:p>
              </p:txBody>
            </p:sp>
          </p:grpSp>
          <p:sp>
            <p:nvSpPr>
              <p:cNvPr id="29" name="Rectángulo 28"/>
              <p:cNvSpPr/>
              <p:nvPr/>
            </p:nvSpPr>
            <p:spPr>
              <a:xfrm>
                <a:off x="2640963" y="1742580"/>
                <a:ext cx="24606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Image with closed press</a:t>
                </a:r>
              </a:p>
            </p:txBody>
          </p:sp>
        </p:grpSp>
        <p:sp>
          <p:nvSpPr>
            <p:cNvPr id="65" name="Rectángulo 64"/>
            <p:cNvSpPr/>
            <p:nvPr/>
          </p:nvSpPr>
          <p:spPr>
            <a:xfrm>
              <a:off x="8786627" y="2425716"/>
              <a:ext cx="494150" cy="450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67" name="CuadroTexto 66"/>
          <p:cNvSpPr txBox="1"/>
          <p:nvPr/>
        </p:nvSpPr>
        <p:spPr>
          <a:xfrm>
            <a:off x="7894583" y="2683979"/>
            <a:ext cx="1806755" cy="230832"/>
          </a:xfrm>
          <a:prstGeom prst="rect">
            <a:avLst/>
          </a:prstGeom>
          <a:solidFill>
            <a:srgbClr val="FFC000"/>
          </a:solidFill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MX" sz="900" dirty="0"/>
              <a:t>Common Shut Height With Riser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97DEDA-D7EF-4083-B9BA-3269CF5EFF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9556" y="1276967"/>
            <a:ext cx="2200209" cy="945933"/>
          </a:xfrm>
          <a:prstGeom prst="rect">
            <a:avLst/>
          </a:prstGeom>
        </p:spPr>
      </p:pic>
      <p:grpSp>
        <p:nvGrpSpPr>
          <p:cNvPr id="48" name="Grupo 47">
            <a:extLst>
              <a:ext uri="{FF2B5EF4-FFF2-40B4-BE49-F238E27FC236}">
                <a16:creationId xmlns:a16="http://schemas.microsoft.com/office/drawing/2014/main" id="{F3260962-EC88-4D34-AB32-25FCCA46D051}"/>
              </a:ext>
            </a:extLst>
          </p:cNvPr>
          <p:cNvGrpSpPr/>
          <p:nvPr/>
        </p:nvGrpSpPr>
        <p:grpSpPr>
          <a:xfrm>
            <a:off x="9596729" y="2606197"/>
            <a:ext cx="2149530" cy="2658783"/>
            <a:chOff x="3432048" y="2147252"/>
            <a:chExt cx="2164080" cy="3424179"/>
          </a:xfrm>
        </p:grpSpPr>
        <p:pic>
          <p:nvPicPr>
            <p:cNvPr id="49" name="Imagen 48">
              <a:extLst>
                <a:ext uri="{FF2B5EF4-FFF2-40B4-BE49-F238E27FC236}">
                  <a16:creationId xmlns:a16="http://schemas.microsoft.com/office/drawing/2014/main" id="{C20981F6-1580-4FAB-ABAD-B32C985954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r="73702"/>
            <a:stretch/>
          </p:blipFill>
          <p:spPr>
            <a:xfrm>
              <a:off x="3755073" y="2147252"/>
              <a:ext cx="1841055" cy="2847975"/>
            </a:xfrm>
            <a:prstGeom prst="rect">
              <a:avLst/>
            </a:prstGeom>
          </p:spPr>
        </p:pic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C6252A23-21A5-4EF6-A5F7-9D9C315E5594}"/>
                </a:ext>
              </a:extLst>
            </p:cNvPr>
            <p:cNvSpPr/>
            <p:nvPr/>
          </p:nvSpPr>
          <p:spPr>
            <a:xfrm>
              <a:off x="4561840" y="3901440"/>
              <a:ext cx="563880" cy="1778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19713377-D219-4FAB-A162-8298FB325CE5}"/>
                </a:ext>
              </a:extLst>
            </p:cNvPr>
            <p:cNvCxnSpPr/>
            <p:nvPr/>
          </p:nvCxnSpPr>
          <p:spPr>
            <a:xfrm flipH="1">
              <a:off x="3640838" y="5159619"/>
              <a:ext cx="865632" cy="1117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858B0EF7-33F2-4E21-89CB-FBC446E7281B}"/>
                </a:ext>
              </a:extLst>
            </p:cNvPr>
            <p:cNvCxnSpPr/>
            <p:nvPr/>
          </p:nvCxnSpPr>
          <p:spPr>
            <a:xfrm flipH="1" flipV="1">
              <a:off x="3608833" y="3092712"/>
              <a:ext cx="816863" cy="43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83F76DD6-FBCE-41E7-BDFD-48EFF854C0AC}"/>
                </a:ext>
              </a:extLst>
            </p:cNvPr>
            <p:cNvCxnSpPr/>
            <p:nvPr/>
          </p:nvCxnSpPr>
          <p:spPr>
            <a:xfrm>
              <a:off x="3870960" y="2707640"/>
              <a:ext cx="5080" cy="330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4DBF778E-6080-4934-944C-8FA51063F6EF}"/>
                </a:ext>
              </a:extLst>
            </p:cNvPr>
            <p:cNvCxnSpPr/>
            <p:nvPr/>
          </p:nvCxnSpPr>
          <p:spPr>
            <a:xfrm flipV="1">
              <a:off x="3910976" y="5241232"/>
              <a:ext cx="0" cy="3301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84F8B9C5-4F85-41FF-BFCD-1DE9743E25A1}"/>
                </a:ext>
              </a:extLst>
            </p:cNvPr>
            <p:cNvSpPr txBox="1"/>
            <p:nvPr/>
          </p:nvSpPr>
          <p:spPr>
            <a:xfrm>
              <a:off x="3432048" y="3712464"/>
              <a:ext cx="9044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>
                  <a:solidFill>
                    <a:srgbClr val="FF0000"/>
                  </a:solidFill>
                </a:rPr>
                <a:t>787mm</a:t>
              </a:r>
            </a:p>
          </p:txBody>
        </p:sp>
      </p:grpSp>
      <p:sp>
        <p:nvSpPr>
          <p:cNvPr id="56" name="Llamada rectangular 48">
            <a:extLst>
              <a:ext uri="{FF2B5EF4-FFF2-40B4-BE49-F238E27FC236}">
                <a16:creationId xmlns:a16="http://schemas.microsoft.com/office/drawing/2014/main" id="{84F7D14B-944A-4ABA-9555-8B79FFBC76FC}"/>
              </a:ext>
            </a:extLst>
          </p:cNvPr>
          <p:cNvSpPr/>
          <p:nvPr/>
        </p:nvSpPr>
        <p:spPr>
          <a:xfrm>
            <a:off x="7253293" y="4975383"/>
            <a:ext cx="2041577" cy="670121"/>
          </a:xfrm>
          <a:prstGeom prst="wedgeRectCallout">
            <a:avLst>
              <a:gd name="adj1" fmla="val 59832"/>
              <a:gd name="adj2" fmla="val -167433"/>
            </a:avLst>
          </a:prstGeom>
          <a:solidFill>
            <a:srgbClr val="FF0000"/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Common</a:t>
            </a:r>
            <a:r>
              <a:rPr lang="es-MX" sz="1050" dirty="0"/>
              <a:t> </a:t>
            </a:r>
            <a:r>
              <a:rPr lang="en-US" sz="1050" dirty="0"/>
              <a:t>coil</a:t>
            </a:r>
            <a:r>
              <a:rPr lang="es-MX" sz="1050" dirty="0"/>
              <a:t> </a:t>
            </a:r>
            <a:r>
              <a:rPr lang="en-US" sz="1050" dirty="0"/>
              <a:t>feed</a:t>
            </a:r>
            <a:r>
              <a:rPr lang="es-MX" sz="1050" dirty="0"/>
              <a:t> </a:t>
            </a:r>
            <a:r>
              <a:rPr lang="en-US" sz="1050" dirty="0"/>
              <a:t>height</a:t>
            </a:r>
            <a:r>
              <a:rPr lang="es-MX" sz="1050" dirty="0"/>
              <a:t> </a:t>
            </a:r>
            <a:r>
              <a:rPr lang="en-PH" sz="1050" dirty="0"/>
              <a:t>with</a:t>
            </a:r>
            <a:r>
              <a:rPr lang="es-MX" sz="1050" dirty="0"/>
              <a:t> </a:t>
            </a:r>
            <a:r>
              <a:rPr lang="en-US" sz="1050" dirty="0"/>
              <a:t>lifters</a:t>
            </a:r>
            <a:r>
              <a:rPr lang="es-MX" sz="1050" dirty="0"/>
              <a:t> extended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0745AB8-7B5F-4388-846D-7C462619FA91}"/>
              </a:ext>
            </a:extLst>
          </p:cNvPr>
          <p:cNvSpPr/>
          <p:nvPr/>
        </p:nvSpPr>
        <p:spPr>
          <a:xfrm>
            <a:off x="10289019" y="4541398"/>
            <a:ext cx="1735033" cy="412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RISER</a:t>
            </a:r>
          </a:p>
        </p:txBody>
      </p:sp>
    </p:spTree>
    <p:extLst>
      <p:ext uri="{BB962C8B-B14F-4D97-AF65-F5344CB8AC3E}">
        <p14:creationId xmlns:p14="http://schemas.microsoft.com/office/powerpoint/2010/main" val="2565606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576218-D375-4CCB-9AFF-ECF03609C2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5D92379-A8A0-4F2A-B1DF-F7F7112BE264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23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1801399-EB23-42DA-B6EF-7CD83D0EE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69" y="1286786"/>
            <a:ext cx="9718631" cy="495635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346C94D-7802-4385-87F4-59642D2A4D61}"/>
              </a:ext>
            </a:extLst>
          </p:cNvPr>
          <p:cNvSpPr txBox="1"/>
          <p:nvPr/>
        </p:nvSpPr>
        <p:spPr>
          <a:xfrm>
            <a:off x="468880" y="243935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PR26,PR27</a:t>
            </a:r>
          </a:p>
        </p:txBody>
      </p:sp>
    </p:spTree>
    <p:extLst>
      <p:ext uri="{BB962C8B-B14F-4D97-AF65-F5344CB8AC3E}">
        <p14:creationId xmlns:p14="http://schemas.microsoft.com/office/powerpoint/2010/main" val="140376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24</a:t>
            </a:fld>
            <a:endParaRPr lang="es-MX" dirty="0"/>
          </a:p>
        </p:txBody>
      </p:sp>
      <p:sp>
        <p:nvSpPr>
          <p:cNvPr id="10" name="CuadroTexto 9"/>
          <p:cNvSpPr txBox="1"/>
          <p:nvPr/>
        </p:nvSpPr>
        <p:spPr>
          <a:xfrm>
            <a:off x="1699784" y="5818288"/>
            <a:ext cx="8612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that the Transfer system is limited to the size of our BOLSTER.</a:t>
            </a:r>
          </a:p>
          <a:p>
            <a:r>
              <a:rPr lang="en-US" dirty="0"/>
              <a:t>Therefore, it must be consider that a work station will be destined for the fall of the piece.</a:t>
            </a:r>
            <a:endParaRPr lang="es-MX" dirty="0"/>
          </a:p>
        </p:txBody>
      </p:sp>
      <p:grpSp>
        <p:nvGrpSpPr>
          <p:cNvPr id="2" name="Grupo 1"/>
          <p:cNvGrpSpPr/>
          <p:nvPr/>
        </p:nvGrpSpPr>
        <p:grpSpPr>
          <a:xfrm rot="10800000">
            <a:off x="852735" y="1000697"/>
            <a:ext cx="9459278" cy="4766670"/>
            <a:chOff x="2008129" y="782729"/>
            <a:chExt cx="9459278" cy="4766670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08129" y="1203494"/>
              <a:ext cx="7564438" cy="4028142"/>
            </a:xfrm>
            <a:prstGeom prst="rect">
              <a:avLst/>
            </a:prstGeom>
          </p:spPr>
        </p:pic>
        <p:sp>
          <p:nvSpPr>
            <p:cNvPr id="9" name="Rectángulo 8"/>
            <p:cNvSpPr/>
            <p:nvPr/>
          </p:nvSpPr>
          <p:spPr>
            <a:xfrm>
              <a:off x="8510847" y="2267604"/>
              <a:ext cx="2956560" cy="18999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7122160" y="1203493"/>
              <a:ext cx="3403600" cy="39014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1" name="Rectángulo 10"/>
            <p:cNvSpPr/>
            <p:nvPr/>
          </p:nvSpPr>
          <p:spPr>
            <a:xfrm>
              <a:off x="2819400" y="782729"/>
              <a:ext cx="5339080" cy="33409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2819400" y="5215302"/>
              <a:ext cx="5339080" cy="33409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3" name="Rectángulo 12"/>
            <p:cNvSpPr/>
            <p:nvPr/>
          </p:nvSpPr>
          <p:spPr>
            <a:xfrm>
              <a:off x="3362960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4443225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5533650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6642434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4443225" y="4062424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8" name="Rectángulo 17"/>
            <p:cNvSpPr/>
            <p:nvPr/>
          </p:nvSpPr>
          <p:spPr>
            <a:xfrm>
              <a:off x="3383122" y="4053630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5533650" y="4062424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6642434" y="4080858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7761378" y="4062424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2" name="Rectángulo 21"/>
            <p:cNvSpPr/>
            <p:nvPr/>
          </p:nvSpPr>
          <p:spPr>
            <a:xfrm>
              <a:off x="7751218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23" name="CuadroTexto 22"/>
          <p:cNvSpPr txBox="1"/>
          <p:nvPr/>
        </p:nvSpPr>
        <p:spPr>
          <a:xfrm>
            <a:off x="575778" y="529776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>
              <a:defRPr b="1"/>
            </a:lvl1pPr>
          </a:lstStyle>
          <a:p>
            <a:r>
              <a:rPr lang="es-MX" dirty="0"/>
              <a:t>PR26,PR27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674" y="23629"/>
            <a:ext cx="4901635" cy="87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00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304800" y="362309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>
              <a:defRPr b="1"/>
            </a:lvl1pPr>
          </a:lstStyle>
          <a:p>
            <a:r>
              <a:rPr lang="es-MX" dirty="0"/>
              <a:t>RISER 26/27</a:t>
            </a:r>
          </a:p>
        </p:txBody>
      </p:sp>
      <p:pic>
        <p:nvPicPr>
          <p:cNvPr id="2" name="Imagen 1" descr="Recorte de pantal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321" y="1260536"/>
            <a:ext cx="8423328" cy="4286251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529635" y="1704101"/>
            <a:ext cx="1683474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b="1" dirty="0"/>
              <a:t>Distance</a:t>
            </a:r>
            <a:r>
              <a:rPr lang="es-MX" sz="1100" b="1" dirty="0"/>
              <a:t> </a:t>
            </a:r>
            <a:r>
              <a:rPr lang="en-US" sz="1100" b="1" dirty="0"/>
              <a:t>between</a:t>
            </a:r>
            <a:r>
              <a:rPr lang="es-MX" sz="1100" b="1" dirty="0"/>
              <a:t> </a:t>
            </a:r>
            <a:r>
              <a:rPr lang="en-US" sz="1100" b="1" dirty="0"/>
              <a:t>locator</a:t>
            </a:r>
            <a:endParaRPr lang="es-MX" sz="1100" b="1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25</a:t>
            </a:fld>
            <a:endParaRPr lang="es-MX" dirty="0"/>
          </a:p>
        </p:txBody>
      </p:sp>
      <p:sp>
        <p:nvSpPr>
          <p:cNvPr id="7" name="Rectángulo 6"/>
          <p:cNvSpPr/>
          <p:nvPr/>
        </p:nvSpPr>
        <p:spPr>
          <a:xfrm>
            <a:off x="12079050" y="9728"/>
            <a:ext cx="112950" cy="6858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upo 8"/>
          <p:cNvGrpSpPr/>
          <p:nvPr/>
        </p:nvGrpSpPr>
        <p:grpSpPr>
          <a:xfrm>
            <a:off x="7208857" y="5493802"/>
            <a:ext cx="1957454" cy="581880"/>
            <a:chOff x="5112639" y="6157281"/>
            <a:chExt cx="1957454" cy="581880"/>
          </a:xfrm>
        </p:grpSpPr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12639" y="6157281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11" name="CuadroTexto 10"/>
            <p:cNvSpPr txBox="1"/>
            <p:nvPr/>
          </p:nvSpPr>
          <p:spPr>
            <a:xfrm>
              <a:off x="5733454" y="6448221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Locator</a:t>
              </a:r>
              <a:r>
                <a:rPr lang="es-MX" sz="1050" dirty="0"/>
                <a:t> T020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728568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80528" y="42894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PR31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116766"/>
              </p:ext>
            </p:extLst>
          </p:nvPr>
        </p:nvGraphicFramePr>
        <p:xfrm>
          <a:off x="1129179" y="81245"/>
          <a:ext cx="10939177" cy="74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1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53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4348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Coil Feed Height to Bols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Shut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Strokes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Width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.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Int.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Coil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 Outside </a:t>
                      </a:r>
                      <a:r>
                        <a:rPr lang="en-US" sz="8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Coil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910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Imagen 8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495" y="1820570"/>
            <a:ext cx="5800554" cy="3108550"/>
          </a:xfrm>
          <a:prstGeom prst="rect">
            <a:avLst/>
          </a:prstGeom>
        </p:spPr>
      </p:pic>
      <p:pic>
        <p:nvPicPr>
          <p:cNvPr id="10" name="Imagen 9" descr="Recorte de pantal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780" y="4876628"/>
            <a:ext cx="4458086" cy="1981372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0" y="992442"/>
            <a:ext cx="208471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COIL FEED</a:t>
            </a:r>
          </a:p>
        </p:txBody>
      </p:sp>
      <p:pic>
        <p:nvPicPr>
          <p:cNvPr id="22" name="Imagen 21" descr="Recorte de pantalla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495" y="1837186"/>
            <a:ext cx="5800554" cy="3108550"/>
          </a:xfrm>
          <a:prstGeom prst="rect">
            <a:avLst/>
          </a:prstGeom>
        </p:spPr>
      </p:pic>
      <p:pic>
        <p:nvPicPr>
          <p:cNvPr id="23" name="Imagen 22" descr="Recorte de pantalla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722" y="4852212"/>
            <a:ext cx="4458086" cy="1981372"/>
          </a:xfrm>
          <a:prstGeom prst="rect">
            <a:avLst/>
          </a:prstGeom>
        </p:spPr>
      </p:pic>
      <p:sp>
        <p:nvSpPr>
          <p:cNvPr id="15" name="Marcador de número de diapositiva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26</a:t>
            </a:fld>
            <a:endParaRPr lang="es-MX" dirty="0"/>
          </a:p>
        </p:txBody>
      </p:sp>
      <p:sp>
        <p:nvSpPr>
          <p:cNvPr id="27" name="Rectángulo 26"/>
          <p:cNvSpPr/>
          <p:nvPr/>
        </p:nvSpPr>
        <p:spPr>
          <a:xfrm>
            <a:off x="12079050" y="9728"/>
            <a:ext cx="112950" cy="6858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16" y="5544185"/>
            <a:ext cx="1154943" cy="1268173"/>
          </a:xfrm>
          <a:prstGeom prst="rect">
            <a:avLst/>
          </a:prstGeom>
        </p:spPr>
      </p:pic>
      <p:grpSp>
        <p:nvGrpSpPr>
          <p:cNvPr id="12" name="Grupo 11"/>
          <p:cNvGrpSpPr/>
          <p:nvPr/>
        </p:nvGrpSpPr>
        <p:grpSpPr>
          <a:xfrm>
            <a:off x="5487412" y="4924727"/>
            <a:ext cx="3544785" cy="1836341"/>
            <a:chOff x="5313498" y="4859349"/>
            <a:chExt cx="3544785" cy="1836341"/>
          </a:xfrm>
        </p:grpSpPr>
        <p:pic>
          <p:nvPicPr>
            <p:cNvPr id="16" name="Imagen 15" descr="Recorte de pantalla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31821" y="4859349"/>
              <a:ext cx="2354784" cy="1386960"/>
            </a:xfrm>
            <a:prstGeom prst="rect">
              <a:avLst/>
            </a:prstGeom>
          </p:spPr>
        </p:pic>
        <p:sp>
          <p:nvSpPr>
            <p:cNvPr id="17" name="CuadroTexto 16"/>
            <p:cNvSpPr txBox="1"/>
            <p:nvPr/>
          </p:nvSpPr>
          <p:spPr>
            <a:xfrm>
              <a:off x="7243738" y="6132322"/>
              <a:ext cx="161454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Distance</a:t>
              </a:r>
              <a:r>
                <a:rPr lang="es-MX" sz="1050" b="1" dirty="0"/>
                <a:t> </a:t>
              </a:r>
              <a:r>
                <a:rPr lang="en-US" sz="1050" b="1" dirty="0"/>
                <a:t>between</a:t>
              </a:r>
              <a:r>
                <a:rPr lang="es-MX" sz="1050" b="1" dirty="0"/>
                <a:t> </a:t>
              </a:r>
              <a:r>
                <a:rPr lang="en-US" sz="1050" b="1" dirty="0"/>
                <a:t>locator</a:t>
              </a:r>
              <a:endParaRPr lang="es-MX" sz="1050" b="1" dirty="0"/>
            </a:p>
          </p:txBody>
        </p:sp>
        <p:grpSp>
          <p:nvGrpSpPr>
            <p:cNvPr id="29" name="Grupo 28"/>
            <p:cNvGrpSpPr/>
            <p:nvPr/>
          </p:nvGrpSpPr>
          <p:grpSpPr>
            <a:xfrm>
              <a:off x="5313498" y="6113810"/>
              <a:ext cx="1957454" cy="581880"/>
              <a:chOff x="5112639" y="6157281"/>
              <a:chExt cx="1957454" cy="581880"/>
            </a:xfrm>
          </p:grpSpPr>
          <p:pic>
            <p:nvPicPr>
              <p:cNvPr id="30" name="Imagen 2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12639" y="6157281"/>
                <a:ext cx="620816" cy="581880"/>
              </a:xfrm>
              <a:prstGeom prst="rect">
                <a:avLst/>
              </a:prstGeom>
              <a:ln w="381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</p:pic>
          <p:sp>
            <p:nvSpPr>
              <p:cNvPr id="31" name="CuadroTexto 30"/>
              <p:cNvSpPr txBox="1"/>
              <p:nvPr/>
            </p:nvSpPr>
            <p:spPr>
              <a:xfrm>
                <a:off x="5733454" y="6448221"/>
                <a:ext cx="1336639" cy="261610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050" dirty="0"/>
                  <a:t>Locator T020</a:t>
                </a:r>
                <a:endParaRPr lang="en-US" sz="1050" dirty="0"/>
              </a:p>
            </p:txBody>
          </p:sp>
        </p:grpSp>
      </p:grp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906165"/>
              </p:ext>
            </p:extLst>
          </p:nvPr>
        </p:nvGraphicFramePr>
        <p:xfrm>
          <a:off x="2124318" y="93982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0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24318" y="93982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upo 10"/>
          <p:cNvGrpSpPr/>
          <p:nvPr/>
        </p:nvGrpSpPr>
        <p:grpSpPr>
          <a:xfrm>
            <a:off x="6019155" y="1094063"/>
            <a:ext cx="5710981" cy="2529455"/>
            <a:chOff x="5095815" y="1171639"/>
            <a:chExt cx="6599570" cy="3058972"/>
          </a:xfrm>
        </p:grpSpPr>
        <p:pic>
          <p:nvPicPr>
            <p:cNvPr id="8" name="Imagen 7" descr="Recorte de pantalla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01673" y="3402327"/>
              <a:ext cx="388654" cy="53345"/>
            </a:xfrm>
            <a:prstGeom prst="rect">
              <a:avLst/>
            </a:prstGeom>
          </p:spPr>
        </p:pic>
        <p:pic>
          <p:nvPicPr>
            <p:cNvPr id="2" name="Imagen 1" descr="Recorte de pantalla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1182" y="1747445"/>
              <a:ext cx="5674203" cy="2483166"/>
            </a:xfrm>
            <a:prstGeom prst="rect">
              <a:avLst/>
            </a:prstGeom>
          </p:spPr>
        </p:pic>
        <p:sp>
          <p:nvSpPr>
            <p:cNvPr id="13" name="CuadroTexto 12"/>
            <p:cNvSpPr txBox="1"/>
            <p:nvPr/>
          </p:nvSpPr>
          <p:spPr>
            <a:xfrm>
              <a:off x="9476135" y="1755937"/>
              <a:ext cx="2087874" cy="279154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900" dirty="0"/>
                <a:t>Common Shut Height With Riser</a:t>
              </a:r>
            </a:p>
          </p:txBody>
        </p:sp>
        <p:sp>
          <p:nvSpPr>
            <p:cNvPr id="32" name="Rectángulo 31"/>
            <p:cNvSpPr/>
            <p:nvPr/>
          </p:nvSpPr>
          <p:spPr>
            <a:xfrm>
              <a:off x="6993049" y="1171639"/>
              <a:ext cx="24606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Image with closed press</a:t>
              </a:r>
            </a:p>
          </p:txBody>
        </p:sp>
        <p:sp>
          <p:nvSpPr>
            <p:cNvPr id="6" name="Rectángulo 5"/>
            <p:cNvSpPr/>
            <p:nvPr/>
          </p:nvSpPr>
          <p:spPr>
            <a:xfrm>
              <a:off x="6002105" y="2212178"/>
              <a:ext cx="780080" cy="15008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7787.34</a:t>
              </a: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6142182" y="2724727"/>
              <a:ext cx="850867" cy="3417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Conector recto de flecha 18"/>
            <p:cNvCxnSpPr/>
            <p:nvPr/>
          </p:nvCxnSpPr>
          <p:spPr>
            <a:xfrm flipV="1">
              <a:off x="6846729" y="2789825"/>
              <a:ext cx="9556" cy="47959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ector recto de flecha 33"/>
            <p:cNvCxnSpPr/>
            <p:nvPr/>
          </p:nvCxnSpPr>
          <p:spPr>
            <a:xfrm>
              <a:off x="6849374" y="3252158"/>
              <a:ext cx="0" cy="38818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recto 34"/>
            <p:cNvCxnSpPr/>
            <p:nvPr/>
          </p:nvCxnSpPr>
          <p:spPr>
            <a:xfrm flipH="1">
              <a:off x="6217800" y="2764028"/>
              <a:ext cx="112877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CuadroTexto 35"/>
            <p:cNvSpPr txBox="1"/>
            <p:nvPr/>
          </p:nvSpPr>
          <p:spPr>
            <a:xfrm>
              <a:off x="6321489" y="2520007"/>
              <a:ext cx="62549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100" dirty="0"/>
                <a:t>787mm</a:t>
              </a:r>
            </a:p>
          </p:txBody>
        </p:sp>
        <p:sp>
          <p:nvSpPr>
            <p:cNvPr id="37" name="CuadroTexto 36"/>
            <p:cNvSpPr txBox="1"/>
            <p:nvPr/>
          </p:nvSpPr>
          <p:spPr>
            <a:xfrm>
              <a:off x="5095815" y="2331010"/>
              <a:ext cx="20265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Calibri" panose="020F0502020204030204" pitchFamily="34" charset="0"/>
                </a:rPr>
                <a:t>Common Coil Feed Height to Bols</a:t>
              </a:r>
            </a:p>
            <a:p>
              <a:endParaRPr lang="es-MX" sz="1000" dirty="0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6993049" y="1710443"/>
              <a:ext cx="14189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rgbClr val="000000"/>
                  </a:solidFill>
                </a:rPr>
                <a:t>Distance</a:t>
              </a:r>
              <a:r>
                <a:rPr lang="es-MX" sz="1000" b="1" dirty="0">
                  <a:solidFill>
                    <a:srgbClr val="000000"/>
                  </a:solidFill>
                </a:rPr>
                <a:t> </a:t>
              </a:r>
              <a:r>
                <a:rPr lang="en-US" sz="1000" b="1" dirty="0">
                  <a:solidFill>
                    <a:srgbClr val="000000"/>
                  </a:solidFill>
                </a:rPr>
                <a:t>between</a:t>
              </a:r>
              <a:r>
                <a:rPr lang="es-MX" sz="1000" b="1" dirty="0">
                  <a:solidFill>
                    <a:srgbClr val="000000"/>
                  </a:solidFill>
                </a:rPr>
                <a:t> slots</a:t>
              </a:r>
              <a:endParaRPr lang="es-MX" sz="1000" dirty="0"/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9778567" y="3966993"/>
              <a:ext cx="16904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00" b="1" dirty="0"/>
                <a:t>Distance between slots</a:t>
              </a:r>
            </a:p>
          </p:txBody>
        </p:sp>
        <p:sp>
          <p:nvSpPr>
            <p:cNvPr id="48" name="Flecha izquierda 47"/>
            <p:cNvSpPr/>
            <p:nvPr/>
          </p:nvSpPr>
          <p:spPr>
            <a:xfrm flipH="1">
              <a:off x="6782185" y="3780787"/>
              <a:ext cx="1427332" cy="449824"/>
            </a:xfrm>
            <a:prstGeom prst="lef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1200" b="1" dirty="0"/>
                <a:t>FRONT  </a:t>
              </a:r>
              <a:r>
                <a:rPr lang="es-MX" sz="1100" b="1" dirty="0"/>
                <a:t>FLOW</a:t>
              </a:r>
              <a:endParaRPr lang="en-US" sz="1200" b="1" dirty="0"/>
            </a:p>
          </p:txBody>
        </p:sp>
      </p:grpSp>
      <p:pic>
        <p:nvPicPr>
          <p:cNvPr id="20" name="Imagen 19">
            <a:extLst>
              <a:ext uri="{FF2B5EF4-FFF2-40B4-BE49-F238E27FC236}">
                <a16:creationId xmlns:a16="http://schemas.microsoft.com/office/drawing/2014/main" id="{DA561BF0-6BE8-47A1-889C-2A7F21712E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9684" y="1003579"/>
            <a:ext cx="2286133" cy="97282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CE4924-E30D-430E-AC72-14CE9FB19F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09694" y="4005879"/>
            <a:ext cx="1956867" cy="1942583"/>
          </a:xfrm>
          <a:prstGeom prst="rect">
            <a:avLst/>
          </a:prstGeom>
        </p:spPr>
      </p:pic>
      <p:sp>
        <p:nvSpPr>
          <p:cNvPr id="46" name="Llamada rectangular 48">
            <a:extLst>
              <a:ext uri="{FF2B5EF4-FFF2-40B4-BE49-F238E27FC236}">
                <a16:creationId xmlns:a16="http://schemas.microsoft.com/office/drawing/2014/main" id="{AAAE7B5D-13B0-4A3D-B120-F9F3D23EF53B}"/>
              </a:ext>
            </a:extLst>
          </p:cNvPr>
          <p:cNvSpPr/>
          <p:nvPr/>
        </p:nvSpPr>
        <p:spPr>
          <a:xfrm>
            <a:off x="6757372" y="3982318"/>
            <a:ext cx="2041577" cy="670121"/>
          </a:xfrm>
          <a:prstGeom prst="wedgeRectCallout">
            <a:avLst>
              <a:gd name="adj1" fmla="val 93957"/>
              <a:gd name="adj2" fmla="val 79483"/>
            </a:avLst>
          </a:prstGeom>
          <a:solidFill>
            <a:srgbClr val="FF0000"/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Common</a:t>
            </a:r>
            <a:r>
              <a:rPr lang="es-MX" sz="1050" dirty="0"/>
              <a:t> </a:t>
            </a:r>
            <a:r>
              <a:rPr lang="en-US" sz="1050" dirty="0"/>
              <a:t>coil</a:t>
            </a:r>
            <a:r>
              <a:rPr lang="es-MX" sz="1050" dirty="0"/>
              <a:t> </a:t>
            </a:r>
            <a:r>
              <a:rPr lang="en-US" sz="1050" dirty="0"/>
              <a:t>feed</a:t>
            </a:r>
            <a:r>
              <a:rPr lang="es-MX" sz="1050" dirty="0"/>
              <a:t> </a:t>
            </a:r>
            <a:r>
              <a:rPr lang="en-US" sz="1050" dirty="0"/>
              <a:t>height</a:t>
            </a:r>
            <a:r>
              <a:rPr lang="es-MX" sz="1050" dirty="0"/>
              <a:t> </a:t>
            </a:r>
            <a:r>
              <a:rPr lang="en-PH" sz="1050" dirty="0"/>
              <a:t>with</a:t>
            </a:r>
            <a:r>
              <a:rPr lang="es-MX" sz="1050" dirty="0"/>
              <a:t> </a:t>
            </a:r>
            <a:r>
              <a:rPr lang="en-US" sz="1050" dirty="0"/>
              <a:t>lifters</a:t>
            </a:r>
            <a:r>
              <a:rPr lang="es-MX" sz="1050" dirty="0"/>
              <a:t> extended</a:t>
            </a:r>
          </a:p>
        </p:txBody>
      </p:sp>
    </p:spTree>
    <p:extLst>
      <p:ext uri="{BB962C8B-B14F-4D97-AF65-F5344CB8AC3E}">
        <p14:creationId xmlns:p14="http://schemas.microsoft.com/office/powerpoint/2010/main" val="3527607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27</a:t>
            </a:fld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515816" y="441721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MX"/>
            </a:defPPr>
            <a:lvl1pPr>
              <a:defRPr b="1"/>
            </a:lvl1pPr>
          </a:lstStyle>
          <a:p>
            <a:r>
              <a:rPr lang="es-MX" dirty="0"/>
              <a:t>PR31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669304" y="6042914"/>
            <a:ext cx="8612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that the Transfer system is limited to the size of our BOLSTER.</a:t>
            </a:r>
          </a:p>
          <a:p>
            <a:r>
              <a:rPr lang="en-US" dirty="0"/>
              <a:t>Therefore, it must be consider that a work station will be destined for the fall of the piece.</a:t>
            </a:r>
            <a:endParaRPr lang="es-MX" dirty="0"/>
          </a:p>
        </p:txBody>
      </p:sp>
      <p:grpSp>
        <p:nvGrpSpPr>
          <p:cNvPr id="25" name="Grupo 24"/>
          <p:cNvGrpSpPr/>
          <p:nvPr/>
        </p:nvGrpSpPr>
        <p:grpSpPr>
          <a:xfrm>
            <a:off x="2272289" y="1244014"/>
            <a:ext cx="9459278" cy="4766670"/>
            <a:chOff x="2008129" y="782729"/>
            <a:chExt cx="9459278" cy="4766670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08129" y="1203494"/>
              <a:ext cx="7564438" cy="4028142"/>
            </a:xfrm>
            <a:prstGeom prst="rect">
              <a:avLst/>
            </a:prstGeom>
          </p:spPr>
        </p:pic>
        <p:sp>
          <p:nvSpPr>
            <p:cNvPr id="9" name="Rectángulo 8"/>
            <p:cNvSpPr/>
            <p:nvPr/>
          </p:nvSpPr>
          <p:spPr>
            <a:xfrm>
              <a:off x="8510847" y="2267604"/>
              <a:ext cx="2956560" cy="18999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7122160" y="1203493"/>
              <a:ext cx="3403600" cy="39014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1" name="Rectángulo 10"/>
            <p:cNvSpPr/>
            <p:nvPr/>
          </p:nvSpPr>
          <p:spPr>
            <a:xfrm>
              <a:off x="2819400" y="782729"/>
              <a:ext cx="5339080" cy="33409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2819400" y="5215302"/>
              <a:ext cx="5339080" cy="33409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3" name="Rectángulo 12"/>
            <p:cNvSpPr/>
            <p:nvPr/>
          </p:nvSpPr>
          <p:spPr>
            <a:xfrm>
              <a:off x="3362960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4443225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5" name="Rectángulo 14"/>
            <p:cNvSpPr/>
            <p:nvPr/>
          </p:nvSpPr>
          <p:spPr>
            <a:xfrm>
              <a:off x="5533650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6" name="Rectángulo 15"/>
            <p:cNvSpPr/>
            <p:nvPr/>
          </p:nvSpPr>
          <p:spPr>
            <a:xfrm>
              <a:off x="6642434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4443225" y="4062424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8" name="Rectángulo 17"/>
            <p:cNvSpPr/>
            <p:nvPr/>
          </p:nvSpPr>
          <p:spPr>
            <a:xfrm>
              <a:off x="3383122" y="4053630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5533650" y="4062424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6642434" y="4080858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7761378" y="4062424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2" name="Rectángulo 21"/>
            <p:cNvSpPr/>
            <p:nvPr/>
          </p:nvSpPr>
          <p:spPr>
            <a:xfrm>
              <a:off x="7751218" y="1116826"/>
              <a:ext cx="81280" cy="11507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24" name="Imagen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49156"/>
            <a:ext cx="5224872" cy="93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21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05442" y="414068"/>
            <a:ext cx="810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PR A1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0" y="996342"/>
            <a:ext cx="1698186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TANDEM</a:t>
            </a:r>
          </a:p>
        </p:txBody>
      </p:sp>
      <p:pic>
        <p:nvPicPr>
          <p:cNvPr id="9" name="Imagen 8" descr="Recorte de pantalla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351" y="3276587"/>
            <a:ext cx="5395428" cy="3276884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6400148" y="5112169"/>
            <a:ext cx="116878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1194mm</a:t>
            </a:r>
          </a:p>
        </p:txBody>
      </p:sp>
      <p:pic>
        <p:nvPicPr>
          <p:cNvPr id="2" name="Imagen 1" descr="Recorte de pantal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7414" y="3276587"/>
            <a:ext cx="137172" cy="304826"/>
          </a:xfrm>
          <a:prstGeom prst="rect">
            <a:avLst/>
          </a:prstGeom>
        </p:spPr>
      </p:pic>
      <p:pic>
        <p:nvPicPr>
          <p:cNvPr id="3" name="Imagen 2" descr="Recorte de pantalla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6812" y="1222183"/>
            <a:ext cx="5806943" cy="438188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0343072" y="3677270"/>
            <a:ext cx="1155939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1194mm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0992929" y="3213556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MX" sz="1100" b="1" dirty="0"/>
              <a:t>Common Shut Height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7779608" y="5421934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/>
              <a:t>Distance between slots</a:t>
            </a:r>
          </a:p>
        </p:txBody>
      </p:sp>
      <p:sp>
        <p:nvSpPr>
          <p:cNvPr id="18" name="Marcador de número de diapositiva 1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28</a:t>
            </a:fld>
            <a:endParaRPr lang="es-MX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8054" y="1582090"/>
            <a:ext cx="1543202" cy="1694497"/>
          </a:xfrm>
          <a:prstGeom prst="rect">
            <a:avLst/>
          </a:prstGeom>
        </p:spPr>
      </p:pic>
      <p:cxnSp>
        <p:nvCxnSpPr>
          <p:cNvPr id="16" name="Conector recto 15"/>
          <p:cNvCxnSpPr/>
          <p:nvPr/>
        </p:nvCxnSpPr>
        <p:spPr>
          <a:xfrm>
            <a:off x="5587466" y="3027109"/>
            <a:ext cx="69011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/>
          <p:cNvCxnSpPr/>
          <p:nvPr/>
        </p:nvCxnSpPr>
        <p:spPr>
          <a:xfrm>
            <a:off x="5587466" y="4611494"/>
            <a:ext cx="69011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H="1" flipV="1">
            <a:off x="5927748" y="3070870"/>
            <a:ext cx="12801" cy="5105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/>
          <p:nvPr/>
        </p:nvCxnSpPr>
        <p:spPr>
          <a:xfrm>
            <a:off x="5940549" y="4062328"/>
            <a:ext cx="1525" cy="4363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5559664" y="3672558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200" dirty="0"/>
              <a:t>1879mm</a:t>
            </a:r>
            <a:endParaRPr lang="en-US" sz="1200" dirty="0"/>
          </a:p>
        </p:txBody>
      </p:sp>
      <p:grpSp>
        <p:nvGrpSpPr>
          <p:cNvPr id="29" name="Grupo 28"/>
          <p:cNvGrpSpPr/>
          <p:nvPr/>
        </p:nvGrpSpPr>
        <p:grpSpPr>
          <a:xfrm>
            <a:off x="5680867" y="5784737"/>
            <a:ext cx="1957454" cy="581880"/>
            <a:chOff x="5112639" y="6157281"/>
            <a:chExt cx="1957454" cy="581880"/>
          </a:xfrm>
        </p:grpSpPr>
        <p:pic>
          <p:nvPicPr>
            <p:cNvPr id="30" name="Imagen 2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12639" y="6157281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31" name="CuadroTexto 30"/>
            <p:cNvSpPr txBox="1"/>
            <p:nvPr/>
          </p:nvSpPr>
          <p:spPr>
            <a:xfrm>
              <a:off x="5733454" y="6448221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050" dirty="0"/>
                <a:t>Locator T021</a:t>
              </a:r>
              <a:endParaRPr lang="en-US" sz="1050" dirty="0"/>
            </a:p>
          </p:txBody>
        </p:sp>
      </p:grpSp>
      <p:sp>
        <p:nvSpPr>
          <p:cNvPr id="26" name="Rectángulo 25"/>
          <p:cNvSpPr/>
          <p:nvPr/>
        </p:nvSpPr>
        <p:spPr>
          <a:xfrm>
            <a:off x="3761977" y="1280948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17" name="Objeto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549711"/>
              </p:ext>
            </p:extLst>
          </p:nvPr>
        </p:nvGraphicFramePr>
        <p:xfrm>
          <a:off x="0" y="1631664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0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631664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uadroTexto 26"/>
          <p:cNvSpPr txBox="1"/>
          <p:nvPr/>
        </p:nvSpPr>
        <p:spPr>
          <a:xfrm>
            <a:off x="8867331" y="1245466"/>
            <a:ext cx="1418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Distance</a:t>
            </a:r>
            <a:r>
              <a:rPr lang="es-MX" sz="1000" b="1" dirty="0">
                <a:solidFill>
                  <a:srgbClr val="000000"/>
                </a:solidFill>
              </a:rPr>
              <a:t> </a:t>
            </a:r>
            <a:r>
              <a:rPr lang="en-US" sz="1000" b="1" dirty="0">
                <a:solidFill>
                  <a:srgbClr val="000000"/>
                </a:solidFill>
              </a:rPr>
              <a:t>between</a:t>
            </a:r>
            <a:r>
              <a:rPr lang="es-MX" sz="1000" b="1" dirty="0">
                <a:solidFill>
                  <a:srgbClr val="000000"/>
                </a:solidFill>
              </a:rPr>
              <a:t> slots</a:t>
            </a:r>
            <a:endParaRPr lang="es-MX" sz="1000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2133" y="3802634"/>
            <a:ext cx="419039" cy="223775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E9E706C-7044-4819-8BF1-9B70B0BDE2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6325" y="53668"/>
            <a:ext cx="10770097" cy="79237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C2AC229-EEBD-45A2-B65F-FD570630C54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2629" y="2189693"/>
            <a:ext cx="1597866" cy="7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4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15661" y="327803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PRA2,A3,A4,A5,A6</a:t>
            </a:r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143750"/>
              </p:ext>
            </p:extLst>
          </p:nvPr>
        </p:nvGraphicFramePr>
        <p:xfrm>
          <a:off x="2270307" y="59714"/>
          <a:ext cx="9850356" cy="786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208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003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 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Strokes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Strokes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2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A2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TANDEM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Imagen 2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199" y="4302045"/>
            <a:ext cx="4023709" cy="2118544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7375586" y="4720876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/>
              <a:t>Distance between slots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0" y="999899"/>
            <a:ext cx="1698186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TANDEM</a:t>
            </a:r>
          </a:p>
        </p:txBody>
      </p:sp>
      <p:pic>
        <p:nvPicPr>
          <p:cNvPr id="13" name="Imagen 12" descr="Recorte de pantal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1344" y="1502119"/>
            <a:ext cx="6336926" cy="3218757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9977472" y="2803720"/>
            <a:ext cx="132418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1194mm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10702124" y="2353928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MX" sz="1100" b="1" dirty="0"/>
              <a:t>Common Shut Height</a:t>
            </a:r>
          </a:p>
        </p:txBody>
      </p:sp>
      <p:sp>
        <p:nvSpPr>
          <p:cNvPr id="17" name="Marcador de número de diapositiva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29</a:t>
            </a:fld>
            <a:endParaRPr lang="es-MX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427" y="4962952"/>
            <a:ext cx="1322274" cy="1451909"/>
          </a:xfrm>
          <a:prstGeom prst="rect">
            <a:avLst/>
          </a:prstGeom>
        </p:spPr>
      </p:pic>
      <p:grpSp>
        <p:nvGrpSpPr>
          <p:cNvPr id="15" name="Grupo 14"/>
          <p:cNvGrpSpPr/>
          <p:nvPr/>
        </p:nvGrpSpPr>
        <p:grpSpPr>
          <a:xfrm>
            <a:off x="5335558" y="5676912"/>
            <a:ext cx="1957454" cy="581880"/>
            <a:chOff x="5112639" y="6157281"/>
            <a:chExt cx="1957454" cy="581880"/>
          </a:xfrm>
        </p:grpSpPr>
        <p:pic>
          <p:nvPicPr>
            <p:cNvPr id="16" name="Imagen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12639" y="6157281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18" name="CuadroTexto 17"/>
            <p:cNvSpPr txBox="1"/>
            <p:nvPr/>
          </p:nvSpPr>
          <p:spPr>
            <a:xfrm>
              <a:off x="5733454" y="6448221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050" dirty="0"/>
                <a:t>Locator T021</a:t>
              </a:r>
              <a:endParaRPr lang="en-US" sz="1050" dirty="0"/>
            </a:p>
          </p:txBody>
        </p:sp>
      </p:grpSp>
      <p:pic>
        <p:nvPicPr>
          <p:cNvPr id="19" name="Imagen 18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6335" y="3986897"/>
            <a:ext cx="436168" cy="2369453"/>
          </a:xfrm>
          <a:prstGeom prst="rect">
            <a:avLst/>
          </a:prstGeom>
        </p:spPr>
      </p:pic>
      <p:sp>
        <p:nvSpPr>
          <p:cNvPr id="20" name="Rectángulo 19"/>
          <p:cNvSpPr/>
          <p:nvPr/>
        </p:nvSpPr>
        <p:spPr>
          <a:xfrm>
            <a:off x="5515988" y="1137245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6220"/>
              </p:ext>
            </p:extLst>
          </p:nvPr>
        </p:nvGraphicFramePr>
        <p:xfrm>
          <a:off x="0" y="16597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659739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572546"/>
              </p:ext>
            </p:extLst>
          </p:nvPr>
        </p:nvGraphicFramePr>
        <p:xfrm>
          <a:off x="1014638" y="16597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Acrobat Document" showAsIcon="1" r:id="rId10" imgW="914400" imgH="792360" progId="AcroExch.Document.DC">
                  <p:embed/>
                </p:oleObj>
              </mc:Choice>
              <mc:Fallback>
                <p:oleObj name="Acrobat Document" showAsIcon="1" r:id="rId10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14638" y="1659739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o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427902"/>
              </p:ext>
            </p:extLst>
          </p:nvPr>
        </p:nvGraphicFramePr>
        <p:xfrm>
          <a:off x="2018598" y="16597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Acrobat Document" showAsIcon="1" r:id="rId12" imgW="914400" imgH="792360" progId="AcroExch.Document.DC">
                  <p:embed/>
                </p:oleObj>
              </mc:Choice>
              <mc:Fallback>
                <p:oleObj name="Acrobat Document" showAsIcon="1" r:id="rId12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18598" y="1659739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252619"/>
              </p:ext>
            </p:extLst>
          </p:nvPr>
        </p:nvGraphicFramePr>
        <p:xfrm>
          <a:off x="3028703" y="16597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Acrobat Document" showAsIcon="1" r:id="rId14" imgW="914400" imgH="792360" progId="AcroExch.Document.DC">
                  <p:embed/>
                </p:oleObj>
              </mc:Choice>
              <mc:Fallback>
                <p:oleObj name="Acrobat Document" showAsIcon="1" r:id="rId14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28703" y="1659739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232148"/>
              </p:ext>
            </p:extLst>
          </p:nvPr>
        </p:nvGraphicFramePr>
        <p:xfrm>
          <a:off x="4038498" y="1659739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Acrobat Document" showAsIcon="1" r:id="rId16" imgW="914400" imgH="792360" progId="AcroExch.Document.DC">
                  <p:embed/>
                </p:oleObj>
              </mc:Choice>
              <mc:Fallback>
                <p:oleObj name="Acrobat Document" showAsIcon="1" r:id="rId16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038498" y="1659739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Imagen 24">
            <a:extLst>
              <a:ext uri="{FF2B5EF4-FFF2-40B4-BE49-F238E27FC236}">
                <a16:creationId xmlns:a16="http://schemas.microsoft.com/office/drawing/2014/main" id="{42D4D728-81C3-4394-A994-6F0D456B857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22797" y="930186"/>
            <a:ext cx="1597866" cy="7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35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544" y="1484268"/>
            <a:ext cx="6058425" cy="359695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24286" y="405442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PRB1</a:t>
            </a:r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310368"/>
              </p:ext>
            </p:extLst>
          </p:nvPr>
        </p:nvGraphicFramePr>
        <p:xfrm>
          <a:off x="909091" y="83249"/>
          <a:ext cx="1109887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77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Shut Height OUT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Shut Height OUT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 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 OUTER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 INER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Strokes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Strokes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B1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TANDEM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INNER 914 OUTER 686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1676 INNER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2286 INNER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1574 OUTER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2184 OUTER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Imagen 8" descr="Recorte de pantal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089" y="3673762"/>
            <a:ext cx="4839119" cy="2705334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0" y="980037"/>
            <a:ext cx="1698186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TANDEM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5184476" y="3167328"/>
            <a:ext cx="1446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900" dirty="0"/>
              <a:t>Minimum shut Height OUT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10860657" y="3554084"/>
            <a:ext cx="114731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1400mm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1010234" y="2578084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MX" sz="1100" b="1" dirty="0"/>
              <a:t>Common Shut Height</a:t>
            </a:r>
          </a:p>
        </p:txBody>
      </p:sp>
      <p:sp>
        <p:nvSpPr>
          <p:cNvPr id="18" name="CuadroTexto 17"/>
          <p:cNvSpPr txBox="1"/>
          <p:nvPr/>
        </p:nvSpPr>
        <p:spPr>
          <a:xfrm>
            <a:off x="8517562" y="5081220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/>
              <a:t>Distance between slots</a:t>
            </a:r>
          </a:p>
        </p:txBody>
      </p:sp>
      <p:sp>
        <p:nvSpPr>
          <p:cNvPr id="22" name="Marcador de número de diapositiva 2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30</a:t>
            </a:fld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2369" y="1316601"/>
            <a:ext cx="1278837" cy="1404213"/>
          </a:xfrm>
          <a:prstGeom prst="rect">
            <a:avLst/>
          </a:prstGeom>
        </p:spPr>
      </p:pic>
      <p:grpSp>
        <p:nvGrpSpPr>
          <p:cNvPr id="19" name="Grupo 18"/>
          <p:cNvGrpSpPr/>
          <p:nvPr/>
        </p:nvGrpSpPr>
        <p:grpSpPr>
          <a:xfrm>
            <a:off x="5748208" y="5740559"/>
            <a:ext cx="1957454" cy="581880"/>
            <a:chOff x="5112639" y="6157281"/>
            <a:chExt cx="1957454" cy="581880"/>
          </a:xfrm>
        </p:grpSpPr>
        <p:pic>
          <p:nvPicPr>
            <p:cNvPr id="20" name="Imagen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12639" y="6157281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21" name="CuadroTexto 20"/>
            <p:cNvSpPr txBox="1"/>
            <p:nvPr/>
          </p:nvSpPr>
          <p:spPr>
            <a:xfrm>
              <a:off x="5733454" y="6448221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050" dirty="0"/>
                <a:t>Locator T021</a:t>
              </a:r>
              <a:endParaRPr lang="en-US" sz="1050" dirty="0"/>
            </a:p>
          </p:txBody>
        </p:sp>
      </p:grpSp>
      <p:pic>
        <p:nvPicPr>
          <p:cNvPr id="6" name="Imagen 5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5213" y="3681183"/>
            <a:ext cx="515436" cy="2800073"/>
          </a:xfrm>
          <a:prstGeom prst="rect">
            <a:avLst/>
          </a:prstGeom>
        </p:spPr>
      </p:pic>
      <p:sp>
        <p:nvSpPr>
          <p:cNvPr id="23" name="Rectángulo 22"/>
          <p:cNvSpPr/>
          <p:nvPr/>
        </p:nvSpPr>
        <p:spPr>
          <a:xfrm>
            <a:off x="5604888" y="1215947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699884"/>
              </p:ext>
            </p:extLst>
          </p:nvPr>
        </p:nvGraphicFramePr>
        <p:xfrm>
          <a:off x="0" y="162262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44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62262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Imagen 23">
            <a:extLst>
              <a:ext uri="{FF2B5EF4-FFF2-40B4-BE49-F238E27FC236}">
                <a16:creationId xmlns:a16="http://schemas.microsoft.com/office/drawing/2014/main" id="{603D11B2-C460-4C07-BDCE-21E7A4EF6D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9847" y="2307283"/>
            <a:ext cx="1597866" cy="7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93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01925" y="353682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 B2,B3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0" y="1013529"/>
            <a:ext cx="1698186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TANDEM</a:t>
            </a:r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292775"/>
              </p:ext>
            </p:extLst>
          </p:nvPr>
        </p:nvGraphicFramePr>
        <p:xfrm>
          <a:off x="1286926" y="85145"/>
          <a:ext cx="106488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740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Ram Adjust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Strokes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Strokes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B2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TANDEM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CuadroTexto 9"/>
          <p:cNvSpPr txBox="1"/>
          <p:nvPr/>
        </p:nvSpPr>
        <p:spPr>
          <a:xfrm>
            <a:off x="7511198" y="5025141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/>
              <a:t>Distance between slots</a:t>
            </a:r>
          </a:p>
        </p:txBody>
      </p:sp>
      <p:pic>
        <p:nvPicPr>
          <p:cNvPr id="13" name="Imagen 12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818" y="4049831"/>
            <a:ext cx="4747671" cy="2484335"/>
          </a:xfrm>
          <a:prstGeom prst="rect">
            <a:avLst/>
          </a:prstGeom>
        </p:spPr>
      </p:pic>
      <p:pic>
        <p:nvPicPr>
          <p:cNvPr id="14" name="Imagen 13" descr="Recorte de pantal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3252" y="1199069"/>
            <a:ext cx="6439458" cy="3703641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0702889" y="2957876"/>
            <a:ext cx="1199071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MX" sz="1100" b="1" dirty="0"/>
              <a:t>Common Shut Height</a:t>
            </a:r>
          </a:p>
        </p:txBody>
      </p:sp>
      <p:sp>
        <p:nvSpPr>
          <p:cNvPr id="18" name="Marcador de número de diapositiva 1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31</a:t>
            </a:fld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281" y="2006677"/>
            <a:ext cx="1426370" cy="1566210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5497616" y="5774470"/>
            <a:ext cx="1957454" cy="581880"/>
            <a:chOff x="5112639" y="6157281"/>
            <a:chExt cx="1957454" cy="581880"/>
          </a:xfrm>
        </p:grpSpPr>
        <p:pic>
          <p:nvPicPr>
            <p:cNvPr id="17" name="Imagen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12639" y="6157281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19" name="CuadroTexto 18"/>
            <p:cNvSpPr txBox="1"/>
            <p:nvPr/>
          </p:nvSpPr>
          <p:spPr>
            <a:xfrm>
              <a:off x="5733454" y="6448221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050" dirty="0"/>
                <a:t>Locator T021</a:t>
              </a:r>
              <a:endParaRPr lang="en-US" sz="1050" dirty="0"/>
            </a:p>
          </p:txBody>
        </p:sp>
      </p:grpSp>
      <p:pic>
        <p:nvPicPr>
          <p:cNvPr id="7" name="Imagen 6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84734" y="4245695"/>
            <a:ext cx="420539" cy="2284549"/>
          </a:xfrm>
          <a:prstGeom prst="rect">
            <a:avLst/>
          </a:prstGeom>
        </p:spPr>
      </p:pic>
      <p:sp>
        <p:nvSpPr>
          <p:cNvPr id="20" name="Rectángulo 19"/>
          <p:cNvSpPr/>
          <p:nvPr/>
        </p:nvSpPr>
        <p:spPr>
          <a:xfrm>
            <a:off x="3271671" y="1160402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423644"/>
              </p:ext>
            </p:extLst>
          </p:nvPr>
        </p:nvGraphicFramePr>
        <p:xfrm>
          <a:off x="0" y="1636343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8" name="Acrobat Document" showAsIcon="1" r:id="rId8" imgW="914400" imgH="792360" progId="AcroExch.Document.11">
                  <p:embed/>
                </p:oleObj>
              </mc:Choice>
              <mc:Fallback>
                <p:oleObj name="Acrobat Document" showAsIcon="1" r:id="rId8" imgW="914400" imgH="79236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636343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24257"/>
              </p:ext>
            </p:extLst>
          </p:nvPr>
        </p:nvGraphicFramePr>
        <p:xfrm>
          <a:off x="0" y="2475083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89" name="Acrobat Document" showAsIcon="1" r:id="rId10" imgW="914400" imgH="792360" progId="AcroExch.Document.11">
                  <p:embed/>
                </p:oleObj>
              </mc:Choice>
              <mc:Fallback>
                <p:oleObj name="Acrobat Document" showAsIcon="1" r:id="rId10" imgW="914400" imgH="79236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0" y="2475083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uadroTexto 20"/>
          <p:cNvSpPr txBox="1"/>
          <p:nvPr/>
        </p:nvSpPr>
        <p:spPr>
          <a:xfrm>
            <a:off x="7003905" y="1182805"/>
            <a:ext cx="1471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Distance</a:t>
            </a:r>
            <a:r>
              <a:rPr lang="es-MX" sz="1000" b="1" dirty="0">
                <a:solidFill>
                  <a:srgbClr val="000000"/>
                </a:solidFill>
              </a:rPr>
              <a:t> </a:t>
            </a:r>
            <a:r>
              <a:rPr lang="en-US" sz="1000" b="1" dirty="0">
                <a:solidFill>
                  <a:srgbClr val="000000"/>
                </a:solidFill>
              </a:rPr>
              <a:t>between</a:t>
            </a:r>
            <a:r>
              <a:rPr lang="es-MX" sz="1000" b="1" dirty="0">
                <a:solidFill>
                  <a:srgbClr val="000000"/>
                </a:solidFill>
              </a:rPr>
              <a:t> slots</a:t>
            </a:r>
            <a:endParaRPr lang="es-MX" sz="10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D865243-94E4-434A-8228-4831C5EDEC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5801" y="2470512"/>
            <a:ext cx="1597866" cy="7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40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89781" y="327804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PR B4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0" y="938676"/>
            <a:ext cx="1698186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MX" sz="3200" b="1" dirty="0"/>
              <a:t>TANDEM</a:t>
            </a:r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263215"/>
              </p:ext>
            </p:extLst>
          </p:nvPr>
        </p:nvGraphicFramePr>
        <p:xfrm>
          <a:off x="1776576" y="64058"/>
          <a:ext cx="1014513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22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Press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L-R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BOLSTER F-B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STROKE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Common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Shut Height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TONNAGE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Minimum Strokes P/Minute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Maximum Strokes P/Minute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</a:t>
                      </a:r>
                      <a:r>
                        <a:rPr lang="es-MX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B4</a:t>
                      </a:r>
                      <a:endParaRPr lang="es-MX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TANDEM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Imagen 9" descr="Recorte de pantal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363" y="3068479"/>
            <a:ext cx="5078204" cy="3306413"/>
          </a:xfrm>
          <a:prstGeom prst="rect">
            <a:avLst/>
          </a:prstGeom>
        </p:spPr>
      </p:pic>
      <p:pic>
        <p:nvPicPr>
          <p:cNvPr id="11" name="Imagen 10" descr="Recorte de pantal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7655" y="1085325"/>
            <a:ext cx="6544345" cy="3736841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0900278" y="2691527"/>
            <a:ext cx="10214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MX" dirty="0"/>
              <a:t>1194mm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11017915" y="2120846"/>
            <a:ext cx="1174085" cy="43088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s-MX" sz="1100" b="1" dirty="0"/>
              <a:t>Common Shut Height</a:t>
            </a:r>
          </a:p>
        </p:txBody>
      </p:sp>
      <p:sp>
        <p:nvSpPr>
          <p:cNvPr id="18" name="Marcador de número de diapositiva 1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91A32E0-1075-4409-884C-6FCA71D173B5}" type="slidenum">
              <a:rPr lang="es-MX" smtClean="0"/>
              <a:t>32</a:t>
            </a:fld>
            <a:endParaRPr lang="es-MX" dirty="0"/>
          </a:p>
        </p:txBody>
      </p:sp>
      <p:sp>
        <p:nvSpPr>
          <p:cNvPr id="15" name="CuadroTexto 14"/>
          <p:cNvSpPr txBox="1"/>
          <p:nvPr/>
        </p:nvSpPr>
        <p:spPr>
          <a:xfrm>
            <a:off x="7882236" y="4822166"/>
            <a:ext cx="15424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b="1" dirty="0"/>
              <a:t>Distance between slots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861" y="1460891"/>
            <a:ext cx="1448186" cy="1590165"/>
          </a:xfrm>
          <a:prstGeom prst="rect">
            <a:avLst/>
          </a:prstGeom>
        </p:spPr>
      </p:pic>
      <p:grpSp>
        <p:nvGrpSpPr>
          <p:cNvPr id="14" name="Grupo 13"/>
          <p:cNvGrpSpPr/>
          <p:nvPr/>
        </p:nvGrpSpPr>
        <p:grpSpPr>
          <a:xfrm>
            <a:off x="5464954" y="5615449"/>
            <a:ext cx="1957454" cy="581880"/>
            <a:chOff x="5112639" y="6157281"/>
            <a:chExt cx="1957454" cy="581880"/>
          </a:xfrm>
        </p:grpSpPr>
        <p:pic>
          <p:nvPicPr>
            <p:cNvPr id="17" name="Imagen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12639" y="6157281"/>
              <a:ext cx="620816" cy="581880"/>
            </a:xfrm>
            <a:prstGeom prst="rect">
              <a:avLst/>
            </a:prstGeom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</p:pic>
        <p:sp>
          <p:nvSpPr>
            <p:cNvPr id="19" name="CuadroTexto 18"/>
            <p:cNvSpPr txBox="1"/>
            <p:nvPr/>
          </p:nvSpPr>
          <p:spPr>
            <a:xfrm>
              <a:off x="5733454" y="6448221"/>
              <a:ext cx="1336639" cy="261610"/>
            </a:xfrm>
            <a:prstGeom prst="rect">
              <a:avLst/>
            </a:prstGeom>
            <a:noFill/>
            <a:ln w="38100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050" dirty="0"/>
                <a:t>Locator T021</a:t>
              </a:r>
              <a:endParaRPr lang="en-US" sz="1050" dirty="0"/>
            </a:p>
          </p:txBody>
        </p:sp>
      </p:grpSp>
      <p:pic>
        <p:nvPicPr>
          <p:cNvPr id="8" name="Imagen 7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89781" y="3539893"/>
            <a:ext cx="435624" cy="2366496"/>
          </a:xfrm>
          <a:prstGeom prst="rect">
            <a:avLst/>
          </a:prstGeom>
        </p:spPr>
      </p:pic>
      <p:sp>
        <p:nvSpPr>
          <p:cNvPr id="20" name="Rectángulo 19"/>
          <p:cNvSpPr/>
          <p:nvPr/>
        </p:nvSpPr>
        <p:spPr>
          <a:xfrm>
            <a:off x="3680854" y="978517"/>
            <a:ext cx="2460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Image with closed press</a:t>
            </a: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004811"/>
              </p:ext>
            </p:extLst>
          </p:nvPr>
        </p:nvGraphicFramePr>
        <p:xfrm>
          <a:off x="0" y="154102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2" name="Acrobat Document" showAsIcon="1" r:id="rId8" imgW="914400" imgH="792360" progId="AcroExch.Document.DC">
                  <p:embed/>
                </p:oleObj>
              </mc:Choice>
              <mc:Fallback>
                <p:oleObj name="Acrobat Document" showAsIcon="1" r:id="rId8" imgW="914400" imgH="792360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0" y="1541027"/>
                        <a:ext cx="914400" cy="79216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67000"/>
                            </a:schemeClr>
                          </a:gs>
                          <a:gs pos="48000">
                            <a:schemeClr val="accent1">
                              <a:lumMod val="97000"/>
                              <a:lumOff val="3000"/>
                            </a:schemeClr>
                          </a:gs>
                          <a:gs pos="100000">
                            <a:schemeClr val="accent1">
                              <a:lumMod val="60000"/>
                              <a:lumOff val="40000"/>
                            </a:schemeClr>
                          </a:gs>
                        </a:gsLst>
                        <a:lin ang="16200000" scaled="1"/>
                      </a:gradFill>
                      <a:ln w="38100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uadroTexto 20"/>
          <p:cNvSpPr txBox="1"/>
          <p:nvPr/>
        </p:nvSpPr>
        <p:spPr>
          <a:xfrm>
            <a:off x="8045806" y="889179"/>
            <a:ext cx="1418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000000"/>
                </a:solidFill>
              </a:rPr>
              <a:t>Distance</a:t>
            </a:r>
            <a:r>
              <a:rPr lang="es-MX" sz="1000" b="1" dirty="0">
                <a:solidFill>
                  <a:srgbClr val="000000"/>
                </a:solidFill>
              </a:rPr>
              <a:t> </a:t>
            </a:r>
            <a:r>
              <a:rPr lang="en-US" sz="1000" b="1" dirty="0">
                <a:solidFill>
                  <a:srgbClr val="000000"/>
                </a:solidFill>
              </a:rPr>
              <a:t>between</a:t>
            </a:r>
            <a:r>
              <a:rPr lang="es-MX" sz="1000" b="1" dirty="0">
                <a:solidFill>
                  <a:srgbClr val="000000"/>
                </a:solidFill>
              </a:rPr>
              <a:t> slots</a:t>
            </a:r>
            <a:endParaRPr lang="es-MX" sz="10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5BA7428B-82B7-4946-8AC6-43228FADAE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1380" y="2120846"/>
            <a:ext cx="1597866" cy="7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44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162" y="1153125"/>
            <a:ext cx="7007241" cy="525543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C931010-D18C-4230-A9D2-B4E96BE0DB35}"/>
              </a:ext>
            </a:extLst>
          </p:cNvPr>
          <p:cNvSpPr txBox="1"/>
          <p:nvPr/>
        </p:nvSpPr>
        <p:spPr>
          <a:xfrm>
            <a:off x="739833" y="1052130"/>
            <a:ext cx="43813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1-8-2018      We add</a:t>
            </a:r>
            <a:r>
              <a:rPr lang="es-MX" sz="1000" dirty="0"/>
              <a:t> ´transfer curves </a:t>
            </a:r>
            <a:r>
              <a:rPr lang="en-US" sz="1000" dirty="0"/>
              <a:t>to</a:t>
            </a:r>
            <a:r>
              <a:rPr lang="es-MX" sz="1000" dirty="0"/>
              <a:t> </a:t>
            </a:r>
            <a:r>
              <a:rPr lang="en-US" sz="1000" dirty="0"/>
              <a:t>press</a:t>
            </a:r>
            <a:r>
              <a:rPr lang="es-MX" sz="1000" dirty="0"/>
              <a:t> 24,25,26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2-8-2018     </a:t>
            </a:r>
            <a:r>
              <a:rPr lang="en-US" sz="1000" dirty="0"/>
              <a:t>Modification</a:t>
            </a:r>
            <a:r>
              <a:rPr lang="es-MX" sz="1000" dirty="0"/>
              <a:t> in </a:t>
            </a:r>
            <a:r>
              <a:rPr lang="en-US" sz="1000" dirty="0"/>
              <a:t>the</a:t>
            </a:r>
            <a:r>
              <a:rPr lang="es-MX" sz="1000" dirty="0"/>
              <a:t> </a:t>
            </a:r>
            <a:r>
              <a:rPr lang="en-US" sz="1000" dirty="0"/>
              <a:t>press</a:t>
            </a:r>
            <a:r>
              <a:rPr lang="es-MX" sz="1000" dirty="0"/>
              <a:t> 11 </a:t>
            </a:r>
            <a:r>
              <a:rPr lang="en-US" sz="1000" dirty="0"/>
              <a:t>information</a:t>
            </a:r>
            <a:r>
              <a:rPr lang="es-MX" sz="1000" dirty="0"/>
              <a:t> .(</a:t>
            </a:r>
            <a:r>
              <a:rPr lang="en-US" sz="1000" dirty="0"/>
              <a:t>common</a:t>
            </a:r>
            <a:r>
              <a:rPr lang="es-MX" sz="1000" dirty="0"/>
              <a:t>  </a:t>
            </a:r>
            <a:r>
              <a:rPr lang="en-US" sz="1000" dirty="0"/>
              <a:t>shut</a:t>
            </a:r>
            <a:r>
              <a:rPr lang="es-MX" sz="1000" dirty="0"/>
              <a:t> </a:t>
            </a:r>
            <a:r>
              <a:rPr lang="en-US" sz="1000" dirty="0"/>
              <a:t>height</a:t>
            </a:r>
            <a:r>
              <a:rPr lang="es-MX" sz="1000" dirty="0"/>
              <a:t> 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10-8-2018  Modificación in </a:t>
            </a:r>
            <a:r>
              <a:rPr lang="en-US" sz="1000" dirty="0"/>
              <a:t>the</a:t>
            </a:r>
            <a:r>
              <a:rPr lang="es-MX" sz="1000" dirty="0"/>
              <a:t> HS información. (</a:t>
            </a:r>
            <a:r>
              <a:rPr lang="en-US" sz="1000" dirty="0"/>
              <a:t>common</a:t>
            </a:r>
            <a:r>
              <a:rPr lang="es-MX" sz="1000" dirty="0"/>
              <a:t>  </a:t>
            </a:r>
            <a:r>
              <a:rPr lang="en-US" sz="1000" dirty="0"/>
              <a:t>shut</a:t>
            </a:r>
            <a:r>
              <a:rPr lang="es-MX" sz="1000" dirty="0"/>
              <a:t> </a:t>
            </a:r>
            <a:r>
              <a:rPr lang="en-US" sz="1000" dirty="0"/>
              <a:t>height</a:t>
            </a:r>
            <a:r>
              <a:rPr lang="es-MX" sz="1000" dirty="0"/>
              <a:t> 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10-8-2018  </a:t>
            </a:r>
            <a:r>
              <a:rPr lang="en-US" sz="1000" dirty="0"/>
              <a:t>We</a:t>
            </a:r>
            <a:r>
              <a:rPr lang="es-MX" sz="1000" dirty="0"/>
              <a:t>  </a:t>
            </a:r>
            <a:r>
              <a:rPr lang="en-US" sz="1000" dirty="0"/>
              <a:t>add</a:t>
            </a:r>
            <a:r>
              <a:rPr lang="es-MX" sz="1000" dirty="0"/>
              <a:t> </a:t>
            </a:r>
            <a:r>
              <a:rPr lang="en-US" sz="1000" dirty="0"/>
              <a:t>preferred</a:t>
            </a:r>
            <a:r>
              <a:rPr lang="es-MX" sz="1000" dirty="0"/>
              <a:t>  load </a:t>
            </a:r>
            <a:r>
              <a:rPr lang="en-US" sz="1000" dirty="0"/>
              <a:t>height</a:t>
            </a:r>
            <a:r>
              <a:rPr lang="es-MX" sz="1000" dirty="0"/>
              <a:t> </a:t>
            </a:r>
            <a:r>
              <a:rPr lang="en-US" sz="1000" dirty="0"/>
              <a:t>information</a:t>
            </a:r>
            <a:r>
              <a:rPr lang="es-MX" sz="1000" dirty="0"/>
              <a:t> </a:t>
            </a:r>
            <a:r>
              <a:rPr lang="en-US" sz="1000" dirty="0"/>
              <a:t>to</a:t>
            </a:r>
            <a:r>
              <a:rPr lang="es-MX" sz="1000" dirty="0"/>
              <a:t> </a:t>
            </a:r>
            <a:r>
              <a:rPr lang="en-US" sz="1000" dirty="0"/>
              <a:t>press</a:t>
            </a:r>
            <a:r>
              <a:rPr lang="es-MX" sz="1000" dirty="0"/>
              <a:t> 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28/8/2018  </a:t>
            </a:r>
            <a:r>
              <a:rPr lang="en-US" sz="1000" dirty="0"/>
              <a:t>we</a:t>
            </a:r>
            <a:r>
              <a:rPr lang="es-MX" sz="1000" dirty="0"/>
              <a:t> </a:t>
            </a:r>
            <a:r>
              <a:rPr lang="en-US" sz="1000" dirty="0"/>
              <a:t>add</a:t>
            </a:r>
            <a:r>
              <a:rPr lang="es-MX" sz="1000" dirty="0"/>
              <a:t> </a:t>
            </a:r>
            <a:r>
              <a:rPr lang="en-US" sz="1000" dirty="0"/>
              <a:t>information</a:t>
            </a:r>
            <a:r>
              <a:rPr lang="es-MX" sz="1000" dirty="0"/>
              <a:t> </a:t>
            </a:r>
            <a:r>
              <a:rPr lang="en-US" sz="1000" dirty="0"/>
              <a:t>of</a:t>
            </a:r>
            <a:r>
              <a:rPr lang="es-MX" sz="1000" dirty="0"/>
              <a:t> SPM and </a:t>
            </a:r>
            <a:r>
              <a:rPr lang="en-US" sz="1000" dirty="0"/>
              <a:t>max</a:t>
            </a:r>
            <a:r>
              <a:rPr lang="es-MX" sz="1000" dirty="0"/>
              <a:t>  </a:t>
            </a:r>
            <a:r>
              <a:rPr lang="en-US" sz="1000" dirty="0"/>
              <a:t>coil</a:t>
            </a:r>
            <a:r>
              <a:rPr lang="es-MX" sz="1000" dirty="0"/>
              <a:t> </a:t>
            </a:r>
            <a:r>
              <a:rPr lang="en-US" sz="1000" dirty="0"/>
              <a:t>width</a:t>
            </a:r>
            <a:r>
              <a:rPr lang="es-MX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8009201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Verde azulado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01FB8EFA849245ABC4115AA8BAA1A5" ma:contentTypeVersion="81" ma:contentTypeDescription="Create a new document." ma:contentTypeScope="" ma:versionID="339e13affc4b0e75ae95d169a0f27881">
  <xsd:schema xmlns:xsd="http://www.w3.org/2001/XMLSchema" xmlns:xs="http://www.w3.org/2001/XMLSchema" xmlns:p="http://schemas.microsoft.com/office/2006/metadata/properties" xmlns:ns2="38f8b4e6-74ce-4965-af09-fae2437c3b26" xmlns:ns3="fd8b26be-cb79-41f1-8109-274f4f7eb448" targetNamespace="http://schemas.microsoft.com/office/2006/metadata/properties" ma:root="true" ma:fieldsID="f450d5d4b42cb4e3a021840d59413020" ns2:_="" ns3:_="">
    <xsd:import namespace="38f8b4e6-74ce-4965-af09-fae2437c3b26"/>
    <xsd:import namespace="fd8b26be-cb79-41f1-8109-274f4f7eb44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Recieved" minOccurs="0"/>
                <xsd:element ref="ns3:Revision_Level" minOccurs="0"/>
                <xsd:element ref="ns3:MediaServiceAutoTags" minOccurs="0"/>
                <xsd:element ref="ns3:MediaServiceOCR" minOccurs="0"/>
                <xsd:element ref="ns3:Obsolete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f8b4e6-74ce-4965-af09-fae2437c3b2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8b26be-cb79-41f1-8109-274f4f7eb4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Recieved" ma:index="14" nillable="true" ma:displayName="Recieved" ma:internalName="Recieved">
      <xsd:simpleType>
        <xsd:restriction base="dms:Text">
          <xsd:maxLength value="255"/>
        </xsd:restriction>
      </xsd:simpleType>
    </xsd:element>
    <xsd:element name="Revision_Level" ma:index="15" nillable="true" ma:displayName="Revision_Level" ma:internalName="Revision_Level">
      <xsd:simpleType>
        <xsd:restriction base="dms:Text">
          <xsd:maxLength value="255"/>
        </xsd:restriction>
      </xsd:simpleType>
    </xsd:element>
    <xsd:element name="MediaServiceAutoTags" ma:index="16" nillable="true" ma:displayName="MediaServiceAutoTags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Obsolete" ma:index="18" nillable="true" ma:displayName="Obsolete" ma:internalName="Obsolete">
      <xsd:simpleType>
        <xsd:restriction base="dms:Text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8f8b4e6-74ce-4965-af09-fae2437c3b26">364SW6Z4PNJ6-848411091-5988</_dlc_DocId>
    <_dlc_DocIdUrl xmlns="38f8b4e6-74ce-4965-af09-fae2437c3b26">
      <Url>https://toolingsystemsgroup.sharepoint.com/TSG/PM20/_layouts/15/DocIdRedir.aspx?ID=364SW6Z4PNJ6-848411091-5988</Url>
      <Description>364SW6Z4PNJ6-848411091-5988</Description>
    </_dlc_DocIdUrl>
    <Recieved xmlns="fd8b26be-cb79-41f1-8109-274f4f7eb448">2018-11-21</Recieved>
    <Obsolete xmlns="fd8b26be-cb79-41f1-8109-274f4f7eb448" xsi:nil="true"/>
    <Revision_Level xmlns="fd8b26be-cb79-41f1-8109-274f4f7eb448">11.2</Revision_Level>
  </documentManagement>
</p:properties>
</file>

<file path=customXml/itemProps1.xml><?xml version="1.0" encoding="utf-8"?>
<ds:datastoreItem xmlns:ds="http://schemas.openxmlformats.org/officeDocument/2006/customXml" ds:itemID="{5EB8D0F9-2B44-4E3F-A628-EF4F47DD883C}"/>
</file>

<file path=customXml/itemProps2.xml><?xml version="1.0" encoding="utf-8"?>
<ds:datastoreItem xmlns:ds="http://schemas.openxmlformats.org/officeDocument/2006/customXml" ds:itemID="{820EE87F-41EC-4A78-8A83-60A67F2CB4F6}"/>
</file>

<file path=customXml/itemProps3.xml><?xml version="1.0" encoding="utf-8"?>
<ds:datastoreItem xmlns:ds="http://schemas.openxmlformats.org/officeDocument/2006/customXml" ds:itemID="{BB8E95E5-5D22-441C-83FE-AFEAAB306852}"/>
</file>

<file path=customXml/itemProps4.xml><?xml version="1.0" encoding="utf-8"?>
<ds:datastoreItem xmlns:ds="http://schemas.openxmlformats.org/officeDocument/2006/customXml" ds:itemID="{C4B6A947-63D4-4F5F-84D5-69517E6BE0A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7632</TotalTime>
  <Words>1882</Words>
  <Application>Microsoft Office PowerPoint</Application>
  <PresentationFormat>Panorámica</PresentationFormat>
  <Paragraphs>907</Paragraphs>
  <Slides>33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33</vt:i4>
      </vt:variant>
    </vt:vector>
  </HeadingPairs>
  <TitlesOfParts>
    <vt:vector size="41" baseType="lpstr">
      <vt:lpstr>Adobe Devanagari</vt:lpstr>
      <vt:lpstr>Arial</vt:lpstr>
      <vt:lpstr>Calibri</vt:lpstr>
      <vt:lpstr>Calibri Light</vt:lpstr>
      <vt:lpstr>Wingdings 2</vt:lpstr>
      <vt:lpstr>HDOfficeLightV0</vt:lpstr>
      <vt:lpstr>Acrobat Document</vt:lpstr>
      <vt:lpstr>Adobe Acrobat Document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Tabla Prensas.</dc:title>
  <dc:creator>Roberto.Cruz@magna.com;leon.tlapalama@magna.com</dc:creator>
  <cp:lastModifiedBy>Cruz, Roberto</cp:lastModifiedBy>
  <cp:revision>453</cp:revision>
  <cp:lastPrinted>2017-06-21T18:00:15Z</cp:lastPrinted>
  <dcterms:created xsi:type="dcterms:W3CDTF">2017-06-14T20:58:21Z</dcterms:created>
  <dcterms:modified xsi:type="dcterms:W3CDTF">2018-10-25T22:31:05Z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0x010100E301FB8EFA849245ABC4115AA8BAA1A5</vt:lpwstr>
  </property>
  <property fmtid="{D5CDD505-2E9C-101B-9397-08002B2CF9AE}" pid="3" name="_dlc_DocIdItemGuid">
    <vt:lpwstr>db2bc18f-bed6-4c51-930d-53542d152452</vt:lpwstr>
  </property>
</Properties>
</file>