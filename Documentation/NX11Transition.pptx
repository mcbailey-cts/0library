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1"/>
  </p:notesMasterIdLst>
  <p:sldIdLst>
    <p:sldId id="256" r:id="rId2"/>
    <p:sldId id="259" r:id="rId3"/>
    <p:sldId id="257" r:id="rId4"/>
    <p:sldId id="261" r:id="rId5"/>
    <p:sldId id="258" r:id="rId6"/>
    <p:sldId id="267" r:id="rId7"/>
    <p:sldId id="274" r:id="rId8"/>
    <p:sldId id="277" r:id="rId9"/>
    <p:sldId id="263" r:id="rId10"/>
    <p:sldId id="264" r:id="rId11"/>
    <p:sldId id="265" r:id="rId12"/>
    <p:sldId id="270" r:id="rId13"/>
    <p:sldId id="268" r:id="rId14"/>
    <p:sldId id="269" r:id="rId15"/>
    <p:sldId id="271" r:id="rId16"/>
    <p:sldId id="276" r:id="rId17"/>
    <p:sldId id="273" r:id="rId18"/>
    <p:sldId id="262" r:id="rId19"/>
    <p:sldId id="272"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2" d="100"/>
          <a:sy n="102" d="100"/>
        </p:scale>
        <p:origin x="-828"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A131D2-F5B1-4304-9E44-3AEB092689FD}" type="datetimeFigureOut">
              <a:rPr lang="en-US" smtClean="0"/>
              <a:t>11/29/2017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5AA4B02-52C8-466A-8B5C-C0D07D50050C}" type="slidenum">
              <a:rPr lang="en-US" smtClean="0"/>
              <a:t>‹#›</a:t>
            </a:fld>
            <a:endParaRPr lang="en-US"/>
          </a:p>
        </p:txBody>
      </p:sp>
    </p:spTree>
    <p:extLst>
      <p:ext uri="{BB962C8B-B14F-4D97-AF65-F5344CB8AC3E}">
        <p14:creationId xmlns:p14="http://schemas.microsoft.com/office/powerpoint/2010/main" val="2528457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Grid</a:t>
            </a:r>
            <a:r>
              <a:rPr lang="en-US" baseline="0" dirty="0" smtClean="0"/>
              <a:t> preference?</a:t>
            </a:r>
            <a:endParaRPr lang="en-US" dirty="0"/>
          </a:p>
        </p:txBody>
      </p:sp>
      <p:sp>
        <p:nvSpPr>
          <p:cNvPr id="4" name="Slide Number Placeholder 3"/>
          <p:cNvSpPr>
            <a:spLocks noGrp="1"/>
          </p:cNvSpPr>
          <p:nvPr>
            <p:ph type="sldNum" sz="quarter" idx="10"/>
          </p:nvPr>
        </p:nvSpPr>
        <p:spPr/>
        <p:txBody>
          <a:bodyPr/>
          <a:lstStyle/>
          <a:p>
            <a:fld id="{15AA4B02-52C8-466A-8B5C-C0D07D50050C}" type="slidenum">
              <a:rPr lang="en-US" smtClean="0"/>
              <a:t>3</a:t>
            </a:fld>
            <a:endParaRPr lang="en-US"/>
          </a:p>
        </p:txBody>
      </p:sp>
    </p:spTree>
    <p:extLst>
      <p:ext uri="{BB962C8B-B14F-4D97-AF65-F5344CB8AC3E}">
        <p14:creationId xmlns:p14="http://schemas.microsoft.com/office/powerpoint/2010/main" val="111339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Other</a:t>
            </a:r>
            <a:r>
              <a:rPr lang="en-US" baseline="0" dirty="0" smtClean="0"/>
              <a:t> Design Check idea’s?</a:t>
            </a:r>
            <a:endParaRPr lang="en-US" dirty="0"/>
          </a:p>
        </p:txBody>
      </p:sp>
      <p:sp>
        <p:nvSpPr>
          <p:cNvPr id="4" name="Slide Number Placeholder 3"/>
          <p:cNvSpPr>
            <a:spLocks noGrp="1"/>
          </p:cNvSpPr>
          <p:nvPr>
            <p:ph type="sldNum" sz="quarter" idx="10"/>
          </p:nvPr>
        </p:nvSpPr>
        <p:spPr/>
        <p:txBody>
          <a:bodyPr/>
          <a:lstStyle/>
          <a:p>
            <a:fld id="{15AA4B02-52C8-466A-8B5C-C0D07D50050C}" type="slidenum">
              <a:rPr lang="en-US" smtClean="0"/>
              <a:t>4</a:t>
            </a:fld>
            <a:endParaRPr lang="en-US"/>
          </a:p>
        </p:txBody>
      </p:sp>
    </p:spTree>
    <p:extLst>
      <p:ext uri="{BB962C8B-B14F-4D97-AF65-F5344CB8AC3E}">
        <p14:creationId xmlns:p14="http://schemas.microsoft.com/office/powerpoint/2010/main" val="1444093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Do example</a:t>
            </a:r>
            <a:r>
              <a:rPr lang="en-US" baseline="0" dirty="0" smtClean="0"/>
              <a:t> files shown ever need to be exported?  No</a:t>
            </a:r>
            <a:endParaRPr lang="en-US" dirty="0"/>
          </a:p>
        </p:txBody>
      </p:sp>
      <p:sp>
        <p:nvSpPr>
          <p:cNvPr id="4" name="Slide Number Placeholder 3"/>
          <p:cNvSpPr>
            <a:spLocks noGrp="1"/>
          </p:cNvSpPr>
          <p:nvPr>
            <p:ph type="sldNum" sz="quarter" idx="10"/>
          </p:nvPr>
        </p:nvSpPr>
        <p:spPr/>
        <p:txBody>
          <a:bodyPr/>
          <a:lstStyle/>
          <a:p>
            <a:fld id="{15AA4B02-52C8-466A-8B5C-C0D07D50050C}" type="slidenum">
              <a:rPr lang="en-US" smtClean="0"/>
              <a:t>5</a:t>
            </a:fld>
            <a:endParaRPr lang="en-US"/>
          </a:p>
        </p:txBody>
      </p:sp>
    </p:spTree>
    <p:extLst>
      <p:ext uri="{BB962C8B-B14F-4D97-AF65-F5344CB8AC3E}">
        <p14:creationId xmlns:p14="http://schemas.microsoft.com/office/powerpoint/2010/main" val="3794320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Do example</a:t>
            </a:r>
            <a:r>
              <a:rPr lang="en-US" baseline="0" dirty="0" smtClean="0"/>
              <a:t> files shown ever need to be exported?  No</a:t>
            </a:r>
            <a:endParaRPr lang="en-US" dirty="0"/>
          </a:p>
        </p:txBody>
      </p:sp>
      <p:sp>
        <p:nvSpPr>
          <p:cNvPr id="4" name="Slide Number Placeholder 3"/>
          <p:cNvSpPr>
            <a:spLocks noGrp="1"/>
          </p:cNvSpPr>
          <p:nvPr>
            <p:ph type="sldNum" sz="quarter" idx="10"/>
          </p:nvPr>
        </p:nvSpPr>
        <p:spPr/>
        <p:txBody>
          <a:bodyPr/>
          <a:lstStyle/>
          <a:p>
            <a:fld id="{15AA4B02-52C8-466A-8B5C-C0D07D50050C}" type="slidenum">
              <a:rPr lang="en-US" smtClean="0"/>
              <a:t>6</a:t>
            </a:fld>
            <a:endParaRPr lang="en-US"/>
          </a:p>
        </p:txBody>
      </p:sp>
    </p:spTree>
    <p:extLst>
      <p:ext uri="{BB962C8B-B14F-4D97-AF65-F5344CB8AC3E}">
        <p14:creationId xmlns:p14="http://schemas.microsoft.com/office/powerpoint/2010/main" val="3794320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CB34CD41-3617-4651-8004-921D8A891552}" type="datetimeFigureOut">
              <a:rPr lang="en-US" smtClean="0"/>
              <a:t>11/29/2017</a:t>
            </a:fld>
            <a:endParaRPr lang="en-US"/>
          </a:p>
        </p:txBody>
      </p:sp>
      <p:sp>
        <p:nvSpPr>
          <p:cNvPr id="8" name="Slide Number Placeholder 7"/>
          <p:cNvSpPr>
            <a:spLocks noGrp="1"/>
          </p:cNvSpPr>
          <p:nvPr>
            <p:ph type="sldNum" sz="quarter" idx="11"/>
          </p:nvPr>
        </p:nvSpPr>
        <p:spPr/>
        <p:txBody>
          <a:bodyPr/>
          <a:lstStyle/>
          <a:p>
            <a:fld id="{E2E567F4-6DAB-48A5-872C-6D82890C0C5B}"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CB34CD41-3617-4651-8004-921D8A891552}" type="datetimeFigureOut">
              <a:rPr lang="en-US" smtClean="0"/>
              <a:t>11/29/2017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E567F4-6DAB-48A5-872C-6D82890C0C5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B34CD41-3617-4651-8004-921D8A891552}" type="datetimeFigureOut">
              <a:rPr lang="en-US" smtClean="0"/>
              <a:t>11/29/2017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E567F4-6DAB-48A5-872C-6D82890C0C5B}" type="slidenum">
              <a:rPr lang="en-US" smtClean="0"/>
              <a:t>‹#›</a:t>
            </a:fld>
            <a:endParaRPr 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CB34CD41-3617-4651-8004-921D8A891552}" type="datetimeFigureOut">
              <a:rPr lang="en-US" smtClean="0"/>
              <a:t>11/29/2017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E567F4-6DAB-48A5-872C-6D82890C0C5B}" type="slidenum">
              <a:rPr lang="en-US" smtClean="0"/>
              <a:t>‹#›</a:t>
            </a:fld>
            <a:endParaRPr lang="en-US"/>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CB34CD41-3617-4651-8004-921D8A891552}" type="datetimeFigureOut">
              <a:rPr lang="en-US" smtClean="0"/>
              <a:t>11/29/2017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E567F4-6DAB-48A5-872C-6D82890C0C5B}" type="slidenum">
              <a:rPr lang="en-US" smtClean="0"/>
              <a:t>‹#›</a:t>
            </a:fld>
            <a:endParaRPr lang="en-US"/>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B34CD41-3617-4651-8004-921D8A891552}" type="datetimeFigureOut">
              <a:rPr lang="en-US" smtClean="0"/>
              <a:t>11/29/2017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E567F4-6DAB-48A5-872C-6D82890C0C5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34CD41-3617-4651-8004-921D8A891552}" type="datetimeFigureOut">
              <a:rPr lang="en-US" smtClean="0"/>
              <a:t>11/29/2017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2E567F4-6DAB-48A5-872C-6D82890C0C5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B34CD41-3617-4651-8004-921D8A891552}" type="datetimeFigureOut">
              <a:rPr lang="en-US" smtClean="0"/>
              <a:t>11/29/2017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E567F4-6DAB-48A5-872C-6D82890C0C5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B34CD41-3617-4651-8004-921D8A891552}" type="datetimeFigureOut">
              <a:rPr lang="en-US" smtClean="0"/>
              <a:t>11/29/2017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E567F4-6DAB-48A5-872C-6D82890C0C5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B34CD41-3617-4651-8004-921D8A891552}" type="datetimeFigureOut">
              <a:rPr lang="en-US" smtClean="0"/>
              <a:t>11/29/2017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E567F4-6DAB-48A5-872C-6D82890C0C5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B34CD41-3617-4651-8004-921D8A891552}" type="datetimeFigureOut">
              <a:rPr lang="en-US" smtClean="0"/>
              <a:t>11/29/2017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E567F4-6DAB-48A5-872C-6D82890C0C5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CB34CD41-3617-4651-8004-921D8A891552}" type="datetimeFigureOut">
              <a:rPr lang="en-US" smtClean="0"/>
              <a:t>11/29/2017</a:t>
            </a:fld>
            <a:endParaRPr 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E2E567F4-6DAB-48A5-872C-6D82890C0C5B}" type="slidenum">
              <a:rPr lang="en-US" smtClean="0"/>
              <a:t>‹#›</a:t>
            </a:fld>
            <a:endParaRPr lang="en-US"/>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community.plm.automation.siemens.com/t5/NX-Design-Knowledge-Base/Introducing-Combine-in-NX-11-0-1/ta-p/391455" TargetMode="External"/><Relationship Id="rId2" Type="http://schemas.openxmlformats.org/officeDocument/2006/relationships/hyperlink" Target="https://community.plm.automation.siemens.com/t5/NX-Design-Knowledge-Base/NX-11-0-1-Isolate-in-New-Window/ta-p/389309" TargetMode="External"/><Relationship Id="rId1" Type="http://schemas.openxmlformats.org/officeDocument/2006/relationships/slideLayout" Target="../slideLayouts/slideLayout2.xml"/><Relationship Id="rId6" Type="http://schemas.openxmlformats.org/officeDocument/2006/relationships/hyperlink" Target="https://www.youtube.com/watch?v=Rv9ln8HKxis&amp;list=PL1m1vu8_quoANFmv4FNxNl6Cr6G3AFPzG&amp;index=5" TargetMode="External"/><Relationship Id="rId5" Type="http://schemas.openxmlformats.org/officeDocument/2006/relationships/hyperlink" Target="https://docs.plm.automation.siemens.com/tdoc/nx/11/nx_help#uid:index_whatsnew:id1241822:xid718232:xid1183080" TargetMode="External"/><Relationship Id="rId4" Type="http://schemas.openxmlformats.org/officeDocument/2006/relationships/hyperlink" Target="https://docs.plm.automation.siemens.com/tdoc/nx/11/nx_help#uid:index_whatsnew:id1241822:xid718232:xid1183080:xid1096244"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81199"/>
            <a:ext cx="7772400" cy="1219201"/>
          </a:xfrm>
        </p:spPr>
        <p:txBody>
          <a:bodyPr/>
          <a:lstStyle/>
          <a:p>
            <a:r>
              <a:rPr lang="en-US" sz="6600" dirty="0" smtClean="0">
                <a:latin typeface="+mj-lt"/>
              </a:rPr>
              <a:t>NX 11 Transition</a:t>
            </a:r>
            <a:endParaRPr lang="en-US" sz="6600" dirty="0">
              <a:latin typeface="+mj-lt"/>
            </a:endParaRPr>
          </a:p>
        </p:txBody>
      </p:sp>
      <p:sp>
        <p:nvSpPr>
          <p:cNvPr id="3" name="Subtitle 2"/>
          <p:cNvSpPr>
            <a:spLocks noGrp="1"/>
          </p:cNvSpPr>
          <p:nvPr>
            <p:ph type="subTitle" idx="1"/>
          </p:nvPr>
        </p:nvSpPr>
        <p:spPr>
          <a:xfrm>
            <a:off x="1371600" y="3331698"/>
            <a:ext cx="4800600" cy="2230902"/>
          </a:xfrm>
        </p:spPr>
        <p:txBody>
          <a:bodyPr>
            <a:normAutofit/>
          </a:bodyPr>
          <a:lstStyle/>
          <a:p>
            <a:pPr marL="457200" indent="-457200" algn="l">
              <a:buFont typeface="Arial" panose="020B0604020202020204" pitchFamily="34" charset="0"/>
              <a:buChar char="•"/>
            </a:pPr>
            <a:r>
              <a:rPr lang="en-US" dirty="0" smtClean="0"/>
              <a:t>Toolbars Re-Organized</a:t>
            </a:r>
          </a:p>
          <a:p>
            <a:pPr marL="457200" indent="-457200" algn="l">
              <a:buFont typeface="Arial" panose="020B0604020202020204" pitchFamily="34" charset="0"/>
              <a:buChar char="•"/>
            </a:pPr>
            <a:r>
              <a:rPr lang="en-US" dirty="0" err="1" smtClean="0"/>
              <a:t>Ufunc</a:t>
            </a:r>
            <a:r>
              <a:rPr lang="en-US" dirty="0" smtClean="0"/>
              <a:t> Updates</a:t>
            </a:r>
          </a:p>
          <a:p>
            <a:pPr marL="457200" indent="-457200" algn="l">
              <a:buFont typeface="Arial" panose="020B0604020202020204" pitchFamily="34" charset="0"/>
              <a:buChar char="•"/>
            </a:pPr>
            <a:r>
              <a:rPr lang="en-US" dirty="0" smtClean="0"/>
              <a:t>0Library</a:t>
            </a:r>
          </a:p>
          <a:p>
            <a:pPr marL="457200" indent="-457200" algn="l">
              <a:buFont typeface="Arial" panose="020B0604020202020204" pitchFamily="34" charset="0"/>
              <a:buChar char="•"/>
            </a:pPr>
            <a:r>
              <a:rPr lang="en-US" dirty="0" smtClean="0"/>
              <a:t>Preferences / Settings</a:t>
            </a:r>
          </a:p>
          <a:p>
            <a:pPr marL="457200" indent="-457200" algn="l">
              <a:buFont typeface="Arial" panose="020B0604020202020204" pitchFamily="34" charset="0"/>
              <a:buChar char="•"/>
            </a:pPr>
            <a:r>
              <a:rPr lang="en-US" dirty="0" smtClean="0"/>
              <a:t>New Functionality</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00" y="3657600"/>
            <a:ext cx="2647950" cy="1724025"/>
          </a:xfrm>
          <a:prstGeom prst="rect">
            <a:avLst/>
          </a:prstGeom>
        </p:spPr>
      </p:pic>
    </p:spTree>
    <p:extLst>
      <p:ext uri="{BB962C8B-B14F-4D97-AF65-F5344CB8AC3E}">
        <p14:creationId xmlns:p14="http://schemas.microsoft.com/office/powerpoint/2010/main" val="34031642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lstStyle/>
          <a:p>
            <a:r>
              <a:rPr lang="en-US" sz="4400" dirty="0" smtClean="0">
                <a:latin typeface="+mj-lt"/>
              </a:rPr>
              <a:t>CTS Custom -  Re-Organized</a:t>
            </a:r>
            <a:endParaRPr lang="en-US" sz="4400" dirty="0">
              <a:latin typeface="+mj-lt"/>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300" y="1676400"/>
            <a:ext cx="8915400" cy="5327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757895" y="2362200"/>
            <a:ext cx="4404905" cy="584775"/>
          </a:xfrm>
          <a:prstGeom prst="rect">
            <a:avLst/>
          </a:prstGeom>
          <a:noFill/>
        </p:spPr>
        <p:txBody>
          <a:bodyPr wrap="square" rtlCol="0">
            <a:spAutoFit/>
          </a:bodyPr>
          <a:lstStyle/>
          <a:p>
            <a:r>
              <a:rPr lang="en-US" u="sng" dirty="0" smtClean="0">
                <a:latin typeface="+mj-lt"/>
              </a:rPr>
              <a:t>NX9 – CTS Custom</a:t>
            </a:r>
          </a:p>
          <a:p>
            <a:r>
              <a:rPr lang="en-US" sz="1400" dirty="0" smtClean="0">
                <a:latin typeface="+mj-lt"/>
              </a:rPr>
              <a:t>Design – Components</a:t>
            </a:r>
            <a:r>
              <a:rPr lang="en-US" sz="1400" dirty="0">
                <a:latin typeface="+mj-lt"/>
              </a:rPr>
              <a:t> </a:t>
            </a:r>
            <a:r>
              <a:rPr lang="en-US" sz="1400" dirty="0" smtClean="0">
                <a:latin typeface="+mj-lt"/>
              </a:rPr>
              <a:t>– Grid</a:t>
            </a:r>
            <a:r>
              <a:rPr lang="en-US" sz="1400" dirty="0">
                <a:latin typeface="+mj-lt"/>
              </a:rPr>
              <a:t> </a:t>
            </a:r>
            <a:r>
              <a:rPr lang="en-US" sz="1400" dirty="0" smtClean="0">
                <a:latin typeface="+mj-lt"/>
              </a:rPr>
              <a:t>– </a:t>
            </a:r>
            <a:r>
              <a:rPr lang="en-US" sz="1400" dirty="0" err="1" smtClean="0">
                <a:latin typeface="+mj-lt"/>
              </a:rPr>
              <a:t>Ufunc</a:t>
            </a:r>
            <a:r>
              <a:rPr lang="en-US" sz="1400" dirty="0">
                <a:latin typeface="+mj-lt"/>
              </a:rPr>
              <a:t> </a:t>
            </a:r>
            <a:r>
              <a:rPr lang="en-US" sz="1400" dirty="0" smtClean="0">
                <a:latin typeface="+mj-lt"/>
              </a:rPr>
              <a:t>- Utility</a:t>
            </a:r>
            <a:endParaRPr lang="en-US" sz="1400" dirty="0">
              <a:latin typeface="+mj-lt"/>
            </a:endParaRPr>
          </a:p>
        </p:txBody>
      </p:sp>
      <p:sp>
        <p:nvSpPr>
          <p:cNvPr id="7" name="TextBox 6"/>
          <p:cNvSpPr txBox="1"/>
          <p:nvPr/>
        </p:nvSpPr>
        <p:spPr>
          <a:xfrm>
            <a:off x="2743200" y="4800600"/>
            <a:ext cx="3228704" cy="584775"/>
          </a:xfrm>
          <a:prstGeom prst="rect">
            <a:avLst/>
          </a:prstGeom>
          <a:noFill/>
        </p:spPr>
        <p:txBody>
          <a:bodyPr wrap="square" rtlCol="0">
            <a:spAutoFit/>
          </a:bodyPr>
          <a:lstStyle/>
          <a:p>
            <a:r>
              <a:rPr lang="en-US" u="sng" dirty="0" smtClean="0">
                <a:latin typeface="+mj-lt"/>
              </a:rPr>
              <a:t>NX11 – CTS Custom</a:t>
            </a:r>
          </a:p>
          <a:p>
            <a:r>
              <a:rPr lang="en-US" sz="1400" dirty="0" smtClean="0">
                <a:latin typeface="+mj-lt"/>
              </a:rPr>
              <a:t>Simulation – Layout</a:t>
            </a:r>
            <a:r>
              <a:rPr lang="en-US" sz="1400" dirty="0">
                <a:latin typeface="+mj-lt"/>
              </a:rPr>
              <a:t> </a:t>
            </a:r>
            <a:r>
              <a:rPr lang="en-US" sz="1400" dirty="0" smtClean="0">
                <a:latin typeface="+mj-lt"/>
              </a:rPr>
              <a:t>– Design</a:t>
            </a:r>
            <a:r>
              <a:rPr lang="en-US" sz="1400" dirty="0">
                <a:latin typeface="+mj-lt"/>
              </a:rPr>
              <a:t> </a:t>
            </a:r>
            <a:r>
              <a:rPr lang="en-US" sz="1400" dirty="0" smtClean="0">
                <a:latin typeface="+mj-lt"/>
              </a:rPr>
              <a:t>- Utility</a:t>
            </a:r>
            <a:endParaRPr lang="en-US" sz="1400" dirty="0">
              <a:latin typeface="+mj-lt"/>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4114800"/>
            <a:ext cx="8991600" cy="6369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197170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228600"/>
            <a:ext cx="8229600" cy="838200"/>
          </a:xfrm>
        </p:spPr>
        <p:txBody>
          <a:bodyPr/>
          <a:lstStyle/>
          <a:p>
            <a:r>
              <a:rPr lang="en-US" sz="4400" dirty="0" err="1" smtClean="0">
                <a:latin typeface="+mj-lt"/>
              </a:rPr>
              <a:t>Ufunc</a:t>
            </a:r>
            <a:r>
              <a:rPr lang="en-US" sz="4400" dirty="0" smtClean="0">
                <a:latin typeface="+mj-lt"/>
              </a:rPr>
              <a:t> Updates</a:t>
            </a:r>
            <a:endParaRPr lang="en-US" sz="4400" dirty="0">
              <a:latin typeface="+mj-lt"/>
            </a:endParaRPr>
          </a:p>
        </p:txBody>
      </p:sp>
      <p:pic>
        <p:nvPicPr>
          <p:cNvPr id="205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80490" y="1483660"/>
            <a:ext cx="1038986"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9430" y="1524000"/>
            <a:ext cx="1034226" cy="16522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4651" y="3614407"/>
            <a:ext cx="926523" cy="10588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4600" y="4989731"/>
            <a:ext cx="257175" cy="247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35550" y="5263040"/>
            <a:ext cx="295275" cy="23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4600" y="5521056"/>
            <a:ext cx="257175" cy="21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6"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59363" y="5791200"/>
            <a:ext cx="247650" cy="209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233656" y="1948489"/>
            <a:ext cx="1600200" cy="646331"/>
          </a:xfrm>
          <a:prstGeom prst="rect">
            <a:avLst/>
          </a:prstGeom>
          <a:noFill/>
        </p:spPr>
        <p:txBody>
          <a:bodyPr wrap="square" rtlCol="0">
            <a:spAutoFit/>
          </a:bodyPr>
          <a:lstStyle/>
          <a:p>
            <a:r>
              <a:rPr lang="en-US" dirty="0" smtClean="0">
                <a:latin typeface="+mj-lt"/>
              </a:rPr>
              <a:t>Color Face &amp; Color Solid</a:t>
            </a:r>
            <a:endParaRPr lang="en-US" dirty="0">
              <a:latin typeface="+mj-lt"/>
            </a:endParaRPr>
          </a:p>
        </p:txBody>
      </p:sp>
      <p:pic>
        <p:nvPicPr>
          <p:cNvPr id="2057"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12422" y="3905724"/>
            <a:ext cx="247650" cy="23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Arrow Connector 5"/>
          <p:cNvCxnSpPr>
            <a:stCxn id="4" idx="3"/>
          </p:cNvCxnSpPr>
          <p:nvPr/>
        </p:nvCxnSpPr>
        <p:spPr>
          <a:xfrm flipV="1">
            <a:off x="4833856" y="2271654"/>
            <a:ext cx="357231"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2059" name="Picture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02896" y="2150601"/>
            <a:ext cx="257175" cy="247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7" name="Straight Arrow Connector 16"/>
          <p:cNvCxnSpPr/>
          <p:nvPr/>
        </p:nvCxnSpPr>
        <p:spPr>
          <a:xfrm flipV="1">
            <a:off x="5661516" y="2274424"/>
            <a:ext cx="357231"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05486" y="1290231"/>
            <a:ext cx="761775" cy="18860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05486" y="3304249"/>
            <a:ext cx="761775" cy="16974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2007013" y="4982447"/>
            <a:ext cx="5551075" cy="1323439"/>
          </a:xfrm>
          <a:prstGeom prst="rect">
            <a:avLst/>
          </a:prstGeom>
          <a:noFill/>
        </p:spPr>
        <p:txBody>
          <a:bodyPr wrap="square" rtlCol="0">
            <a:spAutoFit/>
          </a:bodyPr>
          <a:lstStyle/>
          <a:p>
            <a:r>
              <a:rPr lang="en-US" sz="1600" dirty="0" err="1" smtClean="0">
                <a:latin typeface="+mj-lt"/>
              </a:rPr>
              <a:t>Cbore</a:t>
            </a:r>
            <a:r>
              <a:rPr lang="en-US" sz="1600" dirty="0" smtClean="0">
                <a:latin typeface="+mj-lt"/>
              </a:rPr>
              <a:t> Wave Subtract - Use Add Fasteners</a:t>
            </a:r>
          </a:p>
          <a:p>
            <a:r>
              <a:rPr lang="en-US" sz="1600" dirty="0" smtClean="0">
                <a:latin typeface="+mj-lt"/>
              </a:rPr>
              <a:t>Tap Wave Subtract </a:t>
            </a:r>
            <a:r>
              <a:rPr lang="en-US" sz="1600" dirty="0">
                <a:latin typeface="+mj-lt"/>
              </a:rPr>
              <a:t>- Use Add </a:t>
            </a:r>
            <a:r>
              <a:rPr lang="en-US" sz="1600" dirty="0" smtClean="0">
                <a:latin typeface="+mj-lt"/>
              </a:rPr>
              <a:t>Fasteners</a:t>
            </a:r>
          </a:p>
          <a:p>
            <a:r>
              <a:rPr lang="en-US" sz="1600" dirty="0" smtClean="0">
                <a:latin typeface="+mj-lt"/>
              </a:rPr>
              <a:t>Undo </a:t>
            </a:r>
            <a:r>
              <a:rPr lang="en-US" sz="1600" dirty="0" err="1" smtClean="0">
                <a:latin typeface="+mj-lt"/>
              </a:rPr>
              <a:t>Cbore</a:t>
            </a:r>
            <a:r>
              <a:rPr lang="en-US" sz="1600" dirty="0" smtClean="0">
                <a:latin typeface="+mj-lt"/>
              </a:rPr>
              <a:t> Wave Subtract </a:t>
            </a:r>
            <a:r>
              <a:rPr lang="en-US" sz="1600" dirty="0">
                <a:latin typeface="+mj-lt"/>
              </a:rPr>
              <a:t>- Use Add </a:t>
            </a:r>
            <a:r>
              <a:rPr lang="en-US" sz="1600" dirty="0" smtClean="0">
                <a:latin typeface="+mj-lt"/>
              </a:rPr>
              <a:t>Fasteners</a:t>
            </a:r>
          </a:p>
          <a:p>
            <a:r>
              <a:rPr lang="en-US" sz="1600" dirty="0" smtClean="0">
                <a:latin typeface="+mj-lt"/>
              </a:rPr>
              <a:t>Check Jig Jacks – In Design Check</a:t>
            </a:r>
          </a:p>
          <a:p>
            <a:r>
              <a:rPr lang="en-US" sz="1600" dirty="0" err="1" smtClean="0">
                <a:latin typeface="+mj-lt"/>
              </a:rPr>
              <a:t>ExportDesign</a:t>
            </a:r>
            <a:r>
              <a:rPr lang="en-US" sz="1600" dirty="0" smtClean="0">
                <a:latin typeface="+mj-lt"/>
              </a:rPr>
              <a:t> – In </a:t>
            </a:r>
            <a:r>
              <a:rPr lang="en-US" sz="1600" dirty="0" err="1" smtClean="0">
                <a:latin typeface="+mj-lt"/>
              </a:rPr>
              <a:t>AssemblyExportData</a:t>
            </a:r>
            <a:endParaRPr lang="en-US" sz="1600" dirty="0" smtClean="0">
              <a:latin typeface="+mj-lt"/>
            </a:endParaRPr>
          </a:p>
        </p:txBody>
      </p:sp>
      <p:pic>
        <p:nvPicPr>
          <p:cNvPr id="1029" name="Picture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50547" y="5788764"/>
            <a:ext cx="257175" cy="22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587913" y="974042"/>
            <a:ext cx="838200" cy="369332"/>
          </a:xfrm>
          <a:prstGeom prst="rect">
            <a:avLst/>
          </a:prstGeom>
          <a:noFill/>
        </p:spPr>
        <p:txBody>
          <a:bodyPr wrap="square" rtlCol="0">
            <a:spAutoFit/>
          </a:bodyPr>
          <a:lstStyle/>
          <a:p>
            <a:pPr algn="ctr"/>
            <a:r>
              <a:rPr lang="en-US" dirty="0" smtClean="0">
                <a:latin typeface="+mj-lt"/>
              </a:rPr>
              <a:t>NX9</a:t>
            </a:r>
            <a:endParaRPr lang="en-US" dirty="0">
              <a:latin typeface="+mj-lt"/>
            </a:endParaRPr>
          </a:p>
        </p:txBody>
      </p:sp>
      <p:sp>
        <p:nvSpPr>
          <p:cNvPr id="21" name="TextBox 20"/>
          <p:cNvSpPr txBox="1"/>
          <p:nvPr/>
        </p:nvSpPr>
        <p:spPr>
          <a:xfrm>
            <a:off x="4893322" y="974042"/>
            <a:ext cx="838200" cy="369332"/>
          </a:xfrm>
          <a:prstGeom prst="rect">
            <a:avLst/>
          </a:prstGeom>
          <a:noFill/>
        </p:spPr>
        <p:txBody>
          <a:bodyPr wrap="square" rtlCol="0">
            <a:spAutoFit/>
          </a:bodyPr>
          <a:lstStyle/>
          <a:p>
            <a:pPr algn="ctr"/>
            <a:r>
              <a:rPr lang="en-US" dirty="0" smtClean="0">
                <a:latin typeface="+mj-lt"/>
              </a:rPr>
              <a:t>NX11</a:t>
            </a:r>
            <a:endParaRPr lang="en-US" dirty="0">
              <a:latin typeface="+mj-lt"/>
            </a:endParaRPr>
          </a:p>
        </p:txBody>
      </p:sp>
      <p:sp>
        <p:nvSpPr>
          <p:cNvPr id="7" name="TextBox 6"/>
          <p:cNvSpPr txBox="1"/>
          <p:nvPr/>
        </p:nvSpPr>
        <p:spPr>
          <a:xfrm>
            <a:off x="1290763" y="5049161"/>
            <a:ext cx="365998" cy="1427839"/>
          </a:xfrm>
          <a:prstGeom prst="rect">
            <a:avLst/>
          </a:prstGeom>
          <a:noFill/>
        </p:spPr>
        <p:txBody>
          <a:bodyPr vert="wordArtVert" wrap="square" rtlCol="0">
            <a:spAutoFit/>
          </a:bodyPr>
          <a:lstStyle/>
          <a:p>
            <a:r>
              <a:rPr lang="en-US" sz="1000" b="1" dirty="0" smtClean="0">
                <a:latin typeface="+mj-lt"/>
              </a:rPr>
              <a:t>Removed</a:t>
            </a:r>
            <a:endParaRPr lang="en-US" sz="1000" b="1" dirty="0">
              <a:latin typeface="+mj-lt"/>
            </a:endParaRPr>
          </a:p>
        </p:txBody>
      </p:sp>
      <p:pic>
        <p:nvPicPr>
          <p:cNvPr id="3075" name="Picture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53479" y="6058236"/>
            <a:ext cx="257175" cy="247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43600" y="6019800"/>
            <a:ext cx="266700" cy="247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5105398" y="1794600"/>
            <a:ext cx="702323" cy="307777"/>
          </a:xfrm>
          <a:prstGeom prst="rect">
            <a:avLst/>
          </a:prstGeom>
          <a:noFill/>
        </p:spPr>
        <p:txBody>
          <a:bodyPr wrap="square" rtlCol="0">
            <a:spAutoFit/>
          </a:bodyPr>
          <a:lstStyle/>
          <a:p>
            <a:pPr algn="ctr"/>
            <a:r>
              <a:rPr lang="en-US" sz="1400" dirty="0" smtClean="0">
                <a:latin typeface="+mj-lt"/>
              </a:rPr>
              <a:t>Color</a:t>
            </a:r>
            <a:endParaRPr lang="en-US" sz="1400" dirty="0">
              <a:latin typeface="+mj-lt"/>
            </a:endParaRPr>
          </a:p>
        </p:txBody>
      </p:sp>
      <p:sp>
        <p:nvSpPr>
          <p:cNvPr id="27" name="TextBox 26"/>
          <p:cNvSpPr txBox="1"/>
          <p:nvPr/>
        </p:nvSpPr>
        <p:spPr>
          <a:xfrm>
            <a:off x="5105399" y="3562177"/>
            <a:ext cx="702323" cy="307777"/>
          </a:xfrm>
          <a:prstGeom prst="rect">
            <a:avLst/>
          </a:prstGeom>
          <a:noFill/>
        </p:spPr>
        <p:txBody>
          <a:bodyPr wrap="square" rtlCol="0">
            <a:spAutoFit/>
          </a:bodyPr>
          <a:lstStyle/>
          <a:p>
            <a:pPr algn="ctr"/>
            <a:r>
              <a:rPr lang="en-US" sz="1400" dirty="0" smtClean="0">
                <a:latin typeface="+mj-lt"/>
              </a:rPr>
              <a:t>Grid</a:t>
            </a:r>
            <a:endParaRPr lang="en-US" sz="1400" dirty="0">
              <a:latin typeface="+mj-lt"/>
            </a:endParaRPr>
          </a:p>
        </p:txBody>
      </p:sp>
    </p:spTree>
    <p:extLst>
      <p:ext uri="{BB962C8B-B14F-4D97-AF65-F5344CB8AC3E}">
        <p14:creationId xmlns:p14="http://schemas.microsoft.com/office/powerpoint/2010/main" val="1915062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lstStyle/>
          <a:p>
            <a:r>
              <a:rPr lang="en-US" sz="4400" dirty="0" smtClean="0">
                <a:latin typeface="+mj-lt"/>
              </a:rPr>
              <a:t>Design Check</a:t>
            </a:r>
            <a:endParaRPr lang="en-US" sz="4400" dirty="0">
              <a:latin typeface="+mj-lt"/>
            </a:endParaRPr>
          </a:p>
        </p:txBody>
      </p:sp>
      <p:pic>
        <p:nvPicPr>
          <p:cNvPr id="102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2043917"/>
            <a:ext cx="2467744" cy="206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7737389" y="2744371"/>
            <a:ext cx="1219200" cy="523220"/>
          </a:xfrm>
          <a:prstGeom prst="rect">
            <a:avLst/>
          </a:prstGeom>
          <a:noFill/>
        </p:spPr>
        <p:txBody>
          <a:bodyPr wrap="square" rtlCol="0">
            <a:spAutoFit/>
          </a:bodyPr>
          <a:lstStyle/>
          <a:p>
            <a:r>
              <a:rPr lang="en-US" sz="1400" dirty="0" smtClean="0">
                <a:latin typeface="+mj-lt"/>
              </a:rPr>
              <a:t>Check to Trim Edges?</a:t>
            </a:r>
            <a:endParaRPr lang="en-US" sz="1400" dirty="0">
              <a:latin typeface="+mj-lt"/>
            </a:endParaRPr>
          </a:p>
        </p:txBody>
      </p:sp>
      <p:sp>
        <p:nvSpPr>
          <p:cNvPr id="9" name="TextBox 8"/>
          <p:cNvSpPr txBox="1"/>
          <p:nvPr/>
        </p:nvSpPr>
        <p:spPr>
          <a:xfrm>
            <a:off x="3774989" y="2466446"/>
            <a:ext cx="1295400" cy="738664"/>
          </a:xfrm>
          <a:prstGeom prst="rect">
            <a:avLst/>
          </a:prstGeom>
          <a:noFill/>
        </p:spPr>
        <p:txBody>
          <a:bodyPr wrap="square" rtlCol="0">
            <a:spAutoFit/>
          </a:bodyPr>
          <a:lstStyle/>
          <a:p>
            <a:r>
              <a:rPr lang="en-US" sz="1400" dirty="0" smtClean="0">
                <a:latin typeface="+mj-lt"/>
              </a:rPr>
              <a:t>Check to non trim edges?</a:t>
            </a:r>
            <a:endParaRPr lang="en-US" sz="1400" dirty="0">
              <a:latin typeface="+mj-lt"/>
            </a:endParaRPr>
          </a:p>
        </p:txBody>
      </p:sp>
      <p:cxnSp>
        <p:nvCxnSpPr>
          <p:cNvPr id="10" name="Straight Arrow Connector 9"/>
          <p:cNvCxnSpPr/>
          <p:nvPr/>
        </p:nvCxnSpPr>
        <p:spPr>
          <a:xfrm>
            <a:off x="4917989" y="2772066"/>
            <a:ext cx="685800" cy="197227"/>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6975389" y="2933858"/>
            <a:ext cx="762000" cy="144246"/>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5603789" y="4267200"/>
            <a:ext cx="2667000" cy="1477328"/>
          </a:xfrm>
          <a:prstGeom prst="rect">
            <a:avLst/>
          </a:prstGeom>
          <a:noFill/>
        </p:spPr>
        <p:txBody>
          <a:bodyPr wrap="square" rtlCol="0">
            <a:spAutoFit/>
          </a:bodyPr>
          <a:lstStyle/>
          <a:p>
            <a:r>
              <a:rPr lang="en-US" dirty="0" smtClean="0">
                <a:latin typeface="+mj-lt"/>
              </a:rPr>
              <a:t>Idea’s?</a:t>
            </a:r>
          </a:p>
          <a:p>
            <a:r>
              <a:rPr lang="en-US" dirty="0" smtClean="0">
                <a:latin typeface="+mj-lt"/>
              </a:rPr>
              <a:t>Red – Failed</a:t>
            </a:r>
          </a:p>
          <a:p>
            <a:r>
              <a:rPr lang="en-US" dirty="0" smtClean="0">
                <a:latin typeface="+mj-lt"/>
              </a:rPr>
              <a:t>Yellow – Caution (+.050)</a:t>
            </a:r>
          </a:p>
          <a:p>
            <a:r>
              <a:rPr lang="en-US" dirty="0" smtClean="0">
                <a:latin typeface="+mj-lt"/>
              </a:rPr>
              <a:t>Green - Passed</a:t>
            </a:r>
            <a:endParaRPr lang="en-US" dirty="0">
              <a:latin typeface="+mj-lt"/>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685800"/>
            <a:ext cx="276225" cy="23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403412" y="1697888"/>
            <a:ext cx="3950555" cy="4708981"/>
          </a:xfrm>
          <a:prstGeom prst="rect">
            <a:avLst/>
          </a:prstGeom>
          <a:noFill/>
        </p:spPr>
        <p:txBody>
          <a:bodyPr wrap="square" rtlCol="0">
            <a:spAutoFit/>
          </a:bodyPr>
          <a:lstStyle/>
          <a:p>
            <a:r>
              <a:rPr lang="en-US" sz="1200" dirty="0">
                <a:latin typeface="+mj-lt"/>
              </a:rPr>
              <a:t>Design Check Start</a:t>
            </a:r>
            <a:br>
              <a:rPr lang="en-US" sz="1200" dirty="0">
                <a:latin typeface="+mj-lt"/>
              </a:rPr>
            </a:br>
            <a:r>
              <a:rPr lang="en-US" sz="1200" dirty="0">
                <a:latin typeface="+mj-lt"/>
              </a:rPr>
              <a:t/>
            </a:r>
            <a:br>
              <a:rPr lang="en-US" sz="1200" dirty="0">
                <a:latin typeface="+mj-lt"/>
              </a:rPr>
            </a:br>
            <a:r>
              <a:rPr lang="en-US" sz="1200" dirty="0">
                <a:latin typeface="+mj-lt"/>
              </a:rPr>
              <a:t>Validate Jig Jacks Start</a:t>
            </a:r>
            <a:br>
              <a:rPr lang="en-US" sz="1200" dirty="0">
                <a:latin typeface="+mj-lt"/>
              </a:rPr>
            </a:br>
            <a:r>
              <a:rPr lang="en-US" sz="1200" dirty="0">
                <a:latin typeface="+mj-lt"/>
              </a:rPr>
              <a:t>Found 2 components with Jig Jacks.</a:t>
            </a:r>
            <a:br>
              <a:rPr lang="en-US" sz="1200" dirty="0">
                <a:latin typeface="+mj-lt"/>
              </a:rPr>
            </a:br>
            <a:r>
              <a:rPr lang="en-US" sz="1200" dirty="0">
                <a:latin typeface="+mj-lt"/>
              </a:rPr>
              <a:t>Passed: 2</a:t>
            </a:r>
            <a:br>
              <a:rPr lang="en-US" sz="1200" dirty="0">
                <a:latin typeface="+mj-lt"/>
              </a:rPr>
            </a:br>
            <a:r>
              <a:rPr lang="en-US" sz="1200" dirty="0">
                <a:latin typeface="+mj-lt"/>
              </a:rPr>
              <a:t/>
            </a:r>
            <a:br>
              <a:rPr lang="en-US" sz="1200" dirty="0">
                <a:latin typeface="+mj-lt"/>
              </a:rPr>
            </a:br>
            <a:r>
              <a:rPr lang="en-US" sz="1200" dirty="0">
                <a:latin typeface="+mj-lt"/>
              </a:rPr>
              <a:t>Validate Folder Locations Start</a:t>
            </a:r>
            <a:br>
              <a:rPr lang="en-US" sz="1200" dirty="0">
                <a:latin typeface="+mj-lt"/>
              </a:rPr>
            </a:br>
            <a:r>
              <a:rPr lang="en-US" sz="1200" dirty="0">
                <a:latin typeface="+mj-lt"/>
              </a:rPr>
              <a:t>Found 86 individual parts loaded in assembly.</a:t>
            </a:r>
            <a:br>
              <a:rPr lang="en-US" sz="1200" dirty="0">
                <a:latin typeface="+mj-lt"/>
              </a:rPr>
            </a:br>
            <a:r>
              <a:rPr lang="en-US" sz="1200" dirty="0">
                <a:latin typeface="+mj-lt"/>
              </a:rPr>
              <a:t>Passed: 86</a:t>
            </a:r>
            <a:br>
              <a:rPr lang="en-US" sz="1200" dirty="0">
                <a:latin typeface="+mj-lt"/>
              </a:rPr>
            </a:br>
            <a:r>
              <a:rPr lang="en-US" sz="1200" dirty="0">
                <a:latin typeface="+mj-lt"/>
              </a:rPr>
              <a:t>Failed: 0</a:t>
            </a:r>
            <a:br>
              <a:rPr lang="en-US" sz="1200" dirty="0">
                <a:latin typeface="+mj-lt"/>
              </a:rPr>
            </a:br>
            <a:r>
              <a:rPr lang="en-US" sz="1200" dirty="0">
                <a:latin typeface="+mj-lt"/>
              </a:rPr>
              <a:t/>
            </a:r>
            <a:br>
              <a:rPr lang="en-US" sz="1200" dirty="0">
                <a:latin typeface="+mj-lt"/>
              </a:rPr>
            </a:br>
            <a:r>
              <a:rPr lang="en-US" sz="1200" dirty="0">
                <a:latin typeface="+mj-lt"/>
              </a:rPr>
              <a:t>Validate Component Names</a:t>
            </a:r>
            <a:br>
              <a:rPr lang="en-US" sz="1200" dirty="0">
                <a:latin typeface="+mj-lt"/>
              </a:rPr>
            </a:br>
            <a:r>
              <a:rPr lang="en-US" sz="1200" dirty="0">
                <a:latin typeface="+mj-lt"/>
              </a:rPr>
              <a:t>Found 29 individual components loaded in assembly.</a:t>
            </a:r>
            <a:br>
              <a:rPr lang="en-US" sz="1200" dirty="0">
                <a:latin typeface="+mj-lt"/>
              </a:rPr>
            </a:br>
            <a:r>
              <a:rPr lang="en-US" sz="1200" dirty="0">
                <a:latin typeface="+mj-lt"/>
              </a:rPr>
              <a:t>Passed: 29</a:t>
            </a:r>
            <a:br>
              <a:rPr lang="en-US" sz="1200" dirty="0">
                <a:latin typeface="+mj-lt"/>
              </a:rPr>
            </a:br>
            <a:r>
              <a:rPr lang="en-US" sz="1200" dirty="0">
                <a:latin typeface="+mj-lt"/>
              </a:rPr>
              <a:t>Failed: 0</a:t>
            </a:r>
            <a:br>
              <a:rPr lang="en-US" sz="1200" dirty="0">
                <a:latin typeface="+mj-lt"/>
              </a:rPr>
            </a:br>
            <a:r>
              <a:rPr lang="en-US" sz="1200" dirty="0">
                <a:latin typeface="+mj-lt"/>
              </a:rPr>
              <a:t/>
            </a:r>
            <a:br>
              <a:rPr lang="en-US" sz="1200" dirty="0">
                <a:latin typeface="+mj-lt"/>
              </a:rPr>
            </a:br>
            <a:r>
              <a:rPr lang="en-US" sz="1200" dirty="0">
                <a:latin typeface="+mj-lt"/>
              </a:rPr>
              <a:t>Validate </a:t>
            </a:r>
            <a:r>
              <a:rPr lang="en-US" sz="1200" dirty="0" err="1">
                <a:latin typeface="+mj-lt"/>
              </a:rPr>
              <a:t>Cbore</a:t>
            </a:r>
            <a:r>
              <a:rPr lang="en-US" sz="1200" dirty="0">
                <a:latin typeface="+mj-lt"/>
              </a:rPr>
              <a:t> Depths</a:t>
            </a:r>
            <a:br>
              <a:rPr lang="en-US" sz="1200" dirty="0">
                <a:latin typeface="+mj-lt"/>
              </a:rPr>
            </a:br>
            <a:r>
              <a:rPr lang="en-US" sz="1200" dirty="0">
                <a:latin typeface="+mj-lt"/>
              </a:rPr>
              <a:t>Parts: 2</a:t>
            </a:r>
            <a:br>
              <a:rPr lang="en-US" sz="1200" dirty="0">
                <a:latin typeface="+mj-lt"/>
              </a:rPr>
            </a:br>
            <a:r>
              <a:rPr lang="en-US" sz="1200" dirty="0">
                <a:latin typeface="+mj-lt"/>
              </a:rPr>
              <a:t>Passed: 1</a:t>
            </a:r>
            <a:br>
              <a:rPr lang="en-US" sz="1200" dirty="0">
                <a:latin typeface="+mj-lt"/>
              </a:rPr>
            </a:br>
            <a:r>
              <a:rPr lang="en-US" sz="1200" dirty="0">
                <a:latin typeface="+mj-lt"/>
              </a:rPr>
              <a:t>Failed: 1</a:t>
            </a:r>
            <a:br>
              <a:rPr lang="en-US" sz="1200" dirty="0">
                <a:latin typeface="+mj-lt"/>
              </a:rPr>
            </a:br>
            <a:r>
              <a:rPr lang="en-US" sz="1200" dirty="0">
                <a:latin typeface="+mj-lt"/>
              </a:rPr>
              <a:t>5816-010-100</a:t>
            </a:r>
            <a:br>
              <a:rPr lang="en-US" sz="1200" dirty="0">
                <a:latin typeface="+mj-lt"/>
              </a:rPr>
            </a:br>
            <a:r>
              <a:rPr lang="en-US" sz="1200" dirty="0">
                <a:latin typeface="+mj-lt"/>
              </a:rPr>
              <a:t/>
            </a:r>
            <a:br>
              <a:rPr lang="en-US" sz="1200" dirty="0">
                <a:latin typeface="+mj-lt"/>
              </a:rPr>
            </a:br>
            <a:r>
              <a:rPr lang="en-US" sz="1200" dirty="0">
                <a:latin typeface="+mj-lt"/>
              </a:rPr>
              <a:t>Design Check End</a:t>
            </a:r>
            <a:br>
              <a:rPr lang="en-US" sz="1200" dirty="0">
                <a:latin typeface="+mj-lt"/>
              </a:rPr>
            </a:br>
            <a:r>
              <a:rPr lang="en-US" sz="1200" dirty="0">
                <a:latin typeface="+mj-lt"/>
              </a:rPr>
              <a:t>0hr:0min.5sec.586mil-sec</a:t>
            </a:r>
          </a:p>
        </p:txBody>
      </p:sp>
      <p:sp>
        <p:nvSpPr>
          <p:cNvPr id="6" name="TextBox 5"/>
          <p:cNvSpPr txBox="1"/>
          <p:nvPr/>
        </p:nvSpPr>
        <p:spPr>
          <a:xfrm>
            <a:off x="5410459" y="1328556"/>
            <a:ext cx="2409305" cy="646331"/>
          </a:xfrm>
          <a:prstGeom prst="rect">
            <a:avLst/>
          </a:prstGeom>
          <a:noFill/>
        </p:spPr>
        <p:txBody>
          <a:bodyPr wrap="square" rtlCol="0">
            <a:spAutoFit/>
          </a:bodyPr>
          <a:lstStyle/>
          <a:p>
            <a:r>
              <a:rPr lang="en-US" dirty="0" smtClean="0">
                <a:latin typeface="+mj-lt"/>
              </a:rPr>
              <a:t>Future Enhancement?</a:t>
            </a:r>
            <a:endParaRPr lang="en-US" dirty="0">
              <a:latin typeface="+mj-lt"/>
            </a:endParaRPr>
          </a:p>
        </p:txBody>
      </p:sp>
      <p:cxnSp>
        <p:nvCxnSpPr>
          <p:cNvPr id="14" name="Straight Arrow Connector 13"/>
          <p:cNvCxnSpPr/>
          <p:nvPr/>
        </p:nvCxnSpPr>
        <p:spPr>
          <a:xfrm>
            <a:off x="6101890" y="1974887"/>
            <a:ext cx="0" cy="158713"/>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33400" y="1219200"/>
            <a:ext cx="3352800" cy="369332"/>
          </a:xfrm>
          <a:prstGeom prst="rect">
            <a:avLst/>
          </a:prstGeom>
          <a:noFill/>
        </p:spPr>
        <p:txBody>
          <a:bodyPr wrap="square" rtlCol="0">
            <a:spAutoFit/>
          </a:bodyPr>
          <a:lstStyle/>
          <a:p>
            <a:r>
              <a:rPr lang="en-US" dirty="0" smtClean="0">
                <a:latin typeface="+mj-lt"/>
              </a:rPr>
              <a:t>Replaces </a:t>
            </a:r>
            <a:r>
              <a:rPr lang="en-US" dirty="0" err="1" smtClean="0">
                <a:latin typeface="+mj-lt"/>
              </a:rPr>
              <a:t>CheckJigJacks</a:t>
            </a:r>
            <a:endParaRPr lang="en-US" dirty="0">
              <a:latin typeface="+mj-lt"/>
            </a:endParaRPr>
          </a:p>
        </p:txBody>
      </p:sp>
    </p:spTree>
    <p:extLst>
      <p:ext uri="{BB962C8B-B14F-4D97-AF65-F5344CB8AC3E}">
        <p14:creationId xmlns:p14="http://schemas.microsoft.com/office/powerpoint/2010/main" val="30091677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lstStyle/>
          <a:p>
            <a:r>
              <a:rPr lang="en-US" sz="4400" dirty="0" smtClean="0">
                <a:latin typeface="+mj-lt"/>
              </a:rPr>
              <a:t>Assembly Export Data</a:t>
            </a:r>
            <a:endParaRPr lang="en-US" sz="4400" dirty="0">
              <a:latin typeface="+mj-lt"/>
            </a:endParaRPr>
          </a:p>
        </p:txBody>
      </p:sp>
      <p:pic>
        <p:nvPicPr>
          <p:cNvPr id="205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04800" y="1752600"/>
            <a:ext cx="1762125" cy="3981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762000" y="1371600"/>
            <a:ext cx="1219200" cy="381000"/>
          </a:xfrm>
          <a:prstGeom prst="rect">
            <a:avLst/>
          </a:prstGeom>
          <a:noFill/>
        </p:spPr>
        <p:txBody>
          <a:bodyPr wrap="square" rtlCol="0">
            <a:spAutoFit/>
          </a:bodyPr>
          <a:lstStyle/>
          <a:p>
            <a:r>
              <a:rPr lang="en-US" dirty="0" smtClean="0">
                <a:latin typeface="+mj-lt"/>
              </a:rPr>
              <a:t>NX9</a:t>
            </a:r>
            <a:endParaRPr lang="en-US" dirty="0">
              <a:latin typeface="+mj-lt"/>
            </a:endParaRPr>
          </a:p>
        </p:txBody>
      </p:sp>
      <p:sp>
        <p:nvSpPr>
          <p:cNvPr id="7" name="TextBox 6"/>
          <p:cNvSpPr txBox="1"/>
          <p:nvPr/>
        </p:nvSpPr>
        <p:spPr>
          <a:xfrm>
            <a:off x="2981325" y="1371600"/>
            <a:ext cx="1219200" cy="381000"/>
          </a:xfrm>
          <a:prstGeom prst="rect">
            <a:avLst/>
          </a:prstGeom>
          <a:noFill/>
        </p:spPr>
        <p:txBody>
          <a:bodyPr wrap="square" rtlCol="0">
            <a:spAutoFit/>
          </a:bodyPr>
          <a:lstStyle/>
          <a:p>
            <a:r>
              <a:rPr lang="en-US" dirty="0" smtClean="0">
                <a:latin typeface="+mj-lt"/>
              </a:rPr>
              <a:t>NX11</a:t>
            </a:r>
            <a:endParaRPr lang="en-US" dirty="0">
              <a:latin typeface="+mj-lt"/>
            </a:endParaRPr>
          </a:p>
        </p:txBody>
      </p:sp>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2087" y="1752599"/>
            <a:ext cx="1590675" cy="2647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1733549"/>
            <a:ext cx="1638300" cy="3743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4876800" y="4983123"/>
            <a:ext cx="2209800" cy="369332"/>
          </a:xfrm>
          <a:prstGeom prst="rect">
            <a:avLst/>
          </a:prstGeom>
          <a:noFill/>
        </p:spPr>
        <p:txBody>
          <a:bodyPr wrap="square" rtlCol="0">
            <a:spAutoFit/>
          </a:bodyPr>
          <a:lstStyle/>
          <a:p>
            <a:r>
              <a:rPr lang="en-US" dirty="0" smtClean="0">
                <a:latin typeface="+mj-lt"/>
              </a:rPr>
              <a:t>After NX11 rollout</a:t>
            </a:r>
            <a:endParaRPr lang="en-US" dirty="0">
              <a:latin typeface="+mj-lt"/>
            </a:endParaRPr>
          </a:p>
        </p:txBody>
      </p:sp>
      <p:cxnSp>
        <p:nvCxnSpPr>
          <p:cNvPr id="8" name="Straight Arrow Connector 7"/>
          <p:cNvCxnSpPr/>
          <p:nvPr/>
        </p:nvCxnSpPr>
        <p:spPr>
          <a:xfrm>
            <a:off x="5638800" y="4400549"/>
            <a:ext cx="0" cy="5825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54239" y="685800"/>
            <a:ext cx="276225" cy="26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1752601"/>
            <a:ext cx="3001505"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922296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lstStyle/>
          <a:p>
            <a:r>
              <a:rPr lang="en-US" sz="4400" dirty="0" smtClean="0">
                <a:latin typeface="+mj-lt"/>
              </a:rPr>
              <a:t>Startup </a:t>
            </a:r>
            <a:r>
              <a:rPr lang="en-US" sz="4400" dirty="0" err="1" smtClean="0">
                <a:latin typeface="+mj-lt"/>
              </a:rPr>
              <a:t>Ufuncs</a:t>
            </a:r>
            <a:endParaRPr lang="en-US" sz="4400" dirty="0">
              <a:latin typeface="+mj-lt"/>
            </a:endParaRP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371600"/>
            <a:ext cx="5240013" cy="46815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685800"/>
            <a:ext cx="304800" cy="3169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5715000" y="1371600"/>
            <a:ext cx="3124200" cy="1754326"/>
          </a:xfrm>
          <a:prstGeom prst="rect">
            <a:avLst/>
          </a:prstGeom>
          <a:noFill/>
        </p:spPr>
        <p:txBody>
          <a:bodyPr wrap="square" rtlCol="0">
            <a:spAutoFit/>
          </a:bodyPr>
          <a:lstStyle/>
          <a:p>
            <a:r>
              <a:rPr lang="en-US" u="sng" dirty="0" smtClean="0">
                <a:latin typeface="+mj-lt"/>
              </a:rPr>
              <a:t>NX9 Startup</a:t>
            </a:r>
          </a:p>
          <a:p>
            <a:pPr marL="285750" indent="-285750">
              <a:buFont typeface="Arial" panose="020B0604020202020204" pitchFamily="34" charset="0"/>
              <a:buChar char="•"/>
            </a:pPr>
            <a:r>
              <a:rPr lang="en-US" dirty="0" smtClean="0">
                <a:latin typeface="+mj-lt"/>
              </a:rPr>
              <a:t>Set a filter for Change Displayed Part.</a:t>
            </a:r>
          </a:p>
          <a:p>
            <a:pPr marL="285750" indent="-285750">
              <a:buFont typeface="Arial" panose="020B0604020202020204" pitchFamily="34" charset="0"/>
              <a:buChar char="•"/>
            </a:pPr>
            <a:r>
              <a:rPr lang="en-US" dirty="0" smtClean="0">
                <a:latin typeface="+mj-lt"/>
              </a:rPr>
              <a:t>Turned of string mode in Basic Curves</a:t>
            </a:r>
          </a:p>
          <a:p>
            <a:endParaRPr lang="en-US" dirty="0">
              <a:latin typeface="+mj-lt"/>
            </a:endParaRPr>
          </a:p>
        </p:txBody>
      </p:sp>
      <p:sp>
        <p:nvSpPr>
          <p:cNvPr id="17" name="TextBox 16"/>
          <p:cNvSpPr txBox="1"/>
          <p:nvPr/>
        </p:nvSpPr>
        <p:spPr>
          <a:xfrm>
            <a:off x="5715000" y="3046274"/>
            <a:ext cx="3124200" cy="2031325"/>
          </a:xfrm>
          <a:prstGeom prst="rect">
            <a:avLst/>
          </a:prstGeom>
          <a:noFill/>
        </p:spPr>
        <p:txBody>
          <a:bodyPr wrap="square" rtlCol="0">
            <a:spAutoFit/>
          </a:bodyPr>
          <a:lstStyle/>
          <a:p>
            <a:r>
              <a:rPr lang="en-US" u="sng" dirty="0" smtClean="0">
                <a:latin typeface="+mj-lt"/>
              </a:rPr>
              <a:t>NX11 Startup </a:t>
            </a:r>
            <a:r>
              <a:rPr lang="en-US" u="sng" dirty="0" err="1" smtClean="0">
                <a:latin typeface="+mj-lt"/>
              </a:rPr>
              <a:t>Ufuncs</a:t>
            </a:r>
            <a:endParaRPr lang="en-US" u="sng" dirty="0" smtClean="0">
              <a:latin typeface="+mj-lt"/>
            </a:endParaRPr>
          </a:p>
          <a:p>
            <a:pPr marL="285750" indent="-285750">
              <a:buFont typeface="Arial" panose="020B0604020202020204" pitchFamily="34" charset="0"/>
              <a:buChar char="•"/>
            </a:pPr>
            <a:r>
              <a:rPr lang="en-US" dirty="0" smtClean="0">
                <a:latin typeface="+mj-lt"/>
              </a:rPr>
              <a:t>Opens 4 </a:t>
            </a:r>
            <a:r>
              <a:rPr lang="en-US" dirty="0" err="1" smtClean="0">
                <a:latin typeface="+mj-lt"/>
              </a:rPr>
              <a:t>Ufuncs</a:t>
            </a:r>
            <a:r>
              <a:rPr lang="en-US" dirty="0" smtClean="0">
                <a:latin typeface="+mj-lt"/>
              </a:rPr>
              <a:t> at once</a:t>
            </a:r>
          </a:p>
          <a:p>
            <a:pPr marL="742950" lvl="1" indent="-285750">
              <a:buFont typeface="Arial" panose="020B0604020202020204" pitchFamily="34" charset="0"/>
              <a:buChar char="•"/>
            </a:pPr>
            <a:r>
              <a:rPr lang="en-US" dirty="0" err="1" smtClean="0">
                <a:latin typeface="+mj-lt"/>
              </a:rPr>
              <a:t>CycleComponents</a:t>
            </a:r>
            <a:endParaRPr lang="en-US" dirty="0" smtClean="0">
              <a:latin typeface="+mj-lt"/>
            </a:endParaRPr>
          </a:p>
          <a:p>
            <a:pPr marL="742950" lvl="1" indent="-285750">
              <a:buFont typeface="Arial" panose="020B0604020202020204" pitchFamily="34" charset="0"/>
              <a:buChar char="•"/>
            </a:pPr>
            <a:r>
              <a:rPr lang="en-US" dirty="0" err="1" smtClean="0">
                <a:latin typeface="+mj-lt"/>
              </a:rPr>
              <a:t>ComponentBuilder</a:t>
            </a:r>
            <a:endParaRPr lang="en-US" dirty="0" smtClean="0">
              <a:latin typeface="+mj-lt"/>
            </a:endParaRPr>
          </a:p>
          <a:p>
            <a:pPr marL="742950" lvl="1" indent="-285750">
              <a:buFont typeface="Arial" panose="020B0604020202020204" pitchFamily="34" charset="0"/>
              <a:buChar char="•"/>
            </a:pPr>
            <a:r>
              <a:rPr lang="en-US" dirty="0" err="1" smtClean="0">
                <a:latin typeface="+mj-lt"/>
              </a:rPr>
              <a:t>AddFasteners</a:t>
            </a:r>
            <a:endParaRPr lang="en-US" dirty="0" smtClean="0">
              <a:latin typeface="+mj-lt"/>
            </a:endParaRPr>
          </a:p>
          <a:p>
            <a:pPr marL="742950" lvl="1" indent="-285750">
              <a:buFont typeface="Arial" panose="020B0604020202020204" pitchFamily="34" charset="0"/>
              <a:buChar char="•"/>
            </a:pPr>
            <a:r>
              <a:rPr lang="en-US" dirty="0" smtClean="0">
                <a:latin typeface="+mj-lt"/>
              </a:rPr>
              <a:t>Color</a:t>
            </a:r>
          </a:p>
        </p:txBody>
      </p:sp>
      <p:sp>
        <p:nvSpPr>
          <p:cNvPr id="19" name="TextBox 18"/>
          <p:cNvSpPr txBox="1"/>
          <p:nvPr/>
        </p:nvSpPr>
        <p:spPr>
          <a:xfrm>
            <a:off x="5715000" y="4852090"/>
            <a:ext cx="3124200" cy="923330"/>
          </a:xfrm>
          <a:prstGeom prst="rect">
            <a:avLst/>
          </a:prstGeom>
          <a:noFill/>
        </p:spPr>
        <p:txBody>
          <a:bodyPr wrap="square" rtlCol="0">
            <a:spAutoFit/>
          </a:bodyPr>
          <a:lstStyle/>
          <a:p>
            <a:r>
              <a:rPr lang="en-US" u="sng" dirty="0" smtClean="0">
                <a:latin typeface="+mj-lt"/>
              </a:rPr>
              <a:t>Added String Mode Off </a:t>
            </a:r>
          </a:p>
          <a:p>
            <a:pPr marL="285750" indent="-285750">
              <a:buFont typeface="Arial" panose="020B0604020202020204" pitchFamily="34" charset="0"/>
              <a:buChar char="•"/>
            </a:pPr>
            <a:r>
              <a:rPr lang="en-US" dirty="0" smtClean="0">
                <a:latin typeface="+mj-lt"/>
              </a:rPr>
              <a:t>Turns of String mode in Basic Curves</a:t>
            </a: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34331" y="4865038"/>
            <a:ext cx="304869" cy="304869"/>
          </a:xfrm>
          <a:prstGeom prst="rect">
            <a:avLst/>
          </a:prstGeom>
        </p:spPr>
      </p:pic>
    </p:spTree>
    <p:extLst>
      <p:ext uri="{BB962C8B-B14F-4D97-AF65-F5344CB8AC3E}">
        <p14:creationId xmlns:p14="http://schemas.microsoft.com/office/powerpoint/2010/main" val="111328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latin typeface="+mj-lt"/>
              </a:rPr>
              <a:t>Pierced Data + Add Pierce Components</a:t>
            </a:r>
            <a:endParaRPr lang="en-US" sz="4000" dirty="0">
              <a:latin typeface="+mj-lt"/>
            </a:endParaRPr>
          </a:p>
        </p:txBody>
      </p:sp>
      <p:sp>
        <p:nvSpPr>
          <p:cNvPr id="3" name="Content Placeholder 2"/>
          <p:cNvSpPr>
            <a:spLocks noGrp="1"/>
          </p:cNvSpPr>
          <p:nvPr>
            <p:ph idx="1"/>
          </p:nvPr>
        </p:nvSpPr>
        <p:spPr>
          <a:xfrm>
            <a:off x="457200" y="1600200"/>
            <a:ext cx="6705600" cy="4525963"/>
          </a:xfrm>
        </p:spPr>
        <p:txBody>
          <a:bodyPr>
            <a:normAutofit lnSpcReduction="10000"/>
          </a:bodyPr>
          <a:lstStyle/>
          <a:p>
            <a:r>
              <a:rPr lang="en-US" dirty="0" smtClean="0"/>
              <a:t>Pierced Data </a:t>
            </a:r>
          </a:p>
          <a:p>
            <a:pPr lvl="1"/>
            <a:r>
              <a:rPr lang="en-US" dirty="0" smtClean="0"/>
              <a:t>Saves a datum </a:t>
            </a:r>
            <a:r>
              <a:rPr lang="en-US" dirty="0" err="1" smtClean="0"/>
              <a:t>csys</a:t>
            </a:r>
            <a:r>
              <a:rPr lang="en-US" dirty="0" smtClean="0"/>
              <a:t> at the center of selected slugs and names them.</a:t>
            </a:r>
          </a:p>
          <a:p>
            <a:pPr lvl="1"/>
            <a:r>
              <a:rPr lang="en-US" dirty="0" smtClean="0"/>
              <a:t>Must be run from “XXXX-XXX-blank” or “XXXX-XXX-layout”.</a:t>
            </a:r>
          </a:p>
          <a:p>
            <a:pPr lvl="1"/>
            <a:endParaRPr lang="en-US" dirty="0"/>
          </a:p>
          <a:p>
            <a:r>
              <a:rPr lang="en-US" dirty="0" smtClean="0"/>
              <a:t>Add Pierce Components </a:t>
            </a:r>
          </a:p>
          <a:p>
            <a:pPr lvl="1"/>
            <a:r>
              <a:rPr lang="en-US" dirty="0"/>
              <a:t>Adds selected pierce components (Punch, Button &amp; Retainer) to selected slugs.  The button and punch will be aligned to selected slugs and placed at the correct "Z" axis location.  The punch and retainer are constrained, so if the punch moves the retainer will move with it and the ball seat angle is constrained</a:t>
            </a:r>
            <a:r>
              <a:rPr lang="en-US" dirty="0" smtClean="0"/>
              <a:t>.</a:t>
            </a:r>
          </a:p>
          <a:p>
            <a:pPr lvl="1"/>
            <a:r>
              <a:rPr lang="en-US" dirty="0" smtClean="0"/>
              <a:t>If you want to use an existing punch, button and/or retainer, type the detail# here. If text box is left blank the program uses the next available detail# in current assembly.</a:t>
            </a:r>
            <a:endParaRPr lang="en-US" dirty="0"/>
          </a:p>
          <a:p>
            <a:pPr lvl="1"/>
            <a:endParaRPr lang="en-US" dirty="0" smtClean="0"/>
          </a:p>
          <a:p>
            <a:pPr lvl="1"/>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800" y="1676400"/>
            <a:ext cx="304869" cy="30486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6333" y="3276629"/>
            <a:ext cx="266667" cy="228571"/>
          </a:xfrm>
          <a:prstGeom prst="rect">
            <a:avLst/>
          </a:prstGeom>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3300297"/>
            <a:ext cx="1571625" cy="2466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Arrow Connector 6"/>
          <p:cNvCxnSpPr/>
          <p:nvPr/>
        </p:nvCxnSpPr>
        <p:spPr>
          <a:xfrm flipH="1">
            <a:off x="6781800" y="4876800"/>
            <a:ext cx="1295400" cy="381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40963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814" y="304800"/>
            <a:ext cx="8229600" cy="685800"/>
          </a:xfrm>
        </p:spPr>
        <p:txBody>
          <a:bodyPr/>
          <a:lstStyle/>
          <a:p>
            <a:r>
              <a:rPr lang="en-US" sz="4000" dirty="0" smtClean="0">
                <a:latin typeface="+mj-lt"/>
              </a:rPr>
              <a:t>Job Loader</a:t>
            </a:r>
            <a:endParaRPr lang="en-US" sz="4000" dirty="0">
              <a:latin typeface="+mj-lt"/>
            </a:endParaRPr>
          </a:p>
        </p:txBody>
      </p:sp>
      <p:sp>
        <p:nvSpPr>
          <p:cNvPr id="3" name="Content Placeholder 2"/>
          <p:cNvSpPr>
            <a:spLocks noGrp="1"/>
          </p:cNvSpPr>
          <p:nvPr>
            <p:ph idx="1"/>
          </p:nvPr>
        </p:nvSpPr>
        <p:spPr>
          <a:xfrm>
            <a:off x="457200" y="1600200"/>
            <a:ext cx="7924800" cy="4525963"/>
          </a:xfrm>
        </p:spPr>
        <p:txBody>
          <a:bodyPr>
            <a:normAutofit/>
          </a:bodyPr>
          <a:lstStyle/>
          <a:p>
            <a:r>
              <a:rPr lang="en-US" dirty="0" smtClean="0"/>
              <a:t>Can be used to load old jobs.</a:t>
            </a:r>
          </a:p>
          <a:p>
            <a:pPr lvl="1"/>
            <a:r>
              <a:rPr lang="en-US" dirty="0" smtClean="0"/>
              <a:t>Loads library components from 0Library</a:t>
            </a:r>
          </a:p>
          <a:p>
            <a:pPr lvl="1"/>
            <a:r>
              <a:rPr lang="en-US" dirty="0" smtClean="0"/>
              <a:t>Loads all suppressed components from 0Library.</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0" y="457200"/>
            <a:ext cx="304869" cy="304869"/>
          </a:xfrm>
          <a:prstGeom prst="rect">
            <a:avLst/>
          </a:prstGeom>
        </p:spPr>
      </p:pic>
    </p:spTree>
    <p:extLst>
      <p:ext uri="{BB962C8B-B14F-4D97-AF65-F5344CB8AC3E}">
        <p14:creationId xmlns:p14="http://schemas.microsoft.com/office/powerpoint/2010/main" val="13263972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85800"/>
          </a:xfrm>
        </p:spPr>
        <p:txBody>
          <a:bodyPr/>
          <a:lstStyle/>
          <a:p>
            <a:r>
              <a:rPr lang="en-US" sz="3200" dirty="0" smtClean="0">
                <a:latin typeface="+mj-lt"/>
              </a:rPr>
              <a:t>Reference Sets – Alphanumeric Sorting</a:t>
            </a:r>
            <a:endParaRPr lang="en-US" sz="3200" dirty="0">
              <a:latin typeface="+mj-lt"/>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709" y="1524000"/>
            <a:ext cx="4833215" cy="4471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5715000" y="1676400"/>
            <a:ext cx="2743200" cy="1200329"/>
          </a:xfrm>
          <a:prstGeom prst="rect">
            <a:avLst/>
          </a:prstGeom>
          <a:noFill/>
        </p:spPr>
        <p:txBody>
          <a:bodyPr wrap="square" rtlCol="0">
            <a:spAutoFit/>
          </a:bodyPr>
          <a:lstStyle/>
          <a:p>
            <a:r>
              <a:rPr lang="en-US" dirty="0" smtClean="0">
                <a:latin typeface="+mj-lt"/>
              </a:rPr>
              <a:t>R0XXXXX… </a:t>
            </a:r>
            <a:endParaRPr lang="en-US" dirty="0">
              <a:latin typeface="+mj-lt"/>
            </a:endParaRPr>
          </a:p>
          <a:p>
            <a:r>
              <a:rPr lang="en-US" dirty="0" smtClean="0">
                <a:latin typeface="+mj-lt"/>
              </a:rPr>
              <a:t>Pre-named reference sets are no longer needed.</a:t>
            </a:r>
            <a:endParaRPr lang="en-US" dirty="0">
              <a:latin typeface="+mj-lt"/>
            </a:endParaRPr>
          </a:p>
        </p:txBody>
      </p:sp>
    </p:spTree>
    <p:extLst>
      <p:ext uri="{BB962C8B-B14F-4D97-AF65-F5344CB8AC3E}">
        <p14:creationId xmlns:p14="http://schemas.microsoft.com/office/powerpoint/2010/main" val="4566827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sz="3600" dirty="0" smtClean="0">
                <a:latin typeface="+mj-lt"/>
              </a:rPr>
              <a:t>Expressions</a:t>
            </a:r>
            <a:endParaRPr lang="en-US" sz="3600" dirty="0">
              <a:latin typeface="+mj-lt"/>
            </a:endParaRPr>
          </a:p>
        </p:txBody>
      </p:sp>
      <p:sp>
        <p:nvSpPr>
          <p:cNvPr id="5" name="TextBox 4"/>
          <p:cNvSpPr txBox="1"/>
          <p:nvPr/>
        </p:nvSpPr>
        <p:spPr>
          <a:xfrm>
            <a:off x="609600" y="1697157"/>
            <a:ext cx="762000" cy="369332"/>
          </a:xfrm>
          <a:prstGeom prst="rect">
            <a:avLst/>
          </a:prstGeom>
          <a:noFill/>
        </p:spPr>
        <p:txBody>
          <a:bodyPr wrap="square" rtlCol="0">
            <a:spAutoFit/>
          </a:bodyPr>
          <a:lstStyle/>
          <a:p>
            <a:r>
              <a:rPr lang="en-US" dirty="0" smtClean="0">
                <a:latin typeface="+mj-lt"/>
              </a:rPr>
              <a:t>NX9</a:t>
            </a:r>
            <a:endParaRPr lang="en-US" dirty="0">
              <a:latin typeface="+mj-lt"/>
            </a:endParaRPr>
          </a:p>
        </p:txBody>
      </p:sp>
      <p:sp>
        <p:nvSpPr>
          <p:cNvPr id="8" name="TextBox 7"/>
          <p:cNvSpPr txBox="1"/>
          <p:nvPr/>
        </p:nvSpPr>
        <p:spPr>
          <a:xfrm>
            <a:off x="609600" y="4846204"/>
            <a:ext cx="762000" cy="369332"/>
          </a:xfrm>
          <a:prstGeom prst="rect">
            <a:avLst/>
          </a:prstGeom>
          <a:noFill/>
        </p:spPr>
        <p:txBody>
          <a:bodyPr wrap="square" rtlCol="0">
            <a:spAutoFit/>
          </a:bodyPr>
          <a:lstStyle/>
          <a:p>
            <a:r>
              <a:rPr lang="en-US" dirty="0" smtClean="0">
                <a:latin typeface="+mj-lt"/>
              </a:rPr>
              <a:t>NX11</a:t>
            </a:r>
            <a:endParaRPr lang="en-US" dirty="0">
              <a:latin typeface="+mj-lt"/>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374753"/>
            <a:ext cx="6724650" cy="33122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6999" y="866220"/>
            <a:ext cx="4105835" cy="2400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271609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914400"/>
          </a:xfrm>
        </p:spPr>
        <p:txBody>
          <a:bodyPr/>
          <a:lstStyle/>
          <a:p>
            <a:r>
              <a:rPr lang="en-US" dirty="0" smtClean="0">
                <a:latin typeface="+mj-lt"/>
              </a:rPr>
              <a:t>Library</a:t>
            </a:r>
            <a:endParaRPr lang="en-US" dirty="0">
              <a:latin typeface="+mj-lt"/>
            </a:endParaRPr>
          </a:p>
        </p:txBody>
      </p:sp>
      <p:sp>
        <p:nvSpPr>
          <p:cNvPr id="3" name="Content Placeholder 2"/>
          <p:cNvSpPr>
            <a:spLocks noGrp="1"/>
          </p:cNvSpPr>
          <p:nvPr>
            <p:ph idx="1"/>
          </p:nvPr>
        </p:nvSpPr>
        <p:spPr>
          <a:xfrm>
            <a:off x="457200" y="1600200"/>
            <a:ext cx="3886200" cy="4525963"/>
          </a:xfrm>
        </p:spPr>
        <p:txBody>
          <a:bodyPr/>
          <a:lstStyle/>
          <a:p>
            <a:r>
              <a:rPr lang="en-US" dirty="0" smtClean="0"/>
              <a:t>NX9 – 0Components</a:t>
            </a:r>
          </a:p>
          <a:p>
            <a:pPr lvl="1"/>
            <a:r>
              <a:rPr lang="en-US" dirty="0" smtClean="0"/>
              <a:t>Will be removed after NX11 rollout</a:t>
            </a:r>
            <a:endParaRPr lang="en-US" dirty="0"/>
          </a:p>
        </p:txBody>
      </p:sp>
      <p:sp>
        <p:nvSpPr>
          <p:cNvPr id="4" name="Content Placeholder 2"/>
          <p:cNvSpPr txBox="1">
            <a:spLocks/>
          </p:cNvSpPr>
          <p:nvPr/>
        </p:nvSpPr>
        <p:spPr>
          <a:xfrm>
            <a:off x="4876800" y="1600200"/>
            <a:ext cx="38862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n-US" dirty="0" smtClean="0"/>
              <a:t>NX11 – 0Library</a:t>
            </a:r>
          </a:p>
          <a:p>
            <a:pPr lvl="1"/>
            <a:r>
              <a:rPr lang="en-US" dirty="0" smtClean="0"/>
              <a:t>Created so we can transition to NX11 gradually</a:t>
            </a:r>
          </a:p>
          <a:p>
            <a:pPr lvl="1"/>
            <a:r>
              <a:rPr lang="en-US" dirty="0" smtClean="0"/>
              <a:t>Consistent Folder Naming</a:t>
            </a:r>
          </a:p>
          <a:p>
            <a:pPr lvl="1"/>
            <a:r>
              <a:rPr lang="en-US" dirty="0" smtClean="0"/>
              <a:t>Added “Library” attribute to all library components</a:t>
            </a:r>
          </a:p>
          <a:p>
            <a:pPr lvl="1"/>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3657600"/>
            <a:ext cx="1285875" cy="2390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3648075"/>
            <a:ext cx="2028825" cy="2400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151976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14400"/>
          </a:xfrm>
        </p:spPr>
        <p:txBody>
          <a:bodyPr/>
          <a:lstStyle/>
          <a:p>
            <a:r>
              <a:rPr lang="en-US" dirty="0" smtClean="0">
                <a:latin typeface="+mj-lt"/>
              </a:rPr>
              <a:t>Guide Pin Clamping</a:t>
            </a:r>
            <a:endParaRPr lang="en-US" dirty="0">
              <a:latin typeface="+mj-lt"/>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00831" y="2057400"/>
            <a:ext cx="4118919"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8326" y="2128009"/>
            <a:ext cx="1459274" cy="29773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981200" y="1524000"/>
            <a:ext cx="5181600" cy="646331"/>
          </a:xfrm>
          <a:prstGeom prst="rect">
            <a:avLst/>
          </a:prstGeom>
          <a:noFill/>
        </p:spPr>
        <p:txBody>
          <a:bodyPr wrap="square" rtlCol="0">
            <a:spAutoFit/>
          </a:bodyPr>
          <a:lstStyle/>
          <a:p>
            <a:pPr algn="ctr"/>
            <a:r>
              <a:rPr lang="en-US" dirty="0">
                <a:latin typeface="+mj-lt"/>
              </a:rPr>
              <a:t>Smart </a:t>
            </a:r>
            <a:r>
              <a:rPr lang="en-US" dirty="0" err="1">
                <a:latin typeface="+mj-lt"/>
              </a:rPr>
              <a:t>Danly</a:t>
            </a:r>
            <a:r>
              <a:rPr lang="en-US" dirty="0">
                <a:latin typeface="+mj-lt"/>
              </a:rPr>
              <a:t>-MDL-</a:t>
            </a:r>
            <a:r>
              <a:rPr lang="en-US" dirty="0" err="1">
                <a:latin typeface="+mj-lt"/>
              </a:rPr>
              <a:t>Naams</a:t>
            </a:r>
            <a:r>
              <a:rPr lang="en-US" dirty="0">
                <a:latin typeface="+mj-lt"/>
              </a:rPr>
              <a:t> Demountable Metric</a:t>
            </a:r>
          </a:p>
        </p:txBody>
      </p:sp>
    </p:spTree>
    <p:extLst>
      <p:ext uri="{BB962C8B-B14F-4D97-AF65-F5344CB8AC3E}">
        <p14:creationId xmlns:p14="http://schemas.microsoft.com/office/powerpoint/2010/main" val="38407948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lstStyle/>
          <a:p>
            <a:r>
              <a:rPr lang="en-US" sz="4800" dirty="0" smtClean="0">
                <a:latin typeface="+mj-lt"/>
              </a:rPr>
              <a:t>Keyboard Customization</a:t>
            </a:r>
            <a:endParaRPr lang="en-US" sz="4800" dirty="0">
              <a:latin typeface="+mj-lt"/>
            </a:endParaRPr>
          </a:p>
        </p:txBody>
      </p:sp>
      <p:sp>
        <p:nvSpPr>
          <p:cNvPr id="3" name="Content Placeholder 2"/>
          <p:cNvSpPr>
            <a:spLocks noGrp="1"/>
          </p:cNvSpPr>
          <p:nvPr>
            <p:ph idx="1"/>
          </p:nvPr>
        </p:nvSpPr>
        <p:spPr>
          <a:xfrm>
            <a:off x="304800" y="1600200"/>
            <a:ext cx="8534400" cy="4525963"/>
          </a:xfrm>
        </p:spPr>
        <p:txBody>
          <a:bodyPr/>
          <a:lstStyle/>
          <a:p>
            <a:r>
              <a:rPr lang="en-US" b="1" dirty="0" smtClean="0"/>
              <a:t>File – Customize (bottom right corner), or “Control+1”</a:t>
            </a:r>
          </a:p>
          <a:p>
            <a:pPr lvl="1"/>
            <a:r>
              <a:rPr lang="en-US" b="1" dirty="0" smtClean="0"/>
              <a:t>In Categories: field select “Window”, In Commands: field select “Change Displayed Part…”</a:t>
            </a:r>
          </a:p>
          <a:p>
            <a:pPr lvl="1"/>
            <a:r>
              <a:rPr lang="en-US" b="1" dirty="0" smtClean="0"/>
              <a:t>Enter “</a:t>
            </a:r>
            <a:r>
              <a:rPr lang="en-US" b="1" dirty="0" err="1" smtClean="0"/>
              <a:t>Ctrl+Shift+D</a:t>
            </a:r>
            <a:r>
              <a:rPr lang="en-US" b="1" dirty="0" smtClean="0"/>
              <a:t>” in Press new shortcut key: field and select “Assign”</a:t>
            </a:r>
          </a:p>
          <a:p>
            <a:pPr lvl="1"/>
            <a:endParaRPr lang="en-US" dirty="0"/>
          </a:p>
          <a:p>
            <a:r>
              <a:rPr lang="en-US" dirty="0" smtClean="0"/>
              <a:t>If you customized your keyboard shortcuts in NX9</a:t>
            </a:r>
          </a:p>
          <a:p>
            <a:pPr lvl="1"/>
            <a:r>
              <a:rPr lang="en-US" dirty="0" smtClean="0"/>
              <a:t>In NX9, go to Customize Keyboard and select “Report” to get all shortcut s</a:t>
            </a:r>
          </a:p>
          <a:p>
            <a:pPr lvl="1"/>
            <a:r>
              <a:rPr lang="en-US" dirty="0" smtClean="0"/>
              <a:t>In NX11, customize keyboard to your preferences</a:t>
            </a:r>
          </a:p>
        </p:txBody>
      </p:sp>
    </p:spTree>
    <p:extLst>
      <p:ext uri="{BB962C8B-B14F-4D97-AF65-F5344CB8AC3E}">
        <p14:creationId xmlns:p14="http://schemas.microsoft.com/office/powerpoint/2010/main" val="22487937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lstStyle/>
          <a:p>
            <a:r>
              <a:rPr lang="en-US" dirty="0" smtClean="0">
                <a:latin typeface="+mj-lt"/>
              </a:rPr>
              <a:t>Palettes</a:t>
            </a:r>
            <a:endParaRPr lang="en-US" dirty="0">
              <a:latin typeface="+mj-lt"/>
            </a:endParaRPr>
          </a:p>
        </p:txBody>
      </p:sp>
      <p:sp>
        <p:nvSpPr>
          <p:cNvPr id="3" name="Content Placeholder 2"/>
          <p:cNvSpPr>
            <a:spLocks noGrp="1"/>
          </p:cNvSpPr>
          <p:nvPr>
            <p:ph idx="1"/>
          </p:nvPr>
        </p:nvSpPr>
        <p:spPr/>
        <p:txBody>
          <a:bodyPr/>
          <a:lstStyle/>
          <a:p>
            <a:r>
              <a:rPr lang="en-US" dirty="0" smtClean="0"/>
              <a:t>File – Preferences – Palettes</a:t>
            </a:r>
          </a:p>
          <a:p>
            <a:pPr lvl="1"/>
            <a:r>
              <a:rPr lang="en-US" dirty="0" smtClean="0"/>
              <a:t>Open Palette button</a:t>
            </a:r>
          </a:p>
          <a:p>
            <a:pPr lvl="2"/>
            <a:r>
              <a:rPr lang="en-US" dirty="0"/>
              <a:t>Browse to “U:\</a:t>
            </a:r>
            <a:r>
              <a:rPr lang="en-US" dirty="0" err="1" smtClean="0"/>
              <a:t>nxFiles</a:t>
            </a:r>
            <a:r>
              <a:rPr lang="en-US" dirty="0" smtClean="0"/>
              <a:t>\</a:t>
            </a:r>
            <a:r>
              <a:rPr lang="en-US" b="1" dirty="0" smtClean="0"/>
              <a:t>Palettes0Library</a:t>
            </a:r>
            <a:r>
              <a:rPr lang="en-US" dirty="0" smtClean="0"/>
              <a:t>” and select (one at a time)</a:t>
            </a:r>
          </a:p>
          <a:p>
            <a:pPr lvl="3"/>
            <a:r>
              <a:rPr lang="en-US" dirty="0" err="1" smtClean="0"/>
              <a:t>smartComponentsMetric.pax</a:t>
            </a:r>
            <a:endParaRPr lang="en-US" dirty="0" smtClean="0"/>
          </a:p>
          <a:p>
            <a:pPr lvl="3"/>
            <a:r>
              <a:rPr lang="en-US" dirty="0" err="1" smtClean="0"/>
              <a:t>addComponentMetric.pax</a:t>
            </a:r>
            <a:endParaRPr lang="en-US" dirty="0" smtClean="0"/>
          </a:p>
          <a:p>
            <a:pPr lvl="3"/>
            <a:r>
              <a:rPr lang="en-US" dirty="0" err="1" smtClean="0"/>
              <a:t>addAssembliesMetric.pax</a:t>
            </a:r>
            <a:endParaRPr lang="en-US" dirty="0" smtClean="0"/>
          </a:p>
          <a:p>
            <a:pPr lvl="3"/>
            <a:r>
              <a:rPr lang="en-US" dirty="0" err="1" smtClean="0"/>
              <a:t>smartComponentsEnglish.pax</a:t>
            </a:r>
            <a:endParaRPr lang="en-US" dirty="0" smtClean="0"/>
          </a:p>
          <a:p>
            <a:pPr lvl="3"/>
            <a:r>
              <a:rPr lang="en-US" dirty="0" err="1" smtClean="0"/>
              <a:t>addComponentEnglish.pax</a:t>
            </a:r>
            <a:endParaRPr lang="en-US" dirty="0" smtClean="0"/>
          </a:p>
          <a:p>
            <a:pPr lvl="3"/>
            <a:r>
              <a:rPr lang="en-US" dirty="0" err="1" smtClean="0"/>
              <a:t>addAssembliesEnglish.pax</a:t>
            </a:r>
            <a:endParaRPr lang="en-US" dirty="0" smtClean="0"/>
          </a:p>
          <a:p>
            <a:pPr lvl="3"/>
            <a:r>
              <a:rPr lang="en-US" dirty="0" err="1" smtClean="0"/>
              <a:t>Tables.pax</a:t>
            </a:r>
            <a:endParaRPr lang="en-US" dirty="0" smtClean="0"/>
          </a:p>
          <a:p>
            <a:pPr lvl="2"/>
            <a:r>
              <a:rPr lang="en-US" b="1" dirty="0" smtClean="0"/>
              <a:t>CTS Palettes button on the CTS Help tab will add the above palettes automatically.  </a:t>
            </a:r>
          </a:p>
          <a:p>
            <a:pPr lvl="1"/>
            <a:endParaRPr lang="en-US" dirty="0" smtClean="0"/>
          </a:p>
          <a:p>
            <a:pPr lvl="2"/>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6611" y="4648200"/>
            <a:ext cx="419100" cy="58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61479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762000"/>
          </a:xfrm>
        </p:spPr>
        <p:txBody>
          <a:bodyPr/>
          <a:lstStyle/>
          <a:p>
            <a:r>
              <a:rPr lang="en-US" dirty="0" smtClean="0">
                <a:latin typeface="+mj-lt"/>
              </a:rPr>
              <a:t>Roles</a:t>
            </a:r>
            <a:endParaRPr lang="en-US" dirty="0">
              <a:latin typeface="+mj-lt"/>
            </a:endParaRPr>
          </a:p>
        </p:txBody>
      </p:sp>
      <p:sp>
        <p:nvSpPr>
          <p:cNvPr id="3" name="Content Placeholder 2"/>
          <p:cNvSpPr>
            <a:spLocks noGrp="1"/>
          </p:cNvSpPr>
          <p:nvPr>
            <p:ph idx="1"/>
          </p:nvPr>
        </p:nvSpPr>
        <p:spPr>
          <a:xfrm>
            <a:off x="485775" y="2590800"/>
            <a:ext cx="8229600" cy="3276600"/>
          </a:xfrm>
        </p:spPr>
        <p:txBody>
          <a:bodyPr/>
          <a:lstStyle/>
          <a:p>
            <a:r>
              <a:rPr lang="en-US" dirty="0" smtClean="0"/>
              <a:t>Your NX9 roles have been copied into NX11</a:t>
            </a:r>
          </a:p>
          <a:p>
            <a:pPr lvl="1"/>
            <a:r>
              <a:rPr lang="en-US" dirty="0" smtClean="0"/>
              <a:t>This means that your icon layout from NX9 will come into NX11.</a:t>
            </a:r>
          </a:p>
          <a:p>
            <a:pPr lvl="1"/>
            <a:r>
              <a:rPr lang="en-US" dirty="0" smtClean="0"/>
              <a:t>These are some of the settings that will still need to be changed per user preferences:</a:t>
            </a:r>
          </a:p>
          <a:p>
            <a:pPr lvl="2"/>
            <a:r>
              <a:rPr lang="en-US" b="1" dirty="0" smtClean="0"/>
              <a:t>Preferences – Selection</a:t>
            </a:r>
          </a:p>
          <a:p>
            <a:pPr lvl="2"/>
            <a:r>
              <a:rPr lang="en-US" b="1" dirty="0" smtClean="0"/>
              <a:t>Preferences – User Interface – Layout &amp; Resource Bar</a:t>
            </a:r>
          </a:p>
          <a:p>
            <a:pPr lvl="2"/>
            <a:r>
              <a:rPr lang="en-US" b="1" dirty="0" smtClean="0"/>
              <a:t>Customize (Ctrl+1) – Icons/Tooltips tab</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219200"/>
            <a:ext cx="7524750" cy="1285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201328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762000"/>
          </a:xfrm>
        </p:spPr>
        <p:txBody>
          <a:bodyPr/>
          <a:lstStyle/>
          <a:p>
            <a:r>
              <a:rPr lang="en-US" dirty="0" smtClean="0">
                <a:latin typeface="+mj-lt"/>
              </a:rPr>
              <a:t>Customer Defaults – User Preference</a:t>
            </a:r>
            <a:endParaRPr lang="en-US" dirty="0">
              <a:latin typeface="+mj-lt"/>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015" y="1981200"/>
            <a:ext cx="7712541" cy="36575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86855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lstStyle/>
          <a:p>
            <a:r>
              <a:rPr lang="en-US" sz="4400" dirty="0" smtClean="0">
                <a:latin typeface="+mj-lt"/>
              </a:rPr>
              <a:t>Known Issues</a:t>
            </a:r>
            <a:endParaRPr lang="en-US" sz="4400" dirty="0">
              <a:latin typeface="+mj-lt"/>
            </a:endParaRP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6032" y="762000"/>
            <a:ext cx="1725526" cy="23711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ounded Rectangle 3"/>
          <p:cNvSpPr/>
          <p:nvPr/>
        </p:nvSpPr>
        <p:spPr>
          <a:xfrm>
            <a:off x="486032" y="2362200"/>
            <a:ext cx="1295400" cy="22860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a:stCxn id="4" idx="3"/>
            <a:endCxn id="7" idx="1"/>
          </p:cNvCxnSpPr>
          <p:nvPr/>
        </p:nvCxnSpPr>
        <p:spPr>
          <a:xfrm flipV="1">
            <a:off x="1781432" y="2290465"/>
            <a:ext cx="1342768" cy="186035"/>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24200" y="1828800"/>
            <a:ext cx="3733800" cy="923330"/>
          </a:xfrm>
          <a:prstGeom prst="rect">
            <a:avLst/>
          </a:prstGeom>
          <a:noFill/>
        </p:spPr>
        <p:txBody>
          <a:bodyPr wrap="square" rtlCol="0">
            <a:spAutoFit/>
          </a:bodyPr>
          <a:lstStyle/>
          <a:p>
            <a:r>
              <a:rPr lang="en-US" b="1" dirty="0" smtClean="0">
                <a:latin typeface="+mj-lt"/>
              </a:rPr>
              <a:t>Make sure this is checked OFF</a:t>
            </a:r>
          </a:p>
          <a:p>
            <a:r>
              <a:rPr lang="en-US" b="1" dirty="0" smtClean="0">
                <a:latin typeface="+mj-lt"/>
              </a:rPr>
              <a:t>If on it still causes fasteners to become modified</a:t>
            </a:r>
            <a:endParaRPr lang="en-US" b="1" dirty="0">
              <a:latin typeface="+mj-lt"/>
            </a:endParaRP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32" y="3276600"/>
            <a:ext cx="1988669" cy="16369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3124200" y="3903535"/>
            <a:ext cx="4038600" cy="646331"/>
          </a:xfrm>
          <a:prstGeom prst="rect">
            <a:avLst/>
          </a:prstGeom>
          <a:noFill/>
        </p:spPr>
        <p:txBody>
          <a:bodyPr wrap="square" rtlCol="0">
            <a:spAutoFit/>
          </a:bodyPr>
          <a:lstStyle/>
          <a:p>
            <a:r>
              <a:rPr lang="en-US" dirty="0" smtClean="0">
                <a:latin typeface="+mj-lt"/>
              </a:rPr>
              <a:t>Apply now causes model to immediately update</a:t>
            </a:r>
            <a:endParaRPr lang="en-US" dirty="0">
              <a:latin typeface="+mj-lt"/>
            </a:endParaRPr>
          </a:p>
        </p:txBody>
      </p:sp>
      <p:sp>
        <p:nvSpPr>
          <p:cNvPr id="8" name="TextBox 7"/>
          <p:cNvSpPr txBox="1"/>
          <p:nvPr/>
        </p:nvSpPr>
        <p:spPr>
          <a:xfrm>
            <a:off x="512805" y="5105400"/>
            <a:ext cx="8276968" cy="1200329"/>
          </a:xfrm>
          <a:prstGeom prst="rect">
            <a:avLst/>
          </a:prstGeom>
          <a:noFill/>
        </p:spPr>
        <p:txBody>
          <a:bodyPr wrap="square" rtlCol="0">
            <a:spAutoFit/>
          </a:bodyPr>
          <a:lstStyle/>
          <a:p>
            <a:r>
              <a:rPr lang="en-US" dirty="0" smtClean="0">
                <a:latin typeface="+mj-lt"/>
              </a:rPr>
              <a:t>Right click – Properties… Occasionally produces message “There are no Properties defined for the selected object”</a:t>
            </a:r>
          </a:p>
          <a:p>
            <a:endParaRPr lang="en-US" dirty="0" smtClean="0">
              <a:latin typeface="+mj-lt"/>
            </a:endParaRPr>
          </a:p>
          <a:p>
            <a:r>
              <a:rPr lang="en-US" dirty="0" smtClean="0">
                <a:latin typeface="+mj-lt"/>
              </a:rPr>
              <a:t>We need to be able to reproduce this and send to GTAC.</a:t>
            </a:r>
            <a:endParaRPr lang="en-US" dirty="0">
              <a:latin typeface="+mj-lt"/>
            </a:endParaRPr>
          </a:p>
        </p:txBody>
      </p:sp>
    </p:spTree>
    <p:extLst>
      <p:ext uri="{BB962C8B-B14F-4D97-AF65-F5344CB8AC3E}">
        <p14:creationId xmlns:p14="http://schemas.microsoft.com/office/powerpoint/2010/main" val="22816305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lstStyle/>
          <a:p>
            <a:r>
              <a:rPr lang="en-US" sz="4400" dirty="0" smtClean="0">
                <a:latin typeface="+mj-lt"/>
              </a:rPr>
              <a:t>New Functionality</a:t>
            </a:r>
            <a:endParaRPr lang="en-US" sz="4400" dirty="0">
              <a:latin typeface="+mj-lt"/>
            </a:endParaRPr>
          </a:p>
        </p:txBody>
      </p:sp>
      <p:sp>
        <p:nvSpPr>
          <p:cNvPr id="3" name="Rectangle 2"/>
          <p:cNvSpPr/>
          <p:nvPr/>
        </p:nvSpPr>
        <p:spPr>
          <a:xfrm>
            <a:off x="376518" y="1066800"/>
            <a:ext cx="8305800" cy="5355312"/>
          </a:xfrm>
          <a:prstGeom prst="rect">
            <a:avLst/>
          </a:prstGeom>
        </p:spPr>
        <p:txBody>
          <a:bodyPr wrap="square">
            <a:spAutoFit/>
          </a:bodyPr>
          <a:lstStyle/>
          <a:p>
            <a:r>
              <a:rPr lang="en-US" b="1" dirty="0">
                <a:latin typeface="+mj-lt"/>
              </a:rPr>
              <a:t>Isolate in New Window</a:t>
            </a:r>
            <a:endParaRPr lang="en-US" dirty="0">
              <a:latin typeface="+mj-lt"/>
            </a:endParaRPr>
          </a:p>
          <a:p>
            <a:r>
              <a:rPr lang="en-US" u="sng" dirty="0">
                <a:latin typeface="+mj-lt"/>
                <a:hlinkClick r:id="rId2"/>
              </a:rPr>
              <a:t>https://community.plm.automation.siemens.com/t5/NX-Design-Knowledge-Base/NX-11-0-1-Isolate-in-New-Window/ta-p/389309</a:t>
            </a:r>
            <a:endParaRPr lang="en-US" dirty="0">
              <a:latin typeface="+mj-lt"/>
            </a:endParaRPr>
          </a:p>
          <a:p>
            <a:r>
              <a:rPr lang="en-US" dirty="0">
                <a:latin typeface="+mj-lt"/>
              </a:rPr>
              <a:t> </a:t>
            </a:r>
          </a:p>
          <a:p>
            <a:r>
              <a:rPr lang="en-US" b="1" dirty="0">
                <a:latin typeface="+mj-lt"/>
              </a:rPr>
              <a:t>Combine</a:t>
            </a:r>
            <a:endParaRPr lang="en-US" dirty="0">
              <a:latin typeface="+mj-lt"/>
            </a:endParaRPr>
          </a:p>
          <a:p>
            <a:r>
              <a:rPr lang="en-US" u="sng" dirty="0">
                <a:latin typeface="+mj-lt"/>
                <a:hlinkClick r:id="rId3"/>
              </a:rPr>
              <a:t>https://community.plm.automation.siemens.com/t5/NX-Design-Knowledge-Base/Introducing-Combine-in-NX-11-0-1/ta-p/391455</a:t>
            </a:r>
            <a:endParaRPr lang="en-US" dirty="0">
              <a:latin typeface="+mj-lt"/>
            </a:endParaRPr>
          </a:p>
          <a:p>
            <a:r>
              <a:rPr lang="en-US" dirty="0">
                <a:latin typeface="+mj-lt"/>
              </a:rPr>
              <a:t> </a:t>
            </a:r>
          </a:p>
          <a:p>
            <a:r>
              <a:rPr lang="en-US" b="1" dirty="0">
                <a:latin typeface="+mj-lt"/>
              </a:rPr>
              <a:t>Renew Feature:</a:t>
            </a:r>
            <a:endParaRPr lang="en-US" dirty="0">
              <a:latin typeface="+mj-lt"/>
            </a:endParaRPr>
          </a:p>
          <a:p>
            <a:r>
              <a:rPr lang="en-US" u="sng" dirty="0">
                <a:latin typeface="+mj-lt"/>
                <a:hlinkClick r:id="rId4"/>
              </a:rPr>
              <a:t>https://docs.plm.automation.siemens.com/tdoc/nx/11/nx_help#uid:index_whatsnew:id1241822:xid718232:xid1183080:xid1096244</a:t>
            </a:r>
            <a:endParaRPr lang="en-US" dirty="0">
              <a:latin typeface="+mj-lt"/>
            </a:endParaRPr>
          </a:p>
          <a:p>
            <a:r>
              <a:rPr lang="en-US" dirty="0">
                <a:latin typeface="+mj-lt"/>
              </a:rPr>
              <a:t> </a:t>
            </a:r>
          </a:p>
          <a:p>
            <a:r>
              <a:rPr lang="en-US" b="1" dirty="0">
                <a:latin typeface="+mj-lt"/>
              </a:rPr>
              <a:t>New Modeling Commands:</a:t>
            </a:r>
            <a:endParaRPr lang="en-US" dirty="0">
              <a:latin typeface="+mj-lt"/>
            </a:endParaRPr>
          </a:p>
          <a:p>
            <a:r>
              <a:rPr lang="en-US" u="sng" dirty="0">
                <a:latin typeface="+mj-lt"/>
                <a:hlinkClick r:id="rId5"/>
              </a:rPr>
              <a:t>https://</a:t>
            </a:r>
            <a:r>
              <a:rPr lang="en-US" u="sng" dirty="0" smtClean="0">
                <a:latin typeface="+mj-lt"/>
                <a:hlinkClick r:id="rId5"/>
              </a:rPr>
              <a:t>docs.plm.automation.siemens.com/tdoc/nx/11/nx_help#uid:index_whatsnew:id1241822:xid718232:xid1183080</a:t>
            </a:r>
            <a:endParaRPr lang="en-US" u="sng" dirty="0" smtClean="0">
              <a:latin typeface="+mj-lt"/>
            </a:endParaRPr>
          </a:p>
          <a:p>
            <a:endParaRPr lang="en-US" u="sng" dirty="0" smtClean="0">
              <a:latin typeface="+mj-lt"/>
            </a:endParaRPr>
          </a:p>
          <a:p>
            <a:r>
              <a:rPr lang="en-US" b="1" dirty="0" smtClean="0">
                <a:latin typeface="+mj-lt"/>
              </a:rPr>
              <a:t>YouTube</a:t>
            </a:r>
            <a:endParaRPr lang="en-US" b="1" dirty="0">
              <a:latin typeface="+mj-lt"/>
            </a:endParaRPr>
          </a:p>
          <a:p>
            <a:r>
              <a:rPr lang="en-US" dirty="0">
                <a:latin typeface="+mj-lt"/>
                <a:hlinkClick r:id="rId6"/>
              </a:rPr>
              <a:t>https://www.youtube.com/watch?v=Rv9ln8HKxis&amp;list=PL1m1vu8_quoANFmv4FNxNl6Cr6G3AFPzG&amp;index=5</a:t>
            </a:r>
            <a:endParaRPr lang="en-US" dirty="0">
              <a:latin typeface="+mj-lt"/>
            </a:endParaRPr>
          </a:p>
        </p:txBody>
      </p:sp>
    </p:spTree>
    <p:extLst>
      <p:ext uri="{BB962C8B-B14F-4D97-AF65-F5344CB8AC3E}">
        <p14:creationId xmlns:p14="http://schemas.microsoft.com/office/powerpoint/2010/main" val="1202742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mj-lt"/>
              </a:rPr>
              <a:t>We are here to help…</a:t>
            </a:r>
            <a:endParaRPr lang="en-US" dirty="0">
              <a:latin typeface="+mj-lt"/>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19400" y="1676400"/>
            <a:ext cx="3302000" cy="1981200"/>
          </a:xfrm>
        </p:spPr>
      </p:pic>
    </p:spTree>
    <p:extLst>
      <p:ext uri="{BB962C8B-B14F-4D97-AF65-F5344CB8AC3E}">
        <p14:creationId xmlns:p14="http://schemas.microsoft.com/office/powerpoint/2010/main" val="385598993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1220</TotalTime>
  <Words>681</Words>
  <Application>Microsoft Office PowerPoint</Application>
  <PresentationFormat>On-screen Show (4:3)</PresentationFormat>
  <Paragraphs>135</Paragraphs>
  <Slides>19</Slides>
  <Notes>4</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Executive</vt:lpstr>
      <vt:lpstr>NX 11 Transition</vt:lpstr>
      <vt:lpstr>CTS Custom -  Re-Organized</vt:lpstr>
      <vt:lpstr>Ufunc Updates</vt:lpstr>
      <vt:lpstr>Design Check</vt:lpstr>
      <vt:lpstr>Assembly Export Data</vt:lpstr>
      <vt:lpstr>Startup Ufuncs</vt:lpstr>
      <vt:lpstr>Pierced Data + Add Pierce Components</vt:lpstr>
      <vt:lpstr>Job Loader</vt:lpstr>
      <vt:lpstr>Reference Sets – Alphanumeric Sorting</vt:lpstr>
      <vt:lpstr>Expressions</vt:lpstr>
      <vt:lpstr>Library</vt:lpstr>
      <vt:lpstr>Guide Pin Clamping</vt:lpstr>
      <vt:lpstr>Keyboard Customization</vt:lpstr>
      <vt:lpstr>Palettes</vt:lpstr>
      <vt:lpstr>Roles</vt:lpstr>
      <vt:lpstr>Customer Defaults – User Preference</vt:lpstr>
      <vt:lpstr>Known Issues</vt:lpstr>
      <vt:lpstr>New Functionality</vt:lpstr>
      <vt:lpstr>We are here to help…</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NX 11 Transition</dc:title>
  <dc:creator>Duane VanderWerf</dc:creator>
  <cp:lastModifiedBy>Duane VanderWerf</cp:lastModifiedBy>
  <cp:revision>71</cp:revision>
  <dcterms:created xsi:type="dcterms:W3CDTF">2017-05-18T16:46:27Z</dcterms:created>
  <dcterms:modified xsi:type="dcterms:W3CDTF">2017-11-29T16:04:13Z</dcterms:modified>
</cp:coreProperties>
</file>